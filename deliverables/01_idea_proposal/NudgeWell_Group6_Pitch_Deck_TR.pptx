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[Yaklaşık 25 sn]
Herkese merhaba, biz 6. grubuz. Fikrimizin adı NudgeWell, kendi isteğinizle kurduğunuz bir dijital denge koçu. Hepimiz bazen "artık telefonu bırakmalıyım" deyip yine de kaydırmaya devam ediyoruz. NudgeWell tam bu anlara odaklanıyor. Böyle bir anın geldiğini tahmin ettiğinde, sizin önceden seçtiğiniz küçük bir alternatifi öneriyor, mesela beş dakikalık bir yürüyüş.</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[Yaklaşık 60 sn]
Bugün telefonlardaki uyarıların birçoğu sadece süreye bakıyor. Mesela otuz dakika dolunca bir bildirim geliyor. Ama süre tek başına yeterli değil. Üstteki örnekte biri grup projesi için mesajlaşıyor, yani telefonu işi için kullanıyor, ama süre dolduğu için uyarı yine de geliyor. Alttaki örnekte ise kişi "artık bırakmalıyım" diye düşünüyor ama kaydırmaya devam ediyor. Süre sınırına gelmediği için de hiç uyarı almıyor. Yani uyarı, yardıma ihtiyaç olmadığında geliyor, ihtiyaç olduğunda gelmiyor. Bu ikinci duruma niyet-davranış farkı diyoruz, yani kişinin yapmak istediğiyle yaptığı arasındaki fark. AwareMind çalışmasında anlık değerlendirmelerin yüzde 14,9'unda kişi bırakmaya yakın bir puan vermiş ama beş dakikadan uzun süre telefonda kalmış. Yani yaklaşık her yedi andan birinde. Bizim hedefimiz toplam ekran süresi değil, işte bu 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[Yaklaşık 60 sn]
Peki NudgeWell bunu nasıl yapıyor? Dört adımda anlatalım. İlk adımda kullanıcı uygulamayı kuruyor ve kendine uygun birkaç alternatif seçiyor, mesela kısa bir yürüyüş, esneme ya da bir arkadaşını aramak. İkinci adımda uygulama, telefon kullanılırken o ana kadar olup bitenlere bakıyor. Saat kaç, hangi tür uygulama açık, bu oturum ne kadardır sürüyor, kişi ne kadar dokunup kaydırıyor ve daha önce telefonu nasıl kullanmış. Üçüncü adımda model bu bilgilere bakarak, kişinin şu an bırakmak isteyip yine de devam etme ihtimalini tahmin ediyor. Dördüncü adımda, uygulama bundan yeterince eminse kullanıcının kendi listesinden kısa bir öneri gösteriyor. Kullanıcı isterse tek dokunuşla kapatabiliyor. Emin değilse hiç araya girmiyor. Yani amaç kullanıcıyı sürekli uyarmak değil, sadece gerçekten gerektiğinde küçük bir hatırlatma yapmak.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[Yaklaşık 85 sn]
Modele bunu öğretmek için AwareMind veri setini kullanacağız. Bu veri Zheng ve Choe'nun 2026 çalışmasında toplandı ve 37 yetişkin Android kullanıcısından gelen 5.772 anlık değerlendirme içeriyor. Bizim için çok değerli, çünkü aynı an için hem kişinin ne dediğini hem de ne yaptığını kaydediyor. Telefon kullanılırken ekrana kısa bir soru geliyor ve kişi o an bırakması mı, devam etmesi mi gerektiğini 1'den 10'a kadar puanlıyor. 1 "bırakmalıyım", 10 "devam etmeliyim" demek. Sonra ekran kilitlenene kadar telefonu ne kadar daha kullandığı kaydediliyor. Bu ikisini yan yana koyunca, "bırakmalıyım demiş ama devam etmiş" anlarını açıkça görebiliyoruz. Model de tam bunu tahmin etmeyi öğrenecek. Tahmin yaparken sadece o ana kadarki bilgileri kullanacak, yani sonucu önceden görmeden tahmin edecek. Önce makaledekine benzer bir random forest ile başlayacağız, sonra kişinin önceki oturumlarını da hesaba katan küçük bir zamansal model deneyeceğiz. En sonunda modeli hiç görmediği yeni kişilerle test edeceğiz, yani uygulamayı ilk kez kullanan birinde de işe yarıyor mu, ona bakacağız. Kısacası NudgeWell süreye değil, kişinin kendi niyetine bakan bir koç. Dinlediğiniz için teşekkür ederiz.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5" Type="http://schemas.openxmlformats.org/officeDocument/2006/relationships/hyperlink" Target="https://arxiv.org/html/2609.08909v1" TargetMode="External"/><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6" Type="http://schemas.openxmlformats.org/officeDocument/2006/relationships/slideLayout" Target="../slideLayouts/slideLayout1.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3-10.png"/><Relationship Id="rId11" Type="http://schemas.openxmlformats.org/officeDocument/2006/relationships/image" Target="../media/image-3-11.png"/><Relationship Id="rId12" Type="http://schemas.openxmlformats.org/officeDocument/2006/relationships/slideLayout" Target="../slideLayouts/slideLayout1.xml"/><Relationship Id="rId1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6" Type="http://schemas.openxmlformats.org/officeDocument/2006/relationships/hyperlink" Target="https://arxiv.org/html/2609.08909v1" TargetMode="External"/><Relationship Id="rId7" Type="http://schemas.openxmlformats.org/officeDocument/2006/relationships/hyperlink" Target="https://osf.io/x6yzs/" TargetMode="External"/><Relationship Id="rId8" Type="http://schemas.openxmlformats.org/officeDocument/2006/relationships/hyperlink" Target="https://doi.org/10.1145/3821659" TargetMode="External"/><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9" Type="http://schemas.openxmlformats.org/officeDocument/2006/relationships/slideLayout" Target="../slideLayouts/slideLayout1.xml"/><Relationship Id="rId10"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E252D"/>
        </a:solidFill>
      </p:bgPr>
    </p:bg>
    <p:spTree>
      <p:nvGrpSpPr>
        <p:cNvPr id="1" name=""/>
        <p:cNvGrpSpPr/>
        <p:nvPr/>
      </p:nvGrpSpPr>
      <p:grpSpPr>
        <a:xfrm>
          <a:off x="0" y="0"/>
          <a:ext cx="0" cy="0"/>
          <a:chOff x="0" y="0"/>
          <a:chExt cx="0" cy="0"/>
        </a:xfrm>
      </p:grpSpPr>
      <p:sp>
        <p:nvSpPr>
          <p:cNvPr id="2" name="Shape 0"/>
          <p:cNvSpPr/>
          <p:nvPr/>
        </p:nvSpPr>
        <p:spPr>
          <a:xfrm>
            <a:off x="7159752" y="795528"/>
            <a:ext cx="5029200" cy="5029200"/>
          </a:xfrm>
          <a:prstGeom prst="ellipse">
            <a:avLst/>
          </a:prstGeom>
          <a:solidFill>
            <a:srgbClr val="1B7A6E">
              <a:alpha val="16000"/>
            </a:srgbClr>
          </a:solidFill>
          <a:ln/>
        </p:spPr>
      </p:sp>
      <p:sp>
        <p:nvSpPr>
          <p:cNvPr id="3" name="Text 1"/>
          <p:cNvSpPr txBox="1"/>
          <p:nvPr/>
        </p:nvSpPr>
        <p:spPr>
          <a:xfrm>
            <a:off x="731520" y="1691640"/>
            <a:ext cx="6217920" cy="320040"/>
          </a:xfrm>
          <a:prstGeom prst="rect">
            <a:avLst/>
          </a:prstGeom>
          <a:noFill/>
          <a:ln/>
        </p:spPr>
        <p:txBody>
          <a:bodyPr wrap="square" lIns="0" tIns="0" rIns="0" bIns="0" rtlCol="0" anchor="t"/>
          <a:lstStyle/>
          <a:p>
            <a:pPr indent="0" marL="0">
              <a:buNone/>
            </a:pPr>
            <a:r>
              <a:rPr lang="tr-TR" altLang="en-US" sz="1400" b="1" spc="300" kern="0" dirty="0">
                <a:solidFill>
                  <a:srgbClr val="8FD3C1"/>
                </a:solidFill>
                <a:latin typeface="Calibri" pitchFamily="34" charset="0"/>
                <a:ea typeface="Calibri" pitchFamily="34" charset="-122"/>
                <a:cs typeface="Calibri" pitchFamily="34" charset="-120"/>
              </a:rPr>
              <a:t>GRUP 6  ·  FİKİR ÖNERİSİ</a:t>
            </a:r>
            <a:endParaRPr lang="tr-TR" sz="1400" dirty="0"/>
          </a:p>
        </p:txBody>
      </p:sp>
      <p:sp>
        <p:nvSpPr>
          <p:cNvPr id="4" name="Text 2"/>
          <p:cNvSpPr txBox="1"/>
          <p:nvPr/>
        </p:nvSpPr>
        <p:spPr>
          <a:xfrm>
            <a:off x="731520" y="2057400"/>
            <a:ext cx="6766560" cy="1097280"/>
          </a:xfrm>
          <a:prstGeom prst="rect">
            <a:avLst/>
          </a:prstGeom>
          <a:noFill/>
          <a:ln/>
        </p:spPr>
        <p:txBody>
          <a:bodyPr wrap="square" lIns="0" tIns="0" rIns="0" bIns="0" rtlCol="0" anchor="ctr"/>
          <a:lstStyle/>
          <a:p>
            <a:pPr indent="0" marL="0">
              <a:buNone/>
            </a:pPr>
            <a:r>
              <a:rPr lang="tr-TR" altLang="en-US" sz="6600" b="1" dirty="0">
                <a:solidFill>
                  <a:srgbClr val="FFFFFF"/>
                </a:solidFill>
                <a:latin typeface="Georgia" pitchFamily="34" charset="0"/>
                <a:ea typeface="Georgia" pitchFamily="34" charset="-122"/>
                <a:cs typeface="Georgia" pitchFamily="34" charset="-120"/>
              </a:rPr>
              <a:t>NudgeWell</a:t>
            </a:r>
            <a:endParaRPr lang="tr-TR" sz="6600" dirty="0"/>
          </a:p>
        </p:txBody>
      </p:sp>
      <p:sp>
        <p:nvSpPr>
          <p:cNvPr id="5" name="Text 3"/>
          <p:cNvSpPr txBox="1"/>
          <p:nvPr/>
        </p:nvSpPr>
        <p:spPr>
          <a:xfrm>
            <a:off x="731520" y="3383280"/>
            <a:ext cx="6949440" cy="1325880"/>
          </a:xfrm>
          <a:prstGeom prst="rect">
            <a:avLst/>
          </a:prstGeom>
          <a:noFill/>
          <a:ln/>
        </p:spPr>
        <p:txBody>
          <a:bodyPr wrap="square" lIns="0" tIns="0" rIns="0" bIns="0" rtlCol="0" anchor="t"/>
          <a:lstStyle/>
          <a:p>
            <a:pPr indent="0" marL="0">
              <a:lnSpc>
                <a:spcPct val="105000"/>
              </a:lnSpc>
              <a:buNone/>
            </a:pPr>
            <a:r>
              <a:rPr lang="tr-TR" altLang="en-US" sz="2400" b="1" dirty="0">
                <a:solidFill>
                  <a:srgbClr val="8FD3C1"/>
                </a:solidFill>
                <a:latin typeface="Calibri" pitchFamily="34" charset="0"/>
                <a:ea typeface="Calibri" pitchFamily="34" charset="-122"/>
                <a:cs typeface="Calibri" pitchFamily="34" charset="-120"/>
              </a:rPr>
              <a:t>“Bırakmalıyım” deyip yine de devam ettiğimiz anları</a:t>
            </a:r>
            <a:pPr indent="0" marL="0">
              <a:lnSpc>
                <a:spcPct val="105000"/>
              </a:lnSpc>
              <a:buNone/>
            </a:pPr>
            <a:r>
              <a:rPr lang="tr-TR" altLang="en-US" sz="2400" dirty="0">
                <a:solidFill>
                  <a:srgbClr val="DCEBE7"/>
                </a:solidFill>
                <a:latin typeface="Calibri" pitchFamily="34" charset="0"/>
                <a:ea typeface="Calibri" pitchFamily="34" charset="-122"/>
                <a:cs typeface="Calibri" pitchFamily="34" charset="-120"/>
              </a:rPr>
              <a:t> tahmin eden ve kullanıcının seçtiği kısa bir alternatifi öneren, isteğe bağlı bir koç.</a:t>
            </a:r>
            <a:endParaRPr lang="tr-TR" sz="2400" dirty="0"/>
          </a:p>
        </p:txBody>
      </p:sp>
      <p:sp>
        <p:nvSpPr>
          <p:cNvPr id="6" name="Text 4"/>
          <p:cNvSpPr txBox="1"/>
          <p:nvPr/>
        </p:nvSpPr>
        <p:spPr>
          <a:xfrm>
            <a:off x="731520" y="5669280"/>
            <a:ext cx="6400800" cy="320040"/>
          </a:xfrm>
          <a:prstGeom prst="rect">
            <a:avLst/>
          </a:prstGeom>
          <a:noFill/>
          <a:ln/>
        </p:spPr>
        <p:txBody>
          <a:bodyPr wrap="square" lIns="0" tIns="0" rIns="0" bIns="0" rtlCol="0" anchor="t"/>
          <a:lstStyle/>
          <a:p>
            <a:pPr indent="0" marL="0">
              <a:buNone/>
            </a:pPr>
            <a:r>
              <a:rPr lang="tr-TR" altLang="en-US" sz="1400" dirty="0">
                <a:solidFill>
                  <a:srgbClr val="9DB9B3"/>
                </a:solidFill>
                <a:latin typeface="Calibri" pitchFamily="34" charset="0"/>
                <a:ea typeface="Calibri" pitchFamily="34" charset="-122"/>
                <a:cs typeface="Calibri" pitchFamily="34" charset="-120"/>
              </a:rPr>
              <a:t>Dijital Bağımlılık Bitirme Projesi  ·  24 Eylül 2026</a:t>
            </a:r>
            <a:endParaRPr lang="tr-TR" sz="1400" dirty="0"/>
          </a:p>
        </p:txBody>
      </p:sp>
      <p:sp>
        <p:nvSpPr>
          <p:cNvPr id="7" name="Shape 5"/>
          <p:cNvSpPr/>
          <p:nvPr/>
        </p:nvSpPr>
        <p:spPr>
          <a:xfrm>
            <a:off x="8275320" y="566928"/>
            <a:ext cx="2788920" cy="5486400"/>
          </a:xfrm>
          <a:prstGeom prst="roundRect">
            <a:avLst>
              <a:gd name="adj" fmla="val 13115"/>
            </a:avLst>
          </a:prstGeom>
          <a:solidFill>
            <a:srgbClr val="07161B"/>
          </a:solidFill>
          <a:ln w="15875">
            <a:solidFill>
              <a:srgbClr val="35565F"/>
            </a:solidFill>
            <a:prstDash val="solid"/>
          </a:ln>
          <a:effectLst>
            <a:outerShdw sx="100000" sy="100000" kx="0" ky="0" algn="bl" rotWithShape="0" blurRad="228600" dist="76200" dir="5400000">
              <a:srgbClr val="000000">
                <a:alpha val="35000"/>
              </a:srgbClr>
            </a:outerShdw>
          </a:effectLst>
        </p:spPr>
      </p:sp>
      <p:sp>
        <p:nvSpPr>
          <p:cNvPr id="8" name="Shape 6"/>
          <p:cNvSpPr/>
          <p:nvPr/>
        </p:nvSpPr>
        <p:spPr>
          <a:xfrm>
            <a:off x="8385048" y="676656"/>
            <a:ext cx="2569464" cy="5266944"/>
          </a:xfrm>
          <a:prstGeom prst="roundRect">
            <a:avLst>
              <a:gd name="adj" fmla="val 10676"/>
            </a:avLst>
          </a:prstGeom>
          <a:solidFill>
            <a:srgbClr val="EEF3F2"/>
          </a:solidFill>
          <a:ln/>
        </p:spPr>
      </p:sp>
      <p:sp>
        <p:nvSpPr>
          <p:cNvPr id="9" name="Shape 7"/>
          <p:cNvSpPr/>
          <p:nvPr/>
        </p:nvSpPr>
        <p:spPr>
          <a:xfrm>
            <a:off x="9395460" y="795528"/>
            <a:ext cx="548640" cy="137160"/>
          </a:xfrm>
          <a:prstGeom prst="roundRect">
            <a:avLst>
              <a:gd name="adj" fmla="val 50000"/>
            </a:avLst>
          </a:prstGeom>
          <a:solidFill>
            <a:srgbClr val="07161B"/>
          </a:solidFill>
          <a:ln/>
        </p:spPr>
      </p:sp>
      <p:sp>
        <p:nvSpPr>
          <p:cNvPr id="10" name="Text 8"/>
          <p:cNvSpPr txBox="1"/>
          <p:nvPr/>
        </p:nvSpPr>
        <p:spPr>
          <a:xfrm>
            <a:off x="8604504" y="768096"/>
            <a:ext cx="731520" cy="201168"/>
          </a:xfrm>
          <a:prstGeom prst="rect">
            <a:avLst/>
          </a:prstGeom>
          <a:noFill/>
          <a:ln/>
        </p:spPr>
        <p:txBody>
          <a:bodyPr wrap="square" lIns="0" tIns="0" rIns="0" bIns="0" rtlCol="0" anchor="ctr"/>
          <a:lstStyle/>
          <a:p>
            <a:pPr indent="0" marL="0">
              <a:buNone/>
            </a:pPr>
            <a:r>
              <a:rPr lang="tr-TR" altLang="en-US" sz="1000" b="1" dirty="0">
                <a:solidFill>
                  <a:srgbClr val="15303A"/>
                </a:solidFill>
                <a:latin typeface="Calibri" pitchFamily="34" charset="0"/>
                <a:ea typeface="Calibri" pitchFamily="34" charset="-122"/>
                <a:cs typeface="Calibri" pitchFamily="34" charset="-120"/>
              </a:rPr>
              <a:t>23:41</a:t>
            </a:r>
            <a:endParaRPr lang="tr-TR" sz="1000" dirty="0"/>
          </a:p>
        </p:txBody>
      </p:sp>
      <p:sp>
        <p:nvSpPr>
          <p:cNvPr id="11" name="Shape 9"/>
          <p:cNvSpPr/>
          <p:nvPr/>
        </p:nvSpPr>
        <p:spPr>
          <a:xfrm>
            <a:off x="8586216" y="1179576"/>
            <a:ext cx="329184" cy="329184"/>
          </a:xfrm>
          <a:prstGeom prst="ellipse">
            <a:avLst/>
          </a:prstGeom>
          <a:solidFill>
            <a:srgbClr val="BFD3CE"/>
          </a:solidFill>
          <a:ln/>
        </p:spPr>
      </p:sp>
      <p:sp>
        <p:nvSpPr>
          <p:cNvPr id="12" name="Shape 10"/>
          <p:cNvSpPr/>
          <p:nvPr/>
        </p:nvSpPr>
        <p:spPr>
          <a:xfrm>
            <a:off x="9025128" y="1234440"/>
            <a:ext cx="1188720" cy="91440"/>
          </a:xfrm>
          <a:prstGeom prst="roundRect">
            <a:avLst>
              <a:gd name="adj" fmla="val 50000"/>
            </a:avLst>
          </a:prstGeom>
          <a:solidFill>
            <a:srgbClr val="C5D4D1"/>
          </a:solidFill>
          <a:ln/>
        </p:spPr>
      </p:sp>
      <p:sp>
        <p:nvSpPr>
          <p:cNvPr id="13" name="Shape 11"/>
          <p:cNvSpPr/>
          <p:nvPr/>
        </p:nvSpPr>
        <p:spPr>
          <a:xfrm>
            <a:off x="9025128" y="1380744"/>
            <a:ext cx="777240" cy="73152"/>
          </a:xfrm>
          <a:prstGeom prst="roundRect">
            <a:avLst>
              <a:gd name="adj" fmla="val 50000"/>
            </a:avLst>
          </a:prstGeom>
          <a:solidFill>
            <a:srgbClr val="D6E1DE"/>
          </a:solidFill>
          <a:ln/>
        </p:spPr>
      </p:sp>
      <p:sp>
        <p:nvSpPr>
          <p:cNvPr id="14" name="Shape 12"/>
          <p:cNvSpPr/>
          <p:nvPr/>
        </p:nvSpPr>
        <p:spPr>
          <a:xfrm>
            <a:off x="8586216" y="1636776"/>
            <a:ext cx="2167128" cy="1325880"/>
          </a:xfrm>
          <a:prstGeom prst="roundRect">
            <a:avLst>
              <a:gd name="adj" fmla="val 8276"/>
            </a:avLst>
          </a:prstGeom>
          <a:solidFill>
            <a:srgbClr val="C9DAD6"/>
          </a:solidFill>
          <a:ln/>
        </p:spPr>
      </p:sp>
      <p:sp>
        <p:nvSpPr>
          <p:cNvPr id="15" name="Shape 13"/>
          <p:cNvSpPr/>
          <p:nvPr/>
        </p:nvSpPr>
        <p:spPr>
          <a:xfrm>
            <a:off x="8586216" y="3072384"/>
            <a:ext cx="1883664" cy="91440"/>
          </a:xfrm>
          <a:prstGeom prst="roundRect">
            <a:avLst>
              <a:gd name="adj" fmla="val 50000"/>
            </a:avLst>
          </a:prstGeom>
          <a:solidFill>
            <a:srgbClr val="D0DCD9"/>
          </a:solidFill>
          <a:ln/>
        </p:spPr>
      </p:sp>
      <p:sp>
        <p:nvSpPr>
          <p:cNvPr id="16" name="Shape 14"/>
          <p:cNvSpPr/>
          <p:nvPr/>
        </p:nvSpPr>
        <p:spPr>
          <a:xfrm>
            <a:off x="8586216" y="3236976"/>
            <a:ext cx="1380744" cy="91440"/>
          </a:xfrm>
          <a:prstGeom prst="roundRect">
            <a:avLst>
              <a:gd name="adj" fmla="val 50000"/>
            </a:avLst>
          </a:prstGeom>
          <a:solidFill>
            <a:srgbClr val="D6E1DE"/>
          </a:solidFill>
          <a:ln/>
        </p:spPr>
      </p:sp>
      <p:sp>
        <p:nvSpPr>
          <p:cNvPr id="17" name="Shape 15"/>
          <p:cNvSpPr/>
          <p:nvPr/>
        </p:nvSpPr>
        <p:spPr>
          <a:xfrm>
            <a:off x="8586216" y="3511296"/>
            <a:ext cx="329184" cy="329184"/>
          </a:xfrm>
          <a:prstGeom prst="ellipse">
            <a:avLst/>
          </a:prstGeom>
          <a:solidFill>
            <a:srgbClr val="BFD3CE"/>
          </a:solidFill>
          <a:ln/>
        </p:spPr>
      </p:sp>
      <p:sp>
        <p:nvSpPr>
          <p:cNvPr id="18" name="Shape 16"/>
          <p:cNvSpPr/>
          <p:nvPr/>
        </p:nvSpPr>
        <p:spPr>
          <a:xfrm>
            <a:off x="9025128" y="3566160"/>
            <a:ext cx="1188720" cy="91440"/>
          </a:xfrm>
          <a:prstGeom prst="roundRect">
            <a:avLst>
              <a:gd name="adj" fmla="val 50000"/>
            </a:avLst>
          </a:prstGeom>
          <a:solidFill>
            <a:srgbClr val="C5D4D1"/>
          </a:solidFill>
          <a:ln/>
        </p:spPr>
      </p:sp>
      <p:sp>
        <p:nvSpPr>
          <p:cNvPr id="19" name="Shape 17"/>
          <p:cNvSpPr/>
          <p:nvPr/>
        </p:nvSpPr>
        <p:spPr>
          <a:xfrm>
            <a:off x="9025128" y="3712464"/>
            <a:ext cx="777240" cy="73152"/>
          </a:xfrm>
          <a:prstGeom prst="roundRect">
            <a:avLst>
              <a:gd name="adj" fmla="val 50000"/>
            </a:avLst>
          </a:prstGeom>
          <a:solidFill>
            <a:srgbClr val="D6E1DE"/>
          </a:solidFill>
          <a:ln/>
        </p:spPr>
      </p:sp>
      <p:sp>
        <p:nvSpPr>
          <p:cNvPr id="20" name="Shape 18"/>
          <p:cNvSpPr/>
          <p:nvPr/>
        </p:nvSpPr>
        <p:spPr>
          <a:xfrm>
            <a:off x="8586216" y="3968496"/>
            <a:ext cx="2167128" cy="1463040"/>
          </a:xfrm>
          <a:prstGeom prst="roundRect">
            <a:avLst>
              <a:gd name="adj" fmla="val 7500"/>
            </a:avLst>
          </a:prstGeom>
          <a:solidFill>
            <a:srgbClr val="D3E0DC"/>
          </a:solidFill>
          <a:ln/>
        </p:spPr>
      </p:sp>
      <p:sp>
        <p:nvSpPr>
          <p:cNvPr id="21" name="Shape 19"/>
          <p:cNvSpPr/>
          <p:nvPr/>
        </p:nvSpPr>
        <p:spPr>
          <a:xfrm>
            <a:off x="9258300" y="5760720"/>
            <a:ext cx="822960" cy="54864"/>
          </a:xfrm>
          <a:prstGeom prst="roundRect">
            <a:avLst>
              <a:gd name="adj" fmla="val 50000"/>
            </a:avLst>
          </a:prstGeom>
          <a:solidFill>
            <a:srgbClr val="15303A"/>
          </a:solidFill>
          <a:ln/>
        </p:spPr>
      </p:sp>
      <p:sp>
        <p:nvSpPr>
          <p:cNvPr id="22" name="Shape 20"/>
          <p:cNvSpPr/>
          <p:nvPr/>
        </p:nvSpPr>
        <p:spPr>
          <a:xfrm>
            <a:off x="8385048" y="676656"/>
            <a:ext cx="2569464" cy="5266944"/>
          </a:xfrm>
          <a:prstGeom prst="roundRect">
            <a:avLst>
              <a:gd name="adj" fmla="val 10676"/>
            </a:avLst>
          </a:prstGeom>
          <a:solidFill>
            <a:srgbClr val="0E252D">
              <a:alpha val="48000"/>
            </a:srgbClr>
          </a:solidFill>
          <a:ln/>
        </p:spPr>
      </p:sp>
      <p:sp>
        <p:nvSpPr>
          <p:cNvPr id="23" name="Shape 21"/>
          <p:cNvSpPr/>
          <p:nvPr/>
        </p:nvSpPr>
        <p:spPr>
          <a:xfrm>
            <a:off x="8531352" y="2642616"/>
            <a:ext cx="2276856" cy="2011680"/>
          </a:xfrm>
          <a:prstGeom prst="roundRect">
            <a:avLst>
              <a:gd name="adj" fmla="val 7273"/>
            </a:avLst>
          </a:prstGeom>
          <a:solidFill>
            <a:srgbClr val="FFFFFF"/>
          </a:solidFill>
          <a:ln/>
          <a:effectLst>
            <a:outerShdw sx="100000" sy="100000" kx="0" ky="0" algn="bl" rotWithShape="0" blurRad="177800" dist="50800" dir="5400000">
              <a:srgbClr val="000000">
                <a:alpha val="30000"/>
              </a:srgbClr>
            </a:outerShdw>
          </a:effectLst>
        </p:spPr>
      </p:sp>
      <p:sp>
        <p:nvSpPr>
          <p:cNvPr id="24" name="Shape 22"/>
          <p:cNvSpPr/>
          <p:nvPr/>
        </p:nvSpPr>
        <p:spPr>
          <a:xfrm>
            <a:off x="8714232" y="2825496"/>
            <a:ext cx="310896" cy="310896"/>
          </a:xfrm>
          <a:prstGeom prst="roundRect">
            <a:avLst>
              <a:gd name="adj" fmla="val 23529"/>
            </a:avLst>
          </a:prstGeom>
          <a:solidFill>
            <a:srgbClr val="1B7A6E"/>
          </a:solidFill>
          <a:ln/>
        </p:spPr>
      </p:sp>
      <p:pic>
        <p:nvPicPr>
          <p:cNvPr id="25" name="Image 0" descr="NudgeWell uygulama simgesi">    </p:cNvPr>
          <p:cNvPicPr>
            <a:picLocks noChangeAspect="1"/>
          </p:cNvPicPr>
          <p:nvPr/>
        </p:nvPicPr>
        <p:blipFill>
          <a:blip r:embed="rId1"/>
          <a:stretch>
            <a:fillRect/>
          </a:stretch>
        </p:blipFill>
        <p:spPr>
          <a:xfrm>
            <a:off x="8769096" y="2880360"/>
            <a:ext cx="201168" cy="201168"/>
          </a:xfrm>
          <a:prstGeom prst="rect">
            <a:avLst/>
          </a:prstGeom>
        </p:spPr>
      </p:pic>
      <p:sp>
        <p:nvSpPr>
          <p:cNvPr id="26" name="Text 23"/>
          <p:cNvSpPr txBox="1"/>
          <p:nvPr/>
        </p:nvSpPr>
        <p:spPr>
          <a:xfrm>
            <a:off x="9098280" y="2825496"/>
            <a:ext cx="1371600" cy="310896"/>
          </a:xfrm>
          <a:prstGeom prst="rect">
            <a:avLst/>
          </a:prstGeom>
          <a:noFill/>
          <a:ln/>
        </p:spPr>
        <p:txBody>
          <a:bodyPr wrap="square" lIns="0" tIns="0" rIns="0" bIns="0" rtlCol="0" anchor="ctr"/>
          <a:lstStyle/>
          <a:p>
            <a:pPr indent="0" marL="0">
              <a:buNone/>
            </a:pPr>
            <a:r>
              <a:rPr lang="tr-TR" altLang="en-US" sz="1100" b="1" dirty="0">
                <a:solidFill>
                  <a:srgbClr val="1B7A6E"/>
                </a:solidFill>
                <a:latin typeface="Calibri" pitchFamily="34" charset="0"/>
                <a:ea typeface="Calibri" pitchFamily="34" charset="-122"/>
                <a:cs typeface="Calibri" pitchFamily="34" charset="-120"/>
              </a:rPr>
              <a:t>NudgeWell</a:t>
            </a:r>
            <a:endParaRPr lang="tr-TR" sz="1100" dirty="0"/>
          </a:p>
        </p:txBody>
      </p:sp>
      <p:sp>
        <p:nvSpPr>
          <p:cNvPr id="27" name="Text 24"/>
          <p:cNvSpPr txBox="1"/>
          <p:nvPr/>
        </p:nvSpPr>
        <p:spPr>
          <a:xfrm>
            <a:off x="8714232" y="3246120"/>
            <a:ext cx="1911096" cy="512064"/>
          </a:xfrm>
          <a:prstGeom prst="rect">
            <a:avLst/>
          </a:prstGeom>
          <a:noFill/>
          <a:ln/>
        </p:spPr>
        <p:txBody>
          <a:bodyPr wrap="square" lIns="0" tIns="0" rIns="0" bIns="0" rtlCol="0" anchor="t"/>
          <a:lstStyle/>
          <a:p>
            <a:pPr indent="0" marL="0">
              <a:buNone/>
            </a:pPr>
            <a:r>
              <a:rPr lang="tr-TR" altLang="en-US" sz="1500" b="1" dirty="0">
                <a:solidFill>
                  <a:srgbClr val="15303A"/>
                </a:solidFill>
                <a:latin typeface="Calibri" pitchFamily="34" charset="0"/>
                <a:ea typeface="Calibri" pitchFamily="34" charset="-122"/>
                <a:cs typeface="Calibri" pitchFamily="34" charset="-120"/>
              </a:rPr>
              <a:t>Kısa bir mola ister misin?</a:t>
            </a:r>
            <a:endParaRPr lang="tr-TR" sz="1500" dirty="0"/>
          </a:p>
        </p:txBody>
      </p:sp>
      <p:sp>
        <p:nvSpPr>
          <p:cNvPr id="28" name="Text 25"/>
          <p:cNvSpPr txBox="1"/>
          <p:nvPr/>
        </p:nvSpPr>
        <p:spPr>
          <a:xfrm>
            <a:off x="8714232" y="3776472"/>
            <a:ext cx="2002536" cy="256032"/>
          </a:xfrm>
          <a:prstGeom prst="rect">
            <a:avLst/>
          </a:prstGeom>
          <a:noFill/>
          <a:ln/>
        </p:spPr>
        <p:txBody>
          <a:bodyPr wrap="square" lIns="0" tIns="0" rIns="0" bIns="0" rtlCol="0" anchor="t"/>
          <a:lstStyle/>
          <a:p>
            <a:pPr indent="0" marL="0">
              <a:buNone/>
            </a:pPr>
            <a:r>
              <a:rPr lang="tr-TR" altLang="en-US" sz="1200" dirty="0">
                <a:solidFill>
                  <a:srgbClr val="5A6C73"/>
                </a:solidFill>
                <a:latin typeface="Calibri" pitchFamily="34" charset="0"/>
                <a:ea typeface="Calibri" pitchFamily="34" charset="-122"/>
                <a:cs typeface="Calibri" pitchFamily="34" charset="-120"/>
              </a:rPr>
              <a:t>Seçimin: 5 dakikalık yürüyüş</a:t>
            </a:r>
            <a:endParaRPr lang="tr-TR" sz="1200" dirty="0"/>
          </a:p>
        </p:txBody>
      </p:sp>
      <p:sp>
        <p:nvSpPr>
          <p:cNvPr id="29" name="Shape 26"/>
          <p:cNvSpPr/>
          <p:nvPr/>
        </p:nvSpPr>
        <p:spPr>
          <a:xfrm>
            <a:off x="8714232" y="4142232"/>
            <a:ext cx="822960" cy="329184"/>
          </a:xfrm>
          <a:prstGeom prst="roundRect">
            <a:avLst>
              <a:gd name="adj" fmla="val 50000"/>
            </a:avLst>
          </a:prstGeom>
          <a:solidFill>
            <a:srgbClr val="1B7A6E"/>
          </a:solidFill>
          <a:ln/>
        </p:spPr>
      </p:sp>
      <p:sp>
        <p:nvSpPr>
          <p:cNvPr id="30" name="Text 27"/>
          <p:cNvSpPr txBox="1"/>
          <p:nvPr/>
        </p:nvSpPr>
        <p:spPr>
          <a:xfrm>
            <a:off x="8714232" y="4142232"/>
            <a:ext cx="822960" cy="329184"/>
          </a:xfrm>
          <a:prstGeom prst="rect">
            <a:avLst/>
          </a:prstGeom>
          <a:noFill/>
          <a:ln/>
        </p:spPr>
        <p:txBody>
          <a:bodyPr wrap="square" lIns="0" tIns="0" rIns="0" bIns="0" rtlCol="0" anchor="ctr"/>
          <a:lstStyle/>
          <a:p>
            <a:pPr algn="ctr" indent="0" marL="0">
              <a:buNone/>
            </a:pPr>
            <a:r>
              <a:rPr lang="tr-TR" altLang="en-US" sz="1150" b="1" dirty="0">
                <a:solidFill>
                  <a:srgbClr val="FFFFFF"/>
                </a:solidFill>
                <a:latin typeface="Calibri" pitchFamily="34" charset="0"/>
                <a:ea typeface="Calibri" pitchFamily="34" charset="-122"/>
                <a:cs typeface="Calibri" pitchFamily="34" charset="-120"/>
              </a:rPr>
              <a:t>Başla</a:t>
            </a:r>
            <a:endParaRPr lang="tr-TR" sz="1150" dirty="0"/>
          </a:p>
        </p:txBody>
      </p:sp>
      <p:sp>
        <p:nvSpPr>
          <p:cNvPr id="31" name="Shape 28"/>
          <p:cNvSpPr/>
          <p:nvPr/>
        </p:nvSpPr>
        <p:spPr>
          <a:xfrm>
            <a:off x="9628632" y="4142232"/>
            <a:ext cx="996696" cy="329184"/>
          </a:xfrm>
          <a:prstGeom prst="roundRect">
            <a:avLst>
              <a:gd name="adj" fmla="val 50000"/>
            </a:avLst>
          </a:prstGeom>
          <a:solidFill>
            <a:srgbClr val="FFFFFF"/>
          </a:solidFill>
          <a:ln w="12700">
            <a:solidFill>
              <a:srgbClr val="C4D3CF"/>
            </a:solidFill>
            <a:prstDash val="solid"/>
          </a:ln>
        </p:spPr>
      </p:sp>
      <p:sp>
        <p:nvSpPr>
          <p:cNvPr id="32" name="Text 29"/>
          <p:cNvSpPr txBox="1"/>
          <p:nvPr/>
        </p:nvSpPr>
        <p:spPr>
          <a:xfrm>
            <a:off x="9628632" y="4142232"/>
            <a:ext cx="996696" cy="329184"/>
          </a:xfrm>
          <a:prstGeom prst="rect">
            <a:avLst/>
          </a:prstGeom>
          <a:noFill/>
          <a:ln/>
        </p:spPr>
        <p:txBody>
          <a:bodyPr wrap="square" lIns="0" tIns="0" rIns="0" bIns="0" rtlCol="0" anchor="ctr"/>
          <a:lstStyle/>
          <a:p>
            <a:pPr algn="ctr" indent="0" marL="0">
              <a:buNone/>
            </a:pPr>
            <a:r>
              <a:rPr lang="tr-TR" altLang="en-US" sz="1150" dirty="0">
                <a:solidFill>
                  <a:srgbClr val="15303A"/>
                </a:solidFill>
                <a:latin typeface="Calibri" pitchFamily="34" charset="0"/>
                <a:ea typeface="Calibri" pitchFamily="34" charset="-122"/>
                <a:cs typeface="Calibri" pitchFamily="34" charset="-120"/>
              </a:rPr>
              <a:t>Şimdi değil</a:t>
            </a:r>
            <a:endParaRPr lang="tr-TR" sz="1150" dirty="0"/>
          </a:p>
        </p:txBody>
      </p:sp>
      <p:sp>
        <p:nvSpPr>
          <p:cNvPr id="33" name="Text 30"/>
          <p:cNvSpPr txBox="1"/>
          <p:nvPr/>
        </p:nvSpPr>
        <p:spPr>
          <a:xfrm>
            <a:off x="8275320" y="6144768"/>
            <a:ext cx="2788920" cy="274320"/>
          </a:xfrm>
          <a:prstGeom prst="rect">
            <a:avLst/>
          </a:prstGeom>
          <a:noFill/>
          <a:ln/>
        </p:spPr>
        <p:txBody>
          <a:bodyPr wrap="square" lIns="0" tIns="0" rIns="0" bIns="0" rtlCol="0" anchor="t"/>
          <a:lstStyle/>
          <a:p>
            <a:pPr algn="ctr" indent="0" marL="0">
              <a:buNone/>
            </a:pPr>
            <a:r>
              <a:rPr lang="tr-TR" altLang="en-US" sz="1200" i="1" dirty="0">
                <a:solidFill>
                  <a:srgbClr val="9DB9B3"/>
                </a:solidFill>
                <a:latin typeface="Calibri" pitchFamily="34" charset="0"/>
                <a:ea typeface="Calibri" pitchFamily="34" charset="-122"/>
                <a:cs typeface="Calibri" pitchFamily="34" charset="-120"/>
              </a:rPr>
              <a:t>Konsept tasarım</a:t>
            </a:r>
            <a:endParaRPr lang="tr-TR"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tr-TR" altLang="en-US" sz="1300" b="1" spc="200" kern="0" dirty="0">
                <a:solidFill>
                  <a:srgbClr val="1B7A6E"/>
                </a:solidFill>
                <a:latin typeface="Calibri" pitchFamily="34" charset="0"/>
                <a:ea typeface="Calibri" pitchFamily="34" charset="-122"/>
                <a:cs typeface="Calibri" pitchFamily="34" charset="-120"/>
              </a:rPr>
              <a:t>02  ·  PROBLEM</a:t>
            </a:r>
            <a:endParaRPr lang="tr-TR" sz="1300" dirty="0"/>
          </a:p>
        </p:txBody>
      </p:sp>
      <p:sp>
        <p:nvSpPr>
          <p:cNvPr id="3" name="Text 1"/>
          <p:cNvSpPr txBox="1"/>
          <p:nvPr/>
        </p:nvSpPr>
        <p:spPr>
          <a:xfrm>
            <a:off x="685800" y="731520"/>
            <a:ext cx="10820095" cy="658368"/>
          </a:xfrm>
          <a:prstGeom prst="rect">
            <a:avLst/>
          </a:prstGeom>
          <a:noFill/>
          <a:ln/>
        </p:spPr>
        <p:txBody>
          <a:bodyPr wrap="square" lIns="0" tIns="0" rIns="0" bIns="0" rtlCol="0" anchor="ctr"/>
          <a:lstStyle/>
          <a:p>
            <a:pPr indent="0" marL="0">
              <a:buNone/>
            </a:pPr>
            <a:r>
              <a:rPr lang="tr-TR" altLang="en-US" sz="3400" b="1" dirty="0">
                <a:solidFill>
                  <a:srgbClr val="15303A"/>
                </a:solidFill>
                <a:latin typeface="Georgia" pitchFamily="34" charset="0"/>
                <a:ea typeface="Georgia" pitchFamily="34" charset="-122"/>
                <a:cs typeface="Georgia" pitchFamily="34" charset="-120"/>
              </a:rPr>
              <a:t>Süre sınırları asıl önemli anları kaçırıyor</a:t>
            </a:r>
            <a:endParaRPr lang="tr-TR" sz="3400" dirty="0"/>
          </a:p>
        </p:txBody>
      </p:sp>
      <p:sp>
        <p:nvSpPr>
          <p:cNvPr id="4" name="Shape 2"/>
          <p:cNvSpPr/>
          <p:nvPr/>
        </p:nvSpPr>
        <p:spPr>
          <a:xfrm>
            <a:off x="685800" y="1627632"/>
            <a:ext cx="10820095" cy="2898648"/>
          </a:xfrm>
          <a:prstGeom prst="roundRect">
            <a:avLst>
              <a:gd name="adj" fmla="val 4416"/>
            </a:avLst>
          </a:prstGeom>
          <a:solidFill>
            <a:srgbClr val="FFFFFF"/>
          </a:solidFill>
          <a:ln/>
          <a:effectLst>
            <a:outerShdw sx="100000" sy="100000" kx="0" ky="0" algn="bl" rotWithShape="0" blurRad="127000" dist="31750" dir="5400000">
              <a:srgbClr val="0B2A30">
                <a:alpha val="10000"/>
              </a:srgbClr>
            </a:outerShdw>
          </a:effectLst>
        </p:spPr>
      </p:sp>
      <p:pic>
        <p:nvPicPr>
          <p:cNvPr id="5" name="Image 0" descr="zamanlayıcı simgesi">    </p:cNvPr>
          <p:cNvPicPr>
            <a:picLocks noChangeAspect="1"/>
          </p:cNvPicPr>
          <p:nvPr/>
        </p:nvPicPr>
        <p:blipFill>
          <a:blip r:embed="rId1"/>
          <a:stretch>
            <a:fillRect/>
          </a:stretch>
        </p:blipFill>
        <p:spPr>
          <a:xfrm>
            <a:off x="5980176" y="1773936"/>
            <a:ext cx="237744" cy="237744"/>
          </a:xfrm>
          <a:prstGeom prst="rect">
            <a:avLst/>
          </a:prstGeom>
        </p:spPr>
      </p:pic>
      <p:sp>
        <p:nvSpPr>
          <p:cNvPr id="6" name="Text 3"/>
          <p:cNvSpPr txBox="1"/>
          <p:nvPr/>
        </p:nvSpPr>
        <p:spPr>
          <a:xfrm>
            <a:off x="6272784" y="1746504"/>
            <a:ext cx="1645920" cy="292608"/>
          </a:xfrm>
          <a:prstGeom prst="rect">
            <a:avLst/>
          </a:prstGeom>
          <a:noFill/>
          <a:ln/>
        </p:spPr>
        <p:txBody>
          <a:bodyPr wrap="square" lIns="0" tIns="0" rIns="0" bIns="0" rtlCol="0" anchor="ctr"/>
          <a:lstStyle/>
          <a:p>
            <a:pPr indent="0" marL="0">
              <a:buNone/>
            </a:pPr>
            <a:r>
              <a:rPr lang="tr-TR" altLang="en-US" sz="1300" b="1" dirty="0">
                <a:solidFill>
                  <a:srgbClr val="15303A"/>
                </a:solidFill>
                <a:latin typeface="Calibri" pitchFamily="34" charset="0"/>
                <a:ea typeface="Calibri" pitchFamily="34" charset="-122"/>
                <a:cs typeface="Calibri" pitchFamily="34" charset="-120"/>
              </a:rPr>
              <a:t>Sabit süre sınırı</a:t>
            </a:r>
            <a:endParaRPr lang="tr-TR" sz="1300" dirty="0"/>
          </a:p>
        </p:txBody>
      </p:sp>
      <p:sp>
        <p:nvSpPr>
          <p:cNvPr id="7" name="Shape 4"/>
          <p:cNvSpPr/>
          <p:nvPr/>
        </p:nvSpPr>
        <p:spPr>
          <a:xfrm>
            <a:off x="6766560" y="2103120"/>
            <a:ext cx="0" cy="2148840"/>
          </a:xfrm>
          <a:prstGeom prst="line">
            <a:avLst/>
          </a:prstGeom>
          <a:noFill/>
          <a:ln w="19050">
            <a:solidFill>
              <a:srgbClr val="7C8D93"/>
            </a:solidFill>
            <a:prstDash val="dash"/>
          </a:ln>
        </p:spPr>
      </p:sp>
      <p:sp>
        <p:nvSpPr>
          <p:cNvPr id="8" name="Text 5"/>
          <p:cNvSpPr txBox="1"/>
          <p:nvPr/>
        </p:nvSpPr>
        <p:spPr>
          <a:xfrm>
            <a:off x="1005840" y="2212848"/>
            <a:ext cx="2194560" cy="329184"/>
          </a:xfrm>
          <a:prstGeom prst="rect">
            <a:avLst/>
          </a:prstGeom>
          <a:noFill/>
          <a:ln/>
        </p:spPr>
        <p:txBody>
          <a:bodyPr wrap="square" lIns="0" tIns="0" rIns="0" bIns="0" rtlCol="0" anchor="t"/>
          <a:lstStyle/>
          <a:p>
            <a:pPr indent="0" marL="0">
              <a:buNone/>
            </a:pPr>
            <a:r>
              <a:rPr lang="tr-TR" altLang="en-US" sz="1800" b="1" dirty="0">
                <a:solidFill>
                  <a:srgbClr val="15303A"/>
                </a:solidFill>
                <a:latin typeface="Calibri" pitchFamily="34" charset="0"/>
                <a:ea typeface="Calibri" pitchFamily="34" charset="-122"/>
                <a:cs typeface="Calibri" pitchFamily="34" charset="-120"/>
              </a:rPr>
              <a:t>Amaçlı kullanım</a:t>
            </a:r>
            <a:endParaRPr lang="tr-TR" sz="1800" dirty="0"/>
          </a:p>
        </p:txBody>
      </p:sp>
      <p:sp>
        <p:nvSpPr>
          <p:cNvPr id="9" name="Text 6"/>
          <p:cNvSpPr txBox="1"/>
          <p:nvPr/>
        </p:nvSpPr>
        <p:spPr>
          <a:xfrm>
            <a:off x="1005840" y="2560320"/>
            <a:ext cx="2194560" cy="274320"/>
          </a:xfrm>
          <a:prstGeom prst="rect">
            <a:avLst/>
          </a:prstGeom>
          <a:noFill/>
          <a:ln/>
        </p:spPr>
        <p:txBody>
          <a:bodyPr wrap="square" lIns="0" tIns="0" rIns="0" bIns="0" rtlCol="0" anchor="t"/>
          <a:lstStyle/>
          <a:p>
            <a:pPr indent="0" marL="0">
              <a:buNone/>
            </a:pPr>
            <a:r>
              <a:rPr lang="tr-TR" altLang="en-US" sz="1400" dirty="0">
                <a:solidFill>
                  <a:srgbClr val="5A6C73"/>
                </a:solidFill>
                <a:latin typeface="Calibri" pitchFamily="34" charset="0"/>
                <a:ea typeface="Calibri" pitchFamily="34" charset="-122"/>
                <a:cs typeface="Calibri" pitchFamily="34" charset="-120"/>
              </a:rPr>
              <a:t>ör. grup projesi sohbeti</a:t>
            </a:r>
            <a:endParaRPr lang="tr-TR" sz="1400" dirty="0"/>
          </a:p>
        </p:txBody>
      </p:sp>
      <p:sp>
        <p:nvSpPr>
          <p:cNvPr id="10" name="Text 7"/>
          <p:cNvSpPr txBox="1"/>
          <p:nvPr/>
        </p:nvSpPr>
        <p:spPr>
          <a:xfrm>
            <a:off x="1005840" y="3493008"/>
            <a:ext cx="2194560" cy="329184"/>
          </a:xfrm>
          <a:prstGeom prst="rect">
            <a:avLst/>
          </a:prstGeom>
          <a:noFill/>
          <a:ln/>
        </p:spPr>
        <p:txBody>
          <a:bodyPr wrap="square" lIns="0" tIns="0" rIns="0" bIns="0" rtlCol="0" anchor="t"/>
          <a:lstStyle/>
          <a:p>
            <a:pPr indent="0" marL="0">
              <a:buNone/>
            </a:pPr>
            <a:r>
              <a:rPr lang="tr-TR" altLang="en-US" sz="1800" b="1" dirty="0">
                <a:solidFill>
                  <a:srgbClr val="15303A"/>
                </a:solidFill>
                <a:latin typeface="Calibri" pitchFamily="34" charset="0"/>
                <a:ea typeface="Calibri" pitchFamily="34" charset="-122"/>
                <a:cs typeface="Calibri" pitchFamily="34" charset="-120"/>
              </a:rPr>
              <a:t>Bırakmak istiyor</a:t>
            </a:r>
            <a:endParaRPr lang="tr-TR" sz="1800" dirty="0"/>
          </a:p>
        </p:txBody>
      </p:sp>
      <p:sp>
        <p:nvSpPr>
          <p:cNvPr id="11" name="Text 8"/>
          <p:cNvSpPr txBox="1"/>
          <p:nvPr/>
        </p:nvSpPr>
        <p:spPr>
          <a:xfrm>
            <a:off x="1005840" y="3840480"/>
            <a:ext cx="2240280" cy="274320"/>
          </a:xfrm>
          <a:prstGeom prst="rect">
            <a:avLst/>
          </a:prstGeom>
          <a:noFill/>
          <a:ln/>
        </p:spPr>
        <p:txBody>
          <a:bodyPr wrap="square" lIns="0" tIns="0" rIns="0" bIns="0" rtlCol="0" anchor="t"/>
          <a:lstStyle/>
          <a:p>
            <a:pPr indent="0" marL="0">
              <a:buNone/>
            </a:pPr>
            <a:r>
              <a:rPr lang="tr-TR" altLang="en-US" sz="1400" dirty="0">
                <a:solidFill>
                  <a:srgbClr val="5A6C73"/>
                </a:solidFill>
                <a:latin typeface="Calibri" pitchFamily="34" charset="0"/>
                <a:ea typeface="Calibri" pitchFamily="34" charset="-122"/>
                <a:cs typeface="Calibri" pitchFamily="34" charset="-120"/>
              </a:rPr>
              <a:t>ör. gece geç saatte kaydırma</a:t>
            </a:r>
            <a:endParaRPr lang="tr-TR" sz="1400" dirty="0"/>
          </a:p>
        </p:txBody>
      </p:sp>
      <p:sp>
        <p:nvSpPr>
          <p:cNvPr id="12" name="Shape 9"/>
          <p:cNvSpPr/>
          <p:nvPr/>
        </p:nvSpPr>
        <p:spPr>
          <a:xfrm>
            <a:off x="3291840" y="2331720"/>
            <a:ext cx="5577840" cy="420624"/>
          </a:xfrm>
          <a:prstGeom prst="roundRect">
            <a:avLst>
              <a:gd name="adj" fmla="val 50000"/>
            </a:avLst>
          </a:prstGeom>
          <a:solidFill>
            <a:srgbClr val="1B7A6E"/>
          </a:solidFill>
          <a:ln/>
        </p:spPr>
      </p:sp>
      <p:sp>
        <p:nvSpPr>
          <p:cNvPr id="13" name="Shape 10"/>
          <p:cNvSpPr/>
          <p:nvPr/>
        </p:nvSpPr>
        <p:spPr>
          <a:xfrm>
            <a:off x="6483096" y="2258568"/>
            <a:ext cx="566928" cy="566928"/>
          </a:xfrm>
          <a:prstGeom prst="ellipse">
            <a:avLst/>
          </a:prstGeom>
          <a:solidFill>
            <a:srgbClr val="15303A"/>
          </a:solidFill>
          <a:ln w="25400">
            <a:solidFill>
              <a:srgbClr val="FFFFFF"/>
            </a:solidFill>
            <a:prstDash val="solid"/>
          </a:ln>
        </p:spPr>
      </p:sp>
      <p:pic>
        <p:nvPicPr>
          <p:cNvPr id="14" name="Image 1" descr="bell-ring simgesi">    </p:cNvPr>
          <p:cNvPicPr>
            <a:picLocks noChangeAspect="1"/>
          </p:cNvPicPr>
          <p:nvPr/>
        </p:nvPicPr>
        <p:blipFill>
          <a:blip r:embed="rId2"/>
          <a:stretch>
            <a:fillRect/>
          </a:stretch>
        </p:blipFill>
        <p:spPr>
          <a:xfrm>
            <a:off x="6610655" y="2386127"/>
            <a:ext cx="311810" cy="311810"/>
          </a:xfrm>
          <a:prstGeom prst="rect">
            <a:avLst/>
          </a:prstGeom>
        </p:spPr>
      </p:pic>
      <p:sp>
        <p:nvSpPr>
          <p:cNvPr id="15" name="Shape 11"/>
          <p:cNvSpPr/>
          <p:nvPr/>
        </p:nvSpPr>
        <p:spPr>
          <a:xfrm>
            <a:off x="3291840" y="3611880"/>
            <a:ext cx="3108960" cy="420624"/>
          </a:xfrm>
          <a:prstGeom prst="roundRect">
            <a:avLst>
              <a:gd name="adj" fmla="val 50000"/>
            </a:avLst>
          </a:prstGeom>
          <a:solidFill>
            <a:srgbClr val="DE5B33"/>
          </a:solidFill>
          <a:ln/>
        </p:spPr>
      </p:sp>
      <p:sp>
        <p:nvSpPr>
          <p:cNvPr id="16" name="Shape 12"/>
          <p:cNvSpPr/>
          <p:nvPr/>
        </p:nvSpPr>
        <p:spPr>
          <a:xfrm>
            <a:off x="3291840" y="3611880"/>
            <a:ext cx="1508760" cy="420624"/>
          </a:xfrm>
          <a:prstGeom prst="roundRect">
            <a:avLst>
              <a:gd name="adj" fmla="val 50000"/>
            </a:avLst>
          </a:prstGeom>
          <a:solidFill>
            <a:srgbClr val="1B7A6E"/>
          </a:solidFill>
          <a:ln/>
        </p:spPr>
      </p:sp>
      <p:sp>
        <p:nvSpPr>
          <p:cNvPr id="17" name="Text 13"/>
          <p:cNvSpPr txBox="1"/>
          <p:nvPr/>
        </p:nvSpPr>
        <p:spPr>
          <a:xfrm>
            <a:off x="4892040" y="3611880"/>
            <a:ext cx="1417320" cy="420624"/>
          </a:xfrm>
          <a:prstGeom prst="rect">
            <a:avLst/>
          </a:prstGeom>
          <a:noFill/>
          <a:ln/>
        </p:spPr>
        <p:txBody>
          <a:bodyPr wrap="square" lIns="0" tIns="0" rIns="0" bIns="0" rtlCol="0" anchor="ctr"/>
          <a:lstStyle/>
          <a:p>
            <a:pPr algn="ctr" indent="0" marL="0">
              <a:buNone/>
            </a:pPr>
            <a:r>
              <a:rPr lang="tr-TR" altLang="en-US" sz="1300" b="1" dirty="0">
                <a:solidFill>
                  <a:srgbClr val="FFFFFF"/>
                </a:solidFill>
                <a:latin typeface="Calibri" pitchFamily="34" charset="0"/>
                <a:ea typeface="Calibri" pitchFamily="34" charset="-122"/>
                <a:cs typeface="Calibri" pitchFamily="34" charset="-120"/>
              </a:rPr>
              <a:t>devam etti</a:t>
            </a:r>
            <a:endParaRPr lang="tr-TR" sz="1300" dirty="0"/>
          </a:p>
        </p:txBody>
      </p:sp>
      <p:sp>
        <p:nvSpPr>
          <p:cNvPr id="18" name="Shape 14"/>
          <p:cNvSpPr/>
          <p:nvPr/>
        </p:nvSpPr>
        <p:spPr>
          <a:xfrm>
            <a:off x="4572000" y="3685032"/>
            <a:ext cx="274320" cy="274320"/>
          </a:xfrm>
          <a:prstGeom prst="ellipse">
            <a:avLst/>
          </a:prstGeom>
          <a:solidFill>
            <a:srgbClr val="FFFFFF"/>
          </a:solidFill>
          <a:ln w="31750">
            <a:solidFill>
              <a:srgbClr val="DE5B33"/>
            </a:solidFill>
            <a:prstDash val="solid"/>
          </a:ln>
        </p:spPr>
      </p:sp>
      <p:sp>
        <p:nvSpPr>
          <p:cNvPr id="19" name="Shape 15"/>
          <p:cNvSpPr/>
          <p:nvPr/>
        </p:nvSpPr>
        <p:spPr>
          <a:xfrm>
            <a:off x="4709160" y="3401568"/>
            <a:ext cx="0" cy="283464"/>
          </a:xfrm>
          <a:prstGeom prst="line">
            <a:avLst/>
          </a:prstGeom>
          <a:noFill/>
          <a:ln w="19050">
            <a:solidFill>
              <a:srgbClr val="DE5B33"/>
            </a:solidFill>
            <a:prstDash val="solid"/>
          </a:ln>
        </p:spPr>
      </p:sp>
      <p:sp>
        <p:nvSpPr>
          <p:cNvPr id="20" name="Shape 16"/>
          <p:cNvSpPr/>
          <p:nvPr/>
        </p:nvSpPr>
        <p:spPr>
          <a:xfrm>
            <a:off x="3840480" y="3035808"/>
            <a:ext cx="1737360" cy="365760"/>
          </a:xfrm>
          <a:prstGeom prst="roundRect">
            <a:avLst>
              <a:gd name="adj" fmla="val 50000"/>
            </a:avLst>
          </a:prstGeom>
          <a:solidFill>
            <a:srgbClr val="FCE9E1"/>
          </a:solidFill>
          <a:ln/>
        </p:spPr>
      </p:sp>
      <p:sp>
        <p:nvSpPr>
          <p:cNvPr id="21" name="Text 17"/>
          <p:cNvSpPr txBox="1"/>
          <p:nvPr/>
        </p:nvSpPr>
        <p:spPr>
          <a:xfrm>
            <a:off x="3840480" y="3035808"/>
            <a:ext cx="1737360" cy="365760"/>
          </a:xfrm>
          <a:prstGeom prst="rect">
            <a:avLst/>
          </a:prstGeom>
          <a:noFill/>
          <a:ln/>
        </p:spPr>
        <p:txBody>
          <a:bodyPr wrap="square" lIns="0" tIns="0" rIns="0" bIns="0" rtlCol="0" anchor="ctr"/>
          <a:lstStyle/>
          <a:p>
            <a:pPr algn="ctr" indent="0" marL="0">
              <a:buNone/>
            </a:pPr>
            <a:r>
              <a:rPr lang="tr-TR" altLang="en-US" sz="1400" b="1" i="1" dirty="0">
                <a:solidFill>
                  <a:srgbClr val="B4462A"/>
                </a:solidFill>
                <a:latin typeface="Calibri" pitchFamily="34" charset="0"/>
                <a:ea typeface="Calibri" pitchFamily="34" charset="-122"/>
                <a:cs typeface="Calibri" pitchFamily="34" charset="-120"/>
              </a:rPr>
              <a:t>“Bırakmalıyım”</a:t>
            </a:r>
            <a:endParaRPr lang="tr-TR" sz="1400" dirty="0"/>
          </a:p>
        </p:txBody>
      </p:sp>
      <p:sp>
        <p:nvSpPr>
          <p:cNvPr id="22" name="Shape 18"/>
          <p:cNvSpPr/>
          <p:nvPr/>
        </p:nvSpPr>
        <p:spPr>
          <a:xfrm>
            <a:off x="6510528" y="3566160"/>
            <a:ext cx="512064" cy="512064"/>
          </a:xfrm>
          <a:prstGeom prst="ellipse">
            <a:avLst/>
          </a:prstGeom>
          <a:solidFill>
            <a:srgbClr val="FFFFFF"/>
          </a:solidFill>
          <a:ln w="15875">
            <a:solidFill>
              <a:srgbClr val="9AA9AE"/>
            </a:solidFill>
            <a:prstDash val="dash"/>
          </a:ln>
        </p:spPr>
      </p:sp>
      <p:pic>
        <p:nvPicPr>
          <p:cNvPr id="23" name="Image 2" descr="uyarı yok simgesi">    </p:cNvPr>
          <p:cNvPicPr>
            <a:picLocks noChangeAspect="1"/>
          </p:cNvPicPr>
          <p:nvPr/>
        </p:nvPicPr>
        <p:blipFill>
          <a:blip r:embed="rId3"/>
          <a:stretch>
            <a:fillRect/>
          </a:stretch>
        </p:blipFill>
        <p:spPr>
          <a:xfrm>
            <a:off x="6629400" y="3685032"/>
            <a:ext cx="274320" cy="274320"/>
          </a:xfrm>
          <a:prstGeom prst="rect">
            <a:avLst/>
          </a:prstGeom>
        </p:spPr>
      </p:pic>
      <p:sp>
        <p:nvSpPr>
          <p:cNvPr id="24" name="Text 19"/>
          <p:cNvSpPr txBox="1"/>
          <p:nvPr/>
        </p:nvSpPr>
        <p:spPr>
          <a:xfrm>
            <a:off x="3291840" y="4151376"/>
            <a:ext cx="2286000" cy="256032"/>
          </a:xfrm>
          <a:prstGeom prst="rect">
            <a:avLst/>
          </a:prstGeom>
          <a:noFill/>
          <a:ln/>
        </p:spPr>
        <p:txBody>
          <a:bodyPr wrap="square" lIns="0" tIns="0" rIns="0" bIns="0" rtlCol="0" anchor="t"/>
          <a:lstStyle/>
          <a:p>
            <a:pPr indent="0" marL="0">
              <a:buNone/>
            </a:pPr>
            <a:r>
              <a:rPr lang="tr-TR" altLang="en-US" sz="1200" i="1" dirty="0">
                <a:solidFill>
                  <a:srgbClr val="5A6C73"/>
                </a:solidFill>
                <a:latin typeface="Calibri" pitchFamily="34" charset="0"/>
                <a:ea typeface="Calibri" pitchFamily="34" charset="-122"/>
                <a:cs typeface="Calibri" pitchFamily="34" charset="-120"/>
              </a:rPr>
              <a:t>Oturum süresi  →</a:t>
            </a:r>
            <a:endParaRPr lang="tr-TR" sz="1200" dirty="0"/>
          </a:p>
        </p:txBody>
      </p:sp>
      <p:sp>
        <p:nvSpPr>
          <p:cNvPr id="25" name="Text 20"/>
          <p:cNvSpPr txBox="1"/>
          <p:nvPr/>
        </p:nvSpPr>
        <p:spPr>
          <a:xfrm>
            <a:off x="9144000" y="2231136"/>
            <a:ext cx="2240280" cy="621792"/>
          </a:xfrm>
          <a:prstGeom prst="rect">
            <a:avLst/>
          </a:prstGeom>
          <a:noFill/>
          <a:ln/>
        </p:spPr>
        <p:txBody>
          <a:bodyPr wrap="square" lIns="0" tIns="0" rIns="0" bIns="0" rtlCol="0" anchor="ctr"/>
          <a:lstStyle/>
          <a:p>
            <a:pPr indent="0" marL="0">
              <a:buNone/>
            </a:pPr>
            <a:r>
              <a:rPr lang="tr-TR" altLang="en-US" sz="1600" b="1" dirty="0">
                <a:solidFill>
                  <a:srgbClr val="15303A"/>
                </a:solidFill>
                <a:latin typeface="Calibri" pitchFamily="34" charset="0"/>
                <a:ea typeface="Calibri" pitchFamily="34" charset="-122"/>
                <a:cs typeface="Calibri" pitchFamily="34" charset="-120"/>
              </a:rPr>
              <a:t>Amaçlı kullanımı</a:t>
            </a:r>
            <a:endParaRPr lang="tr-TR" sz="1600" dirty="0"/>
          </a:p>
          <a:p>
            <a:pPr indent="0" marL="0">
              <a:buNone/>
            </a:pPr>
            <a:r>
              <a:rPr lang="tr-TR" altLang="en-US" sz="1600" b="1" dirty="0">
                <a:solidFill>
                  <a:srgbClr val="15303A"/>
                </a:solidFill>
                <a:latin typeface="Calibri" pitchFamily="34" charset="0"/>
                <a:ea typeface="Calibri" pitchFamily="34" charset="-122"/>
                <a:cs typeface="Calibri" pitchFamily="34" charset="-120"/>
              </a:rPr>
              <a:t>gereksiz yere bölüyor</a:t>
            </a:r>
            <a:endParaRPr lang="tr-TR" sz="1600" dirty="0"/>
          </a:p>
        </p:txBody>
      </p:sp>
      <p:sp>
        <p:nvSpPr>
          <p:cNvPr id="26" name="Text 21"/>
          <p:cNvSpPr txBox="1"/>
          <p:nvPr/>
        </p:nvSpPr>
        <p:spPr>
          <a:xfrm>
            <a:off x="9144000" y="3511296"/>
            <a:ext cx="2240280" cy="621792"/>
          </a:xfrm>
          <a:prstGeom prst="rect">
            <a:avLst/>
          </a:prstGeom>
          <a:noFill/>
          <a:ln/>
        </p:spPr>
        <p:txBody>
          <a:bodyPr wrap="square" lIns="0" tIns="0" rIns="0" bIns="0" rtlCol="0" anchor="ctr"/>
          <a:lstStyle/>
          <a:p>
            <a:pPr indent="0" marL="0">
              <a:buNone/>
            </a:pPr>
            <a:r>
              <a:rPr lang="tr-TR" altLang="en-US" sz="1600" b="1" dirty="0">
                <a:solidFill>
                  <a:srgbClr val="B4462A"/>
                </a:solidFill>
                <a:latin typeface="Calibri" pitchFamily="34" charset="0"/>
                <a:ea typeface="Calibri" pitchFamily="34" charset="-122"/>
                <a:cs typeface="Calibri" pitchFamily="34" charset="-120"/>
              </a:rPr>
              <a:t>Yardım gerektiğinde</a:t>
            </a:r>
            <a:endParaRPr lang="tr-TR" sz="1600" dirty="0"/>
          </a:p>
          <a:p>
            <a:pPr indent="0" marL="0">
              <a:buNone/>
            </a:pPr>
            <a:r>
              <a:rPr lang="tr-TR" altLang="en-US" sz="1600" b="1" dirty="0">
                <a:solidFill>
                  <a:srgbClr val="B4462A"/>
                </a:solidFill>
                <a:latin typeface="Calibri" pitchFamily="34" charset="0"/>
                <a:ea typeface="Calibri" pitchFamily="34" charset="-122"/>
                <a:cs typeface="Calibri" pitchFamily="34" charset="-120"/>
              </a:rPr>
              <a:t>uyarı gelmiyor</a:t>
            </a:r>
            <a:endParaRPr lang="tr-TR" sz="1600" dirty="0"/>
          </a:p>
        </p:txBody>
      </p:sp>
      <p:sp>
        <p:nvSpPr>
          <p:cNvPr id="27" name="Shape 22"/>
          <p:cNvSpPr/>
          <p:nvPr/>
        </p:nvSpPr>
        <p:spPr>
          <a:xfrm>
            <a:off x="685800" y="4773168"/>
            <a:ext cx="6949440" cy="1261872"/>
          </a:xfrm>
          <a:prstGeom prst="roundRect">
            <a:avLst>
              <a:gd name="adj" fmla="val 10145"/>
            </a:avLst>
          </a:prstGeom>
          <a:solidFill>
            <a:srgbClr val="FFFFFF"/>
          </a:solidFill>
          <a:ln/>
          <a:effectLst>
            <a:outerShdw sx="100000" sy="100000" kx="0" ky="0" algn="bl" rotWithShape="0" blurRad="127000" dist="31750" dir="5400000">
              <a:srgbClr val="0B2A30">
                <a:alpha val="10000"/>
              </a:srgbClr>
            </a:outerShdw>
          </a:effectLst>
        </p:spPr>
      </p:sp>
      <p:sp>
        <p:nvSpPr>
          <p:cNvPr id="28" name="Shape 23"/>
          <p:cNvSpPr/>
          <p:nvPr/>
        </p:nvSpPr>
        <p:spPr>
          <a:xfrm>
            <a:off x="969264" y="5029200"/>
            <a:ext cx="749808" cy="749808"/>
          </a:xfrm>
          <a:prstGeom prst="ellipse">
            <a:avLst/>
          </a:prstGeom>
          <a:solidFill>
            <a:srgbClr val="FCE9E1"/>
          </a:solidFill>
          <a:ln/>
        </p:spPr>
      </p:sp>
      <p:pic>
        <p:nvPicPr>
          <p:cNvPr id="29" name="Image 3" descr="hand simgesi">    </p:cNvPr>
          <p:cNvPicPr>
            <a:picLocks noChangeAspect="1"/>
          </p:cNvPicPr>
          <p:nvPr/>
        </p:nvPicPr>
        <p:blipFill>
          <a:blip r:embed="rId4"/>
          <a:stretch>
            <a:fillRect/>
          </a:stretch>
        </p:blipFill>
        <p:spPr>
          <a:xfrm>
            <a:off x="1137971" y="5197907"/>
            <a:ext cx="412394" cy="412394"/>
          </a:xfrm>
          <a:prstGeom prst="rect">
            <a:avLst/>
          </a:prstGeom>
        </p:spPr>
      </p:pic>
      <p:sp>
        <p:nvSpPr>
          <p:cNvPr id="30" name="Text 24"/>
          <p:cNvSpPr txBox="1"/>
          <p:nvPr/>
        </p:nvSpPr>
        <p:spPr>
          <a:xfrm>
            <a:off x="1920240" y="4956048"/>
            <a:ext cx="5486400" cy="896112"/>
          </a:xfrm>
          <a:prstGeom prst="rect">
            <a:avLst/>
          </a:prstGeom>
          <a:noFill/>
          <a:ln/>
        </p:spPr>
        <p:txBody>
          <a:bodyPr wrap="square" lIns="0" tIns="0" rIns="0" bIns="0" rtlCol="0" anchor="ctr"/>
          <a:lstStyle/>
          <a:p>
            <a:pPr indent="0" marL="0">
              <a:spcAft>
                <a:spcPts val="300"/>
              </a:spcAft>
              <a:buNone/>
            </a:pPr>
            <a:r>
              <a:rPr lang="tr-TR" altLang="en-US" sz="1800" b="1" dirty="0">
                <a:solidFill>
                  <a:srgbClr val="15303A"/>
                </a:solidFill>
                <a:latin typeface="Calibri" pitchFamily="34" charset="0"/>
                <a:ea typeface="Calibri" pitchFamily="34" charset="-122"/>
                <a:cs typeface="Calibri" pitchFamily="34" charset="-120"/>
              </a:rPr>
              <a:t>Niyet–davranış farkı</a:t>
            </a:r>
            <a:endParaRPr lang="tr-TR" sz="1600" dirty="0"/>
          </a:p>
          <a:p>
            <a:pPr indent="0" marL="0">
              <a:spcAft>
                <a:spcPts val="300"/>
              </a:spcAft>
              <a:buNone/>
            </a:pPr>
            <a:r>
              <a:rPr lang="tr-TR" altLang="en-US" sz="1500" dirty="0">
                <a:solidFill>
                  <a:srgbClr val="15303A"/>
                </a:solidFill>
                <a:latin typeface="Calibri" pitchFamily="34" charset="0"/>
                <a:ea typeface="Calibri" pitchFamily="34" charset="-122"/>
                <a:cs typeface="Calibri" pitchFamily="34" charset="-120"/>
              </a:rPr>
              <a:t>Kişi tek bir oturumda bırakması gerektiğini hissediyor ama telefonu kullanmaya devam ediyor. Hedefimiz toplam ekran süresi değil, bu an.</a:t>
            </a:r>
            <a:endParaRPr lang="tr-TR" sz="1600" dirty="0"/>
          </a:p>
        </p:txBody>
      </p:sp>
      <p:sp>
        <p:nvSpPr>
          <p:cNvPr id="31" name="Shape 25"/>
          <p:cNvSpPr/>
          <p:nvPr/>
        </p:nvSpPr>
        <p:spPr>
          <a:xfrm>
            <a:off x="7909560" y="4773168"/>
            <a:ext cx="3596335" cy="1261872"/>
          </a:xfrm>
          <a:prstGeom prst="roundRect">
            <a:avLst>
              <a:gd name="adj" fmla="val 10145"/>
            </a:avLst>
          </a:prstGeom>
          <a:solidFill>
            <a:srgbClr val="FCE9E1"/>
          </a:solidFill>
          <a:ln/>
        </p:spPr>
      </p:sp>
      <p:sp>
        <p:nvSpPr>
          <p:cNvPr id="32" name="Text 26"/>
          <p:cNvSpPr txBox="1"/>
          <p:nvPr/>
        </p:nvSpPr>
        <p:spPr>
          <a:xfrm>
            <a:off x="8183880" y="4864608"/>
            <a:ext cx="3047695" cy="548640"/>
          </a:xfrm>
          <a:prstGeom prst="rect">
            <a:avLst/>
          </a:prstGeom>
          <a:noFill/>
          <a:ln/>
        </p:spPr>
        <p:txBody>
          <a:bodyPr wrap="square" lIns="0" tIns="0" rIns="0" bIns="0" rtlCol="0" anchor="ctr"/>
          <a:lstStyle/>
          <a:p>
            <a:pPr indent="0" marL="0">
              <a:buNone/>
            </a:pPr>
            <a:r>
              <a:rPr lang="tr-TR" altLang="en-US" sz="3400" b="1" dirty="0">
                <a:solidFill>
                  <a:srgbClr val="B4462A"/>
                </a:solidFill>
                <a:latin typeface="Calibri" pitchFamily="34" charset="0"/>
                <a:ea typeface="Calibri" pitchFamily="34" charset="-122"/>
                <a:cs typeface="Calibri" pitchFamily="34" charset="-120"/>
              </a:rPr>
              <a:t>%14,9</a:t>
            </a:r>
            <a:endParaRPr lang="tr-TR" sz="3400" dirty="0"/>
          </a:p>
        </p:txBody>
      </p:sp>
      <p:sp>
        <p:nvSpPr>
          <p:cNvPr id="33" name="Text 27"/>
          <p:cNvSpPr txBox="1"/>
          <p:nvPr/>
        </p:nvSpPr>
        <p:spPr>
          <a:xfrm>
            <a:off x="8183880" y="5431536"/>
            <a:ext cx="3139135" cy="530352"/>
          </a:xfrm>
          <a:prstGeom prst="rect">
            <a:avLst/>
          </a:prstGeom>
          <a:noFill/>
          <a:ln/>
        </p:spPr>
        <p:txBody>
          <a:bodyPr wrap="square" lIns="0" tIns="0" rIns="0" bIns="0" rtlCol="0" anchor="t"/>
          <a:lstStyle/>
          <a:p>
            <a:pPr indent="0" marL="0">
              <a:buNone/>
            </a:pPr>
            <a:r>
              <a:rPr lang="tr-TR" altLang="en-US" sz="1300" dirty="0">
                <a:solidFill>
                  <a:srgbClr val="15303A"/>
                </a:solidFill>
                <a:latin typeface="Calibri" pitchFamily="34" charset="0"/>
                <a:ea typeface="Calibri" pitchFamily="34" charset="-122"/>
                <a:cs typeface="Calibri" pitchFamily="34" charset="-120"/>
              </a:rPr>
              <a:t>yanıtta kişi “bırak” yönünde puan verdi ama 5 dakikadan uzun süre devam etti</a:t>
            </a:r>
            <a:endParaRPr lang="tr-TR" sz="1300" dirty="0"/>
          </a:p>
        </p:txBody>
      </p:sp>
      <p:sp>
        <p:nvSpPr>
          <p:cNvPr id="34" name="Text 28"/>
          <p:cNvSpPr txBox="1"/>
          <p:nvPr/>
        </p:nvSpPr>
        <p:spPr>
          <a:xfrm>
            <a:off x="685800" y="6336792"/>
            <a:ext cx="10820095" cy="237744"/>
          </a:xfrm>
          <a:prstGeom prst="rect">
            <a:avLst/>
          </a:prstGeom>
          <a:noFill/>
          <a:ln/>
        </p:spPr>
        <p:txBody>
          <a:bodyPr wrap="square" lIns="0" tIns="0" rIns="0" bIns="0" rtlCol="0" anchor="ctr"/>
          <a:lstStyle/>
          <a:p>
            <a:pPr indent="0" marL="0">
              <a:buNone/>
            </a:pPr>
            <a:r>
              <a:rPr lang="tr-TR" altLang="en-US" sz="1050" dirty="0">
                <a:solidFill>
                  <a:srgbClr val="5A6C73"/>
                </a:solidFill>
                <a:latin typeface="Calibri" pitchFamily="34" charset="0"/>
                <a:ea typeface="Calibri" pitchFamily="34" charset="-122"/>
                <a:cs typeface="Calibri" pitchFamily="34" charset="-120"/>
              </a:rPr>
              <a:t>Kaynak: Zheng &amp; Choe (2026), </a:t>
            </a:r>
            <a:pPr indent="0" marL="0">
              <a:buNone/>
            </a:pPr>
            <a:r>
              <a:rPr lang="tr-TR" altLang="en-US" sz="1050" u="sng" dirty="0">
                <a:solidFill>
                  <a:srgbClr val="5A6C73"/>
                </a:solidFill>
                <a:latin typeface="Calibri" pitchFamily="34" charset="0"/>
                <a:ea typeface="Calibri" pitchFamily="34" charset="-122"/>
                <a:cs typeface="Calibri" pitchFamily="34" charset="-120"/>
                <a:hlinkClick r:id="rId5" invalidUrl="" action="" tgtFrame="" tooltip="" history="1" highlightClick="0" endSnd="0">
                  <a:extLst>
                    <a:ext uri="{A12FA001-AC4F-418D-AE19-62706E023703}">
                      <ahyp:hlinkClr xmlns:ahyp="http://schemas.microsoft.com/office/drawing/2018/hyperlinkcolor" val="tx"/>
                    </a:ext>
                  </a:extLst>
                </a:hlinkClick>
              </a:rPr>
              <a:t>arxiv.org/html/2609.08909v1</a:t>
            </a:r>
            <a:pPr indent="0" marL="0">
              <a:buNone/>
            </a:pPr>
            <a:r>
              <a:rPr lang="tr-TR" altLang="en-US" sz="1050" dirty="0">
                <a:solidFill>
                  <a:srgbClr val="5A6C73"/>
                </a:solidFill>
                <a:latin typeface="Calibri" pitchFamily="34" charset="0"/>
                <a:ea typeface="Calibri" pitchFamily="34" charset="-122"/>
                <a:cs typeface="Calibri" pitchFamily="34" charset="-120"/>
              </a:rPr>
              <a:t>  ·  %14,9 makaledeki örnek eşiklere dayanır: 1–10 ölçeğinde 5,5’in altında puan ve sonrasında 5 dakikadan uzun kullanım.</a:t>
            </a:r>
            <a:endParaRPr lang="tr-TR" sz="10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tr-TR" altLang="en-US" sz="1300" b="1" spc="200" kern="0" dirty="0">
                <a:solidFill>
                  <a:srgbClr val="1B7A6E"/>
                </a:solidFill>
                <a:latin typeface="Calibri" pitchFamily="34" charset="0"/>
                <a:ea typeface="Calibri" pitchFamily="34" charset="-122"/>
                <a:cs typeface="Calibri" pitchFamily="34" charset="-120"/>
              </a:rPr>
              <a:t>03  ·  ÖNERDİĞİMİZ ÇÖZÜM</a:t>
            </a:r>
            <a:endParaRPr lang="tr-TR" sz="1300" dirty="0"/>
          </a:p>
        </p:txBody>
      </p:sp>
      <p:sp>
        <p:nvSpPr>
          <p:cNvPr id="3" name="Text 1"/>
          <p:cNvSpPr txBox="1"/>
          <p:nvPr/>
        </p:nvSpPr>
        <p:spPr>
          <a:xfrm>
            <a:off x="685800" y="731520"/>
            <a:ext cx="10820095" cy="658368"/>
          </a:xfrm>
          <a:prstGeom prst="rect">
            <a:avLst/>
          </a:prstGeom>
          <a:noFill/>
          <a:ln/>
        </p:spPr>
        <p:txBody>
          <a:bodyPr wrap="square" lIns="0" tIns="0" rIns="0" bIns="0" rtlCol="0" anchor="ctr"/>
          <a:lstStyle/>
          <a:p>
            <a:pPr indent="0" marL="0">
              <a:buNone/>
            </a:pPr>
            <a:r>
              <a:rPr lang="tr-TR" altLang="en-US" sz="3400" b="1" dirty="0">
                <a:solidFill>
                  <a:srgbClr val="15303A"/>
                </a:solidFill>
                <a:latin typeface="Georgia" pitchFamily="34" charset="0"/>
                <a:ea typeface="Georgia" pitchFamily="34" charset="-122"/>
                <a:cs typeface="Georgia" pitchFamily="34" charset="-120"/>
              </a:rPr>
              <a:t>Sadece emin olduğunda devreye giren bir koç</a:t>
            </a:r>
            <a:endParaRPr lang="tr-TR" sz="3400" dirty="0"/>
          </a:p>
        </p:txBody>
      </p:sp>
      <p:sp>
        <p:nvSpPr>
          <p:cNvPr id="4" name="Shape 2"/>
          <p:cNvSpPr/>
          <p:nvPr/>
        </p:nvSpPr>
        <p:spPr>
          <a:xfrm>
            <a:off x="685800"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5" name="Shape 3"/>
          <p:cNvSpPr/>
          <p:nvPr/>
        </p:nvSpPr>
        <p:spPr>
          <a:xfrm>
            <a:off x="914400" y="2057400"/>
            <a:ext cx="731520" cy="731520"/>
          </a:xfrm>
          <a:prstGeom prst="ellipse">
            <a:avLst/>
          </a:prstGeom>
          <a:solidFill>
            <a:srgbClr val="E3F1EE"/>
          </a:solidFill>
          <a:ln/>
        </p:spPr>
      </p:sp>
      <p:pic>
        <p:nvPicPr>
          <p:cNvPr id="6" name="Image 0" descr="sliders-horizontal simgesi">    </p:cNvPr>
          <p:cNvPicPr>
            <a:picLocks noChangeAspect="1"/>
          </p:cNvPicPr>
          <p:nvPr/>
        </p:nvPicPr>
        <p:blipFill>
          <a:blip r:embed="rId1"/>
          <a:stretch>
            <a:fillRect/>
          </a:stretch>
        </p:blipFill>
        <p:spPr>
          <a:xfrm>
            <a:off x="1078992" y="2221992"/>
            <a:ext cx="402336" cy="402336"/>
          </a:xfrm>
          <a:prstGeom prst="rect">
            <a:avLst/>
          </a:prstGeom>
        </p:spPr>
      </p:pic>
      <p:sp>
        <p:nvSpPr>
          <p:cNvPr id="7" name="Text 4"/>
          <p:cNvSpPr txBox="1"/>
          <p:nvPr/>
        </p:nvSpPr>
        <p:spPr>
          <a:xfrm>
            <a:off x="2256968" y="2039112"/>
            <a:ext cx="685800" cy="457200"/>
          </a:xfrm>
          <a:prstGeom prst="rect">
            <a:avLst/>
          </a:prstGeom>
          <a:noFill/>
          <a:ln/>
        </p:spPr>
        <p:txBody>
          <a:bodyPr wrap="square" lIns="0" tIns="0" rIns="0" bIns="0" rtlCol="0" anchor="t"/>
          <a:lstStyle/>
          <a:p>
            <a:pPr algn="r" indent="0" marL="0">
              <a:buNone/>
            </a:pPr>
            <a:r>
              <a:rPr lang="tr-TR" altLang="en-US" sz="2400" b="1" dirty="0">
                <a:solidFill>
                  <a:srgbClr val="C3D6D1"/>
                </a:solidFill>
                <a:latin typeface="Calibri" pitchFamily="34" charset="0"/>
                <a:ea typeface="Calibri" pitchFamily="34" charset="-122"/>
                <a:cs typeface="Calibri" pitchFamily="34" charset="-120"/>
              </a:rPr>
              <a:t>01</a:t>
            </a:r>
            <a:endParaRPr lang="tr-TR" sz="2400" dirty="0"/>
          </a:p>
        </p:txBody>
      </p:sp>
      <p:sp>
        <p:nvSpPr>
          <p:cNvPr id="8" name="Text 5"/>
          <p:cNvSpPr txBox="1"/>
          <p:nvPr/>
        </p:nvSpPr>
        <p:spPr>
          <a:xfrm>
            <a:off x="914400" y="2990088"/>
            <a:ext cx="2028368" cy="384048"/>
          </a:xfrm>
          <a:prstGeom prst="rect">
            <a:avLst/>
          </a:prstGeom>
          <a:noFill/>
          <a:ln/>
        </p:spPr>
        <p:txBody>
          <a:bodyPr wrap="square" lIns="0" tIns="0" rIns="0" bIns="0" rtlCol="0" anchor="t"/>
          <a:lstStyle/>
          <a:p>
            <a:pPr indent="0" marL="0">
              <a:buNone/>
            </a:pPr>
            <a:r>
              <a:rPr lang="tr-TR" altLang="en-US" sz="2000" b="1" dirty="0">
                <a:solidFill>
                  <a:srgbClr val="15303A"/>
                </a:solidFill>
                <a:latin typeface="Calibri" pitchFamily="34" charset="0"/>
                <a:ea typeface="Calibri" pitchFamily="34" charset="-122"/>
                <a:cs typeface="Calibri" pitchFamily="34" charset="-120"/>
              </a:rPr>
              <a:t>Katılım ve seçim</a:t>
            </a:r>
            <a:endParaRPr lang="tr-TR" sz="2000" dirty="0"/>
          </a:p>
        </p:txBody>
      </p:sp>
      <p:sp>
        <p:nvSpPr>
          <p:cNvPr id="9" name="Text 6"/>
          <p:cNvSpPr txBox="1"/>
          <p:nvPr/>
        </p:nvSpPr>
        <p:spPr>
          <a:xfrm>
            <a:off x="914400" y="3447288"/>
            <a:ext cx="2074088" cy="1143000"/>
          </a:xfrm>
          <a:prstGeom prst="rect">
            <a:avLst/>
          </a:prstGeom>
          <a:noFill/>
          <a:ln/>
        </p:spPr>
        <p:txBody>
          <a:bodyPr wrap="square" lIns="0" tIns="0" rIns="0" bIns="0" rtlCol="0" anchor="t"/>
          <a:lstStyle/>
          <a:p>
            <a:pPr indent="0" marL="0">
              <a:lnSpc>
                <a:spcPct val="105000"/>
              </a:lnSpc>
              <a:buNone/>
            </a:pPr>
            <a:r>
              <a:rPr lang="tr-TR" altLang="en-US" sz="1500" dirty="0">
                <a:solidFill>
                  <a:srgbClr val="15303A"/>
                </a:solidFill>
                <a:latin typeface="Calibri" pitchFamily="34" charset="0"/>
                <a:ea typeface="Calibri" pitchFamily="34" charset="-122"/>
                <a:cs typeface="Calibri" pitchFamily="34" charset="-120"/>
              </a:rPr>
              <a:t>Kullanıcı kendi isteğiyle katılır ve yürüyüş, esneme gibi alternatifler seçer.</a:t>
            </a:r>
            <a:endParaRPr lang="tr-TR" sz="1500" dirty="0"/>
          </a:p>
        </p:txBody>
      </p:sp>
      <p:sp>
        <p:nvSpPr>
          <p:cNvPr id="10" name="Shape 7"/>
          <p:cNvSpPr/>
          <p:nvPr/>
        </p:nvSpPr>
        <p:spPr>
          <a:xfrm>
            <a:off x="3116504" y="2221992"/>
            <a:ext cx="402336" cy="402336"/>
          </a:xfrm>
          <a:prstGeom prst="ellipse">
            <a:avLst/>
          </a:prstGeom>
          <a:solidFill>
            <a:srgbClr val="FFFFFF"/>
          </a:solidFill>
          <a:ln w="12700">
            <a:solidFill>
              <a:srgbClr val="CFDDD9"/>
            </a:solidFill>
            <a:prstDash val="solid"/>
          </a:ln>
        </p:spPr>
      </p:sp>
      <p:pic>
        <p:nvPicPr>
          <p:cNvPr id="11" name="Image 1" descr="arrow-right simgesi">    </p:cNvPr>
          <p:cNvPicPr>
            <a:picLocks noChangeAspect="1"/>
          </p:cNvPicPr>
          <p:nvPr/>
        </p:nvPicPr>
        <p:blipFill>
          <a:blip r:embed="rId2"/>
          <a:stretch>
            <a:fillRect/>
          </a:stretch>
        </p:blipFill>
        <p:spPr>
          <a:xfrm>
            <a:off x="3207029" y="2312518"/>
            <a:ext cx="221285" cy="221285"/>
          </a:xfrm>
          <a:prstGeom prst="rect">
            <a:avLst/>
          </a:prstGeom>
        </p:spPr>
      </p:pic>
      <p:sp>
        <p:nvSpPr>
          <p:cNvPr id="12" name="Shape 8"/>
          <p:cNvSpPr/>
          <p:nvPr/>
        </p:nvSpPr>
        <p:spPr>
          <a:xfrm>
            <a:off x="3463976"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13" name="Shape 9"/>
          <p:cNvSpPr/>
          <p:nvPr/>
        </p:nvSpPr>
        <p:spPr>
          <a:xfrm>
            <a:off x="3692576" y="2057400"/>
            <a:ext cx="731520" cy="731520"/>
          </a:xfrm>
          <a:prstGeom prst="ellipse">
            <a:avLst/>
          </a:prstGeom>
          <a:solidFill>
            <a:srgbClr val="E3F1EE"/>
          </a:solidFill>
          <a:ln/>
        </p:spPr>
      </p:sp>
      <p:pic>
        <p:nvPicPr>
          <p:cNvPr id="14" name="Image 2" descr="smartphone simgesi">    </p:cNvPr>
          <p:cNvPicPr>
            <a:picLocks noChangeAspect="1"/>
          </p:cNvPicPr>
          <p:nvPr/>
        </p:nvPicPr>
        <p:blipFill>
          <a:blip r:embed="rId3"/>
          <a:stretch>
            <a:fillRect/>
          </a:stretch>
        </p:blipFill>
        <p:spPr>
          <a:xfrm>
            <a:off x="3857168" y="2221992"/>
            <a:ext cx="402336" cy="402336"/>
          </a:xfrm>
          <a:prstGeom prst="rect">
            <a:avLst/>
          </a:prstGeom>
        </p:spPr>
      </p:pic>
      <p:sp>
        <p:nvSpPr>
          <p:cNvPr id="15" name="Text 10"/>
          <p:cNvSpPr txBox="1"/>
          <p:nvPr/>
        </p:nvSpPr>
        <p:spPr>
          <a:xfrm>
            <a:off x="5035144" y="2039112"/>
            <a:ext cx="685800" cy="457200"/>
          </a:xfrm>
          <a:prstGeom prst="rect">
            <a:avLst/>
          </a:prstGeom>
          <a:noFill/>
          <a:ln/>
        </p:spPr>
        <p:txBody>
          <a:bodyPr wrap="square" lIns="0" tIns="0" rIns="0" bIns="0" rtlCol="0" anchor="t"/>
          <a:lstStyle/>
          <a:p>
            <a:pPr algn="r" indent="0" marL="0">
              <a:buNone/>
            </a:pPr>
            <a:r>
              <a:rPr lang="tr-TR" altLang="en-US" sz="2400" b="1" dirty="0">
                <a:solidFill>
                  <a:srgbClr val="C3D6D1"/>
                </a:solidFill>
                <a:latin typeface="Calibri" pitchFamily="34" charset="0"/>
                <a:ea typeface="Calibri" pitchFamily="34" charset="-122"/>
                <a:cs typeface="Calibri" pitchFamily="34" charset="-120"/>
              </a:rPr>
              <a:t>02</a:t>
            </a:r>
            <a:endParaRPr lang="tr-TR" sz="2400" dirty="0"/>
          </a:p>
        </p:txBody>
      </p:sp>
      <p:sp>
        <p:nvSpPr>
          <p:cNvPr id="16" name="Text 11"/>
          <p:cNvSpPr txBox="1"/>
          <p:nvPr/>
        </p:nvSpPr>
        <p:spPr>
          <a:xfrm>
            <a:off x="3692576" y="2990088"/>
            <a:ext cx="2028368" cy="384048"/>
          </a:xfrm>
          <a:prstGeom prst="rect">
            <a:avLst/>
          </a:prstGeom>
          <a:noFill/>
          <a:ln/>
        </p:spPr>
        <p:txBody>
          <a:bodyPr wrap="square" lIns="0" tIns="0" rIns="0" bIns="0" rtlCol="0" anchor="t"/>
          <a:lstStyle/>
          <a:p>
            <a:pPr indent="0" marL="0">
              <a:buNone/>
            </a:pPr>
            <a:r>
              <a:rPr lang="tr-TR" altLang="en-US" sz="2000" b="1" dirty="0">
                <a:solidFill>
                  <a:srgbClr val="15303A"/>
                </a:solidFill>
                <a:latin typeface="Calibri" pitchFamily="34" charset="0"/>
                <a:ea typeface="Calibri" pitchFamily="34" charset="-122"/>
                <a:cs typeface="Calibri" pitchFamily="34" charset="-120"/>
              </a:rPr>
              <a:t>Anlık bağlam</a:t>
            </a:r>
            <a:endParaRPr lang="tr-TR" sz="2000" dirty="0"/>
          </a:p>
        </p:txBody>
      </p:sp>
      <p:sp>
        <p:nvSpPr>
          <p:cNvPr id="17" name="Text 12"/>
          <p:cNvSpPr txBox="1"/>
          <p:nvPr/>
        </p:nvSpPr>
        <p:spPr>
          <a:xfrm>
            <a:off x="3692576" y="3447288"/>
            <a:ext cx="2074088" cy="1143000"/>
          </a:xfrm>
          <a:prstGeom prst="rect">
            <a:avLst/>
          </a:prstGeom>
          <a:noFill/>
          <a:ln/>
        </p:spPr>
        <p:txBody>
          <a:bodyPr wrap="square" lIns="0" tIns="0" rIns="0" bIns="0" rtlCol="0" anchor="t"/>
          <a:lstStyle/>
          <a:p>
            <a:pPr indent="0" marL="0">
              <a:lnSpc>
                <a:spcPct val="105000"/>
              </a:lnSpc>
              <a:buNone/>
            </a:pPr>
            <a:r>
              <a:rPr lang="tr-TR" altLang="en-US" sz="1500" dirty="0">
                <a:solidFill>
                  <a:srgbClr val="15303A"/>
                </a:solidFill>
                <a:latin typeface="Calibri" pitchFamily="34" charset="0"/>
                <a:ea typeface="Calibri" pitchFamily="34" charset="-122"/>
                <a:cs typeface="Calibri" pitchFamily="34" charset="-120"/>
              </a:rPr>
              <a:t>Sadece o ana kadarki bilgiler: saat, uygulama türü, süre, dokunmalar, geçmiş kullanım.</a:t>
            </a:r>
            <a:endParaRPr lang="tr-TR" sz="1500" dirty="0"/>
          </a:p>
        </p:txBody>
      </p:sp>
      <p:sp>
        <p:nvSpPr>
          <p:cNvPr id="18" name="Shape 13"/>
          <p:cNvSpPr/>
          <p:nvPr/>
        </p:nvSpPr>
        <p:spPr>
          <a:xfrm>
            <a:off x="5894680" y="2221992"/>
            <a:ext cx="402336" cy="402336"/>
          </a:xfrm>
          <a:prstGeom prst="ellipse">
            <a:avLst/>
          </a:prstGeom>
          <a:solidFill>
            <a:srgbClr val="FFFFFF"/>
          </a:solidFill>
          <a:ln w="12700">
            <a:solidFill>
              <a:srgbClr val="CFDDD9"/>
            </a:solidFill>
            <a:prstDash val="solid"/>
          </a:ln>
        </p:spPr>
      </p:sp>
      <p:pic>
        <p:nvPicPr>
          <p:cNvPr id="19" name="Image 3" descr="arrow-right simgesi">    </p:cNvPr>
          <p:cNvPicPr>
            <a:picLocks noChangeAspect="1"/>
          </p:cNvPicPr>
          <p:nvPr/>
        </p:nvPicPr>
        <p:blipFill>
          <a:blip r:embed="rId4"/>
          <a:stretch>
            <a:fillRect/>
          </a:stretch>
        </p:blipFill>
        <p:spPr>
          <a:xfrm>
            <a:off x="5985205" y="2312518"/>
            <a:ext cx="221285" cy="221285"/>
          </a:xfrm>
          <a:prstGeom prst="rect">
            <a:avLst/>
          </a:prstGeom>
        </p:spPr>
      </p:pic>
      <p:sp>
        <p:nvSpPr>
          <p:cNvPr id="20" name="Shape 14"/>
          <p:cNvSpPr/>
          <p:nvPr/>
        </p:nvSpPr>
        <p:spPr>
          <a:xfrm>
            <a:off x="6242152"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21" name="Shape 15"/>
          <p:cNvSpPr/>
          <p:nvPr/>
        </p:nvSpPr>
        <p:spPr>
          <a:xfrm>
            <a:off x="6470752" y="2057400"/>
            <a:ext cx="731520" cy="731520"/>
          </a:xfrm>
          <a:prstGeom prst="ellipse">
            <a:avLst/>
          </a:prstGeom>
          <a:solidFill>
            <a:srgbClr val="FCE9E1"/>
          </a:solidFill>
          <a:ln/>
        </p:spPr>
      </p:sp>
      <p:pic>
        <p:nvPicPr>
          <p:cNvPr id="22" name="Image 4" descr="gauge simgesi">    </p:cNvPr>
          <p:cNvPicPr>
            <a:picLocks noChangeAspect="1"/>
          </p:cNvPicPr>
          <p:nvPr/>
        </p:nvPicPr>
        <p:blipFill>
          <a:blip r:embed="rId5"/>
          <a:stretch>
            <a:fillRect/>
          </a:stretch>
        </p:blipFill>
        <p:spPr>
          <a:xfrm>
            <a:off x="6635344" y="2221992"/>
            <a:ext cx="402336" cy="402336"/>
          </a:xfrm>
          <a:prstGeom prst="rect">
            <a:avLst/>
          </a:prstGeom>
        </p:spPr>
      </p:pic>
      <p:sp>
        <p:nvSpPr>
          <p:cNvPr id="23" name="Text 16"/>
          <p:cNvSpPr txBox="1"/>
          <p:nvPr/>
        </p:nvSpPr>
        <p:spPr>
          <a:xfrm>
            <a:off x="7813319" y="2039112"/>
            <a:ext cx="685800" cy="457200"/>
          </a:xfrm>
          <a:prstGeom prst="rect">
            <a:avLst/>
          </a:prstGeom>
          <a:noFill/>
          <a:ln/>
        </p:spPr>
        <p:txBody>
          <a:bodyPr wrap="square" lIns="0" tIns="0" rIns="0" bIns="0" rtlCol="0" anchor="t"/>
          <a:lstStyle/>
          <a:p>
            <a:pPr algn="r" indent="0" marL="0">
              <a:buNone/>
            </a:pPr>
            <a:r>
              <a:rPr lang="tr-TR" altLang="en-US" sz="2400" b="1" dirty="0">
                <a:solidFill>
                  <a:srgbClr val="C3D6D1"/>
                </a:solidFill>
                <a:latin typeface="Calibri" pitchFamily="34" charset="0"/>
                <a:ea typeface="Calibri" pitchFamily="34" charset="-122"/>
                <a:cs typeface="Calibri" pitchFamily="34" charset="-120"/>
              </a:rPr>
              <a:t>03</a:t>
            </a:r>
            <a:endParaRPr lang="tr-TR" sz="2400" dirty="0"/>
          </a:p>
        </p:txBody>
      </p:sp>
      <p:sp>
        <p:nvSpPr>
          <p:cNvPr id="24" name="Text 17"/>
          <p:cNvSpPr txBox="1"/>
          <p:nvPr/>
        </p:nvSpPr>
        <p:spPr>
          <a:xfrm>
            <a:off x="6470752" y="2990088"/>
            <a:ext cx="2028368" cy="384048"/>
          </a:xfrm>
          <a:prstGeom prst="rect">
            <a:avLst/>
          </a:prstGeom>
          <a:noFill/>
          <a:ln/>
        </p:spPr>
        <p:txBody>
          <a:bodyPr wrap="square" lIns="0" tIns="0" rIns="0" bIns="0" rtlCol="0" anchor="t"/>
          <a:lstStyle/>
          <a:p>
            <a:pPr indent="0" marL="0">
              <a:buNone/>
            </a:pPr>
            <a:r>
              <a:rPr lang="tr-TR" altLang="en-US" sz="2000" b="1" dirty="0">
                <a:solidFill>
                  <a:srgbClr val="B4462A"/>
                </a:solidFill>
                <a:latin typeface="Calibri" pitchFamily="34" charset="0"/>
                <a:ea typeface="Calibri" pitchFamily="34" charset="-122"/>
                <a:cs typeface="Calibri" pitchFamily="34" charset="-120"/>
              </a:rPr>
              <a:t>Fark tahmini</a:t>
            </a:r>
            <a:endParaRPr lang="tr-TR" sz="2000" dirty="0"/>
          </a:p>
        </p:txBody>
      </p:sp>
      <p:sp>
        <p:nvSpPr>
          <p:cNvPr id="25" name="Text 18"/>
          <p:cNvSpPr txBox="1"/>
          <p:nvPr/>
        </p:nvSpPr>
        <p:spPr>
          <a:xfrm>
            <a:off x="6470752" y="3447288"/>
            <a:ext cx="2074088" cy="1143000"/>
          </a:xfrm>
          <a:prstGeom prst="rect">
            <a:avLst/>
          </a:prstGeom>
          <a:noFill/>
          <a:ln/>
        </p:spPr>
        <p:txBody>
          <a:bodyPr wrap="square" lIns="0" tIns="0" rIns="0" bIns="0" rtlCol="0" anchor="t"/>
          <a:lstStyle/>
          <a:p>
            <a:pPr indent="0" marL="0">
              <a:lnSpc>
                <a:spcPct val="105000"/>
              </a:lnSpc>
              <a:buNone/>
            </a:pPr>
            <a:r>
              <a:rPr lang="tr-TR" altLang="en-US" sz="1500" dirty="0">
                <a:solidFill>
                  <a:srgbClr val="15303A"/>
                </a:solidFill>
                <a:latin typeface="Calibri" pitchFamily="34" charset="0"/>
                <a:ea typeface="Calibri" pitchFamily="34" charset="-122"/>
                <a:cs typeface="Calibri" pitchFamily="34" charset="-120"/>
              </a:rPr>
              <a:t>Kişinin bırakmak isteyip yine de devam etme ihtimali.</a:t>
            </a:r>
            <a:endParaRPr lang="tr-TR" sz="1500" dirty="0"/>
          </a:p>
        </p:txBody>
      </p:sp>
      <p:sp>
        <p:nvSpPr>
          <p:cNvPr id="26" name="Shape 19"/>
          <p:cNvSpPr/>
          <p:nvPr/>
        </p:nvSpPr>
        <p:spPr>
          <a:xfrm>
            <a:off x="8672855" y="2221992"/>
            <a:ext cx="402336" cy="402336"/>
          </a:xfrm>
          <a:prstGeom prst="ellipse">
            <a:avLst/>
          </a:prstGeom>
          <a:solidFill>
            <a:srgbClr val="FFFFFF"/>
          </a:solidFill>
          <a:ln w="12700">
            <a:solidFill>
              <a:srgbClr val="CFDDD9"/>
            </a:solidFill>
            <a:prstDash val="solid"/>
          </a:ln>
        </p:spPr>
      </p:sp>
      <p:pic>
        <p:nvPicPr>
          <p:cNvPr id="27" name="Image 5" descr="arrow-right simgesi">    </p:cNvPr>
          <p:cNvPicPr>
            <a:picLocks noChangeAspect="1"/>
          </p:cNvPicPr>
          <p:nvPr/>
        </p:nvPicPr>
        <p:blipFill>
          <a:blip r:embed="rId6"/>
          <a:stretch>
            <a:fillRect/>
          </a:stretch>
        </p:blipFill>
        <p:spPr>
          <a:xfrm>
            <a:off x="8763381" y="2312518"/>
            <a:ext cx="221285" cy="221285"/>
          </a:xfrm>
          <a:prstGeom prst="rect">
            <a:avLst/>
          </a:prstGeom>
        </p:spPr>
      </p:pic>
      <p:sp>
        <p:nvSpPr>
          <p:cNvPr id="28" name="Shape 20"/>
          <p:cNvSpPr/>
          <p:nvPr/>
        </p:nvSpPr>
        <p:spPr>
          <a:xfrm>
            <a:off x="9020327" y="1783080"/>
            <a:ext cx="2485568" cy="2926080"/>
          </a:xfrm>
          <a:prstGeom prst="roundRect">
            <a:avLst>
              <a:gd name="adj" fmla="val 5150"/>
            </a:avLst>
          </a:prstGeom>
          <a:solidFill>
            <a:srgbClr val="FFFFFF"/>
          </a:solidFill>
          <a:ln/>
          <a:effectLst>
            <a:outerShdw sx="100000" sy="100000" kx="0" ky="0" algn="bl" rotWithShape="0" blurRad="127000" dist="31750" dir="5400000">
              <a:srgbClr val="0B2A30">
                <a:alpha val="10000"/>
              </a:srgbClr>
            </a:outerShdw>
          </a:effectLst>
        </p:spPr>
      </p:sp>
      <p:sp>
        <p:nvSpPr>
          <p:cNvPr id="29" name="Shape 21"/>
          <p:cNvSpPr/>
          <p:nvPr/>
        </p:nvSpPr>
        <p:spPr>
          <a:xfrm>
            <a:off x="9248927" y="2057400"/>
            <a:ext cx="731520" cy="731520"/>
          </a:xfrm>
          <a:prstGeom prst="ellipse">
            <a:avLst/>
          </a:prstGeom>
          <a:solidFill>
            <a:srgbClr val="E3F1EE"/>
          </a:solidFill>
          <a:ln/>
        </p:spPr>
      </p:sp>
      <p:pic>
        <p:nvPicPr>
          <p:cNvPr id="30" name="Image 6" descr="message-circle-heart simgesi">    </p:cNvPr>
          <p:cNvPicPr>
            <a:picLocks noChangeAspect="1"/>
          </p:cNvPicPr>
          <p:nvPr/>
        </p:nvPicPr>
        <p:blipFill>
          <a:blip r:embed="rId7"/>
          <a:stretch>
            <a:fillRect/>
          </a:stretch>
        </p:blipFill>
        <p:spPr>
          <a:xfrm>
            <a:off x="9413519" y="2221992"/>
            <a:ext cx="402336" cy="402336"/>
          </a:xfrm>
          <a:prstGeom prst="rect">
            <a:avLst/>
          </a:prstGeom>
        </p:spPr>
      </p:pic>
      <p:sp>
        <p:nvSpPr>
          <p:cNvPr id="31" name="Text 22"/>
          <p:cNvSpPr txBox="1"/>
          <p:nvPr/>
        </p:nvSpPr>
        <p:spPr>
          <a:xfrm>
            <a:off x="10591495" y="2039112"/>
            <a:ext cx="685800" cy="457200"/>
          </a:xfrm>
          <a:prstGeom prst="rect">
            <a:avLst/>
          </a:prstGeom>
          <a:noFill/>
          <a:ln/>
        </p:spPr>
        <p:txBody>
          <a:bodyPr wrap="square" lIns="0" tIns="0" rIns="0" bIns="0" rtlCol="0" anchor="t"/>
          <a:lstStyle/>
          <a:p>
            <a:pPr algn="r" indent="0" marL="0">
              <a:buNone/>
            </a:pPr>
            <a:r>
              <a:rPr lang="tr-TR" altLang="en-US" sz="2400" b="1" dirty="0">
                <a:solidFill>
                  <a:srgbClr val="C3D6D1"/>
                </a:solidFill>
                <a:latin typeface="Calibri" pitchFamily="34" charset="0"/>
                <a:ea typeface="Calibri" pitchFamily="34" charset="-122"/>
                <a:cs typeface="Calibri" pitchFamily="34" charset="-120"/>
              </a:rPr>
              <a:t>04</a:t>
            </a:r>
            <a:endParaRPr lang="tr-TR" sz="2400" dirty="0"/>
          </a:p>
        </p:txBody>
      </p:sp>
      <p:sp>
        <p:nvSpPr>
          <p:cNvPr id="32" name="Text 23"/>
          <p:cNvSpPr txBox="1"/>
          <p:nvPr/>
        </p:nvSpPr>
        <p:spPr>
          <a:xfrm>
            <a:off x="9248927" y="2990088"/>
            <a:ext cx="2028368" cy="384048"/>
          </a:xfrm>
          <a:prstGeom prst="rect">
            <a:avLst/>
          </a:prstGeom>
          <a:noFill/>
          <a:ln/>
        </p:spPr>
        <p:txBody>
          <a:bodyPr wrap="square" lIns="0" tIns="0" rIns="0" bIns="0" rtlCol="0" anchor="t"/>
          <a:lstStyle/>
          <a:p>
            <a:pPr indent="0" marL="0">
              <a:buNone/>
            </a:pPr>
            <a:r>
              <a:rPr lang="tr-TR" altLang="en-US" sz="2000" b="1" dirty="0">
                <a:solidFill>
                  <a:srgbClr val="15303A"/>
                </a:solidFill>
                <a:latin typeface="Calibri" pitchFamily="34" charset="0"/>
                <a:ea typeface="Calibri" pitchFamily="34" charset="-122"/>
                <a:cs typeface="Calibri" pitchFamily="34" charset="-120"/>
              </a:rPr>
              <a:t>Kısa öneri</a:t>
            </a:r>
            <a:endParaRPr lang="tr-TR" sz="2000" dirty="0"/>
          </a:p>
        </p:txBody>
      </p:sp>
      <p:sp>
        <p:nvSpPr>
          <p:cNvPr id="33" name="Text 24"/>
          <p:cNvSpPr txBox="1"/>
          <p:nvPr/>
        </p:nvSpPr>
        <p:spPr>
          <a:xfrm>
            <a:off x="9248927" y="3447288"/>
            <a:ext cx="2074088" cy="1143000"/>
          </a:xfrm>
          <a:prstGeom prst="rect">
            <a:avLst/>
          </a:prstGeom>
          <a:noFill/>
          <a:ln/>
        </p:spPr>
        <p:txBody>
          <a:bodyPr wrap="square" lIns="0" tIns="0" rIns="0" bIns="0" rtlCol="0" anchor="t"/>
          <a:lstStyle/>
          <a:p>
            <a:pPr indent="0" marL="0">
              <a:lnSpc>
                <a:spcPct val="105000"/>
              </a:lnSpc>
              <a:buNone/>
            </a:pPr>
            <a:r>
              <a:rPr lang="tr-TR" altLang="en-US" sz="1500" dirty="0">
                <a:solidFill>
                  <a:srgbClr val="15303A"/>
                </a:solidFill>
                <a:latin typeface="Calibri" pitchFamily="34" charset="0"/>
                <a:ea typeface="Calibri" pitchFamily="34" charset="-122"/>
                <a:cs typeface="Calibri" pitchFamily="34" charset="-120"/>
              </a:rPr>
              <a:t>Sadece eminse listeden kısa bir öneri gelir. Tek dokunuşla kapatılır.</a:t>
            </a:r>
            <a:endParaRPr lang="tr-TR" sz="1500" dirty="0"/>
          </a:p>
        </p:txBody>
      </p:sp>
      <p:sp>
        <p:nvSpPr>
          <p:cNvPr id="34" name="Text 25"/>
          <p:cNvSpPr txBox="1"/>
          <p:nvPr/>
        </p:nvSpPr>
        <p:spPr>
          <a:xfrm>
            <a:off x="685800" y="5138928"/>
            <a:ext cx="1188720" cy="438912"/>
          </a:xfrm>
          <a:prstGeom prst="rect">
            <a:avLst/>
          </a:prstGeom>
          <a:noFill/>
          <a:ln/>
        </p:spPr>
        <p:txBody>
          <a:bodyPr wrap="square" lIns="0" tIns="0" rIns="0" bIns="0" rtlCol="0" anchor="ctr"/>
          <a:lstStyle/>
          <a:p>
            <a:pPr indent="0" marL="0">
              <a:buNone/>
            </a:pPr>
            <a:r>
              <a:rPr lang="tr-TR" altLang="en-US" sz="1500" b="1" dirty="0">
                <a:solidFill>
                  <a:srgbClr val="1B7A6E"/>
                </a:solidFill>
                <a:latin typeface="Calibri" pitchFamily="34" charset="0"/>
                <a:ea typeface="Calibri" pitchFamily="34" charset="-122"/>
                <a:cs typeface="Calibri" pitchFamily="34" charset="-120"/>
              </a:rPr>
              <a:t>Güvenceler</a:t>
            </a:r>
            <a:endParaRPr lang="tr-TR" sz="1500" dirty="0"/>
          </a:p>
        </p:txBody>
      </p:sp>
      <p:sp>
        <p:nvSpPr>
          <p:cNvPr id="35" name="Shape 26"/>
          <p:cNvSpPr/>
          <p:nvPr/>
        </p:nvSpPr>
        <p:spPr>
          <a:xfrm>
            <a:off x="1920240" y="5138928"/>
            <a:ext cx="1587398" cy="438912"/>
          </a:xfrm>
          <a:prstGeom prst="roundRect">
            <a:avLst>
              <a:gd name="adj" fmla="val 50000"/>
            </a:avLst>
          </a:prstGeom>
          <a:solidFill>
            <a:srgbClr val="FFFFFF"/>
          </a:solidFill>
          <a:ln w="12700">
            <a:solidFill>
              <a:srgbClr val="CFDDD9"/>
            </a:solidFill>
            <a:prstDash val="solid"/>
          </a:ln>
        </p:spPr>
      </p:sp>
      <p:pic>
        <p:nvPicPr>
          <p:cNvPr id="36" name="Image 7" descr="onay simgesi">    </p:cNvPr>
          <p:cNvPicPr>
            <a:picLocks noChangeAspect="1"/>
          </p:cNvPicPr>
          <p:nvPr/>
        </p:nvPicPr>
        <p:blipFill>
          <a:blip r:embed="rId8"/>
          <a:stretch>
            <a:fillRect/>
          </a:stretch>
        </p:blipFill>
        <p:spPr>
          <a:xfrm>
            <a:off x="2075688" y="5257800"/>
            <a:ext cx="201168" cy="201168"/>
          </a:xfrm>
          <a:prstGeom prst="rect">
            <a:avLst/>
          </a:prstGeom>
        </p:spPr>
      </p:pic>
      <p:sp>
        <p:nvSpPr>
          <p:cNvPr id="37" name="Text 27"/>
          <p:cNvSpPr txBox="1"/>
          <p:nvPr/>
        </p:nvSpPr>
        <p:spPr>
          <a:xfrm>
            <a:off x="2340864" y="5138928"/>
            <a:ext cx="1130198" cy="438912"/>
          </a:xfrm>
          <a:prstGeom prst="rect">
            <a:avLst/>
          </a:prstGeom>
          <a:noFill/>
          <a:ln/>
        </p:spPr>
        <p:txBody>
          <a:bodyPr wrap="square" lIns="0" tIns="0" rIns="0" bIns="0" rtlCol="0" anchor="ctr"/>
          <a:lstStyle/>
          <a:p>
            <a:pPr indent="0" marL="0">
              <a:buNone/>
            </a:pPr>
            <a:r>
              <a:rPr lang="tr-TR" altLang="en-US" sz="1500" dirty="0">
                <a:solidFill>
                  <a:srgbClr val="15303A"/>
                </a:solidFill>
                <a:latin typeface="Calibri" pitchFamily="34" charset="0"/>
                <a:ea typeface="Calibri" pitchFamily="34" charset="-122"/>
                <a:cs typeface="Calibri" pitchFamily="34" charset="-120"/>
              </a:rPr>
              <a:t>İsteğe bağlı</a:t>
            </a:r>
            <a:endParaRPr lang="tr-TR" sz="1500" dirty="0"/>
          </a:p>
        </p:txBody>
      </p:sp>
      <p:sp>
        <p:nvSpPr>
          <p:cNvPr id="38" name="Shape 28"/>
          <p:cNvSpPr/>
          <p:nvPr/>
        </p:nvSpPr>
        <p:spPr>
          <a:xfrm>
            <a:off x="3708806" y="5138928"/>
            <a:ext cx="2182673" cy="438912"/>
          </a:xfrm>
          <a:prstGeom prst="roundRect">
            <a:avLst>
              <a:gd name="adj" fmla="val 50000"/>
            </a:avLst>
          </a:prstGeom>
          <a:solidFill>
            <a:srgbClr val="FFFFFF"/>
          </a:solidFill>
          <a:ln w="12700">
            <a:solidFill>
              <a:srgbClr val="CFDDD9"/>
            </a:solidFill>
            <a:prstDash val="solid"/>
          </a:ln>
        </p:spPr>
      </p:sp>
      <p:pic>
        <p:nvPicPr>
          <p:cNvPr id="39" name="Image 8" descr="onay simgesi">    </p:cNvPr>
          <p:cNvPicPr>
            <a:picLocks noChangeAspect="1"/>
          </p:cNvPicPr>
          <p:nvPr/>
        </p:nvPicPr>
        <p:blipFill>
          <a:blip r:embed="rId9"/>
          <a:stretch>
            <a:fillRect/>
          </a:stretch>
        </p:blipFill>
        <p:spPr>
          <a:xfrm>
            <a:off x="3864254" y="5257800"/>
            <a:ext cx="201168" cy="201168"/>
          </a:xfrm>
          <a:prstGeom prst="rect">
            <a:avLst/>
          </a:prstGeom>
        </p:spPr>
      </p:pic>
      <p:sp>
        <p:nvSpPr>
          <p:cNvPr id="40" name="Text 29"/>
          <p:cNvSpPr txBox="1"/>
          <p:nvPr/>
        </p:nvSpPr>
        <p:spPr>
          <a:xfrm>
            <a:off x="4129430" y="5138928"/>
            <a:ext cx="1725473" cy="438912"/>
          </a:xfrm>
          <a:prstGeom prst="rect">
            <a:avLst/>
          </a:prstGeom>
          <a:noFill/>
          <a:ln/>
        </p:spPr>
        <p:txBody>
          <a:bodyPr wrap="square" lIns="0" tIns="0" rIns="0" bIns="0" rtlCol="0" anchor="ctr"/>
          <a:lstStyle/>
          <a:p>
            <a:pPr indent="0" marL="0">
              <a:buNone/>
            </a:pPr>
            <a:r>
              <a:rPr lang="tr-TR" altLang="en-US" sz="1500" dirty="0">
                <a:solidFill>
                  <a:srgbClr val="15303A"/>
                </a:solidFill>
                <a:latin typeface="Calibri" pitchFamily="34" charset="0"/>
                <a:ea typeface="Calibri" pitchFamily="34" charset="-122"/>
                <a:cs typeface="Calibri" pitchFamily="34" charset="-120"/>
              </a:rPr>
              <a:t>Gerekmedikçe sessiz</a:t>
            </a:r>
            <a:endParaRPr lang="tr-TR" sz="1500" dirty="0"/>
          </a:p>
        </p:txBody>
      </p:sp>
      <p:sp>
        <p:nvSpPr>
          <p:cNvPr id="41" name="Shape 30"/>
          <p:cNvSpPr/>
          <p:nvPr/>
        </p:nvSpPr>
        <p:spPr>
          <a:xfrm>
            <a:off x="6092647" y="5138928"/>
            <a:ext cx="2267712" cy="438912"/>
          </a:xfrm>
          <a:prstGeom prst="roundRect">
            <a:avLst>
              <a:gd name="adj" fmla="val 50000"/>
            </a:avLst>
          </a:prstGeom>
          <a:solidFill>
            <a:srgbClr val="FFFFFF"/>
          </a:solidFill>
          <a:ln w="12700">
            <a:solidFill>
              <a:srgbClr val="CFDDD9"/>
            </a:solidFill>
            <a:prstDash val="solid"/>
          </a:ln>
        </p:spPr>
      </p:sp>
      <p:pic>
        <p:nvPicPr>
          <p:cNvPr id="42" name="Image 9" descr="onay simgesi">    </p:cNvPr>
          <p:cNvPicPr>
            <a:picLocks noChangeAspect="1"/>
          </p:cNvPicPr>
          <p:nvPr/>
        </p:nvPicPr>
        <p:blipFill>
          <a:blip r:embed="rId10"/>
          <a:stretch>
            <a:fillRect/>
          </a:stretch>
        </p:blipFill>
        <p:spPr>
          <a:xfrm>
            <a:off x="6248095" y="5257800"/>
            <a:ext cx="201168" cy="201168"/>
          </a:xfrm>
          <a:prstGeom prst="rect">
            <a:avLst/>
          </a:prstGeom>
        </p:spPr>
      </p:pic>
      <p:sp>
        <p:nvSpPr>
          <p:cNvPr id="43" name="Text 31"/>
          <p:cNvSpPr txBox="1"/>
          <p:nvPr/>
        </p:nvSpPr>
        <p:spPr>
          <a:xfrm>
            <a:off x="6513271" y="5138928"/>
            <a:ext cx="1810512" cy="438912"/>
          </a:xfrm>
          <a:prstGeom prst="rect">
            <a:avLst/>
          </a:prstGeom>
          <a:noFill/>
          <a:ln/>
        </p:spPr>
        <p:txBody>
          <a:bodyPr wrap="square" lIns="0" tIns="0" rIns="0" bIns="0" rtlCol="0" anchor="ctr"/>
          <a:lstStyle/>
          <a:p>
            <a:pPr indent="0" marL="0">
              <a:buNone/>
            </a:pPr>
            <a:r>
              <a:rPr lang="tr-TR" altLang="en-US" sz="1500" dirty="0">
                <a:solidFill>
                  <a:srgbClr val="15303A"/>
                </a:solidFill>
                <a:latin typeface="Calibri" pitchFamily="34" charset="0"/>
                <a:ea typeface="Calibri" pitchFamily="34" charset="-122"/>
                <a:cs typeface="Calibri" pitchFamily="34" charset="-120"/>
              </a:rPr>
              <a:t>Her an kapatılabilir</a:t>
            </a:r>
            <a:endParaRPr lang="tr-TR" sz="1500" dirty="0"/>
          </a:p>
        </p:txBody>
      </p:sp>
      <p:sp>
        <p:nvSpPr>
          <p:cNvPr id="44" name="Shape 32"/>
          <p:cNvSpPr/>
          <p:nvPr/>
        </p:nvSpPr>
        <p:spPr>
          <a:xfrm>
            <a:off x="8561527" y="5138928"/>
            <a:ext cx="2522830" cy="438912"/>
          </a:xfrm>
          <a:prstGeom prst="roundRect">
            <a:avLst>
              <a:gd name="adj" fmla="val 50000"/>
            </a:avLst>
          </a:prstGeom>
          <a:solidFill>
            <a:srgbClr val="FFFFFF"/>
          </a:solidFill>
          <a:ln w="12700">
            <a:solidFill>
              <a:srgbClr val="CFDDD9"/>
            </a:solidFill>
            <a:prstDash val="solid"/>
          </a:ln>
        </p:spPr>
      </p:sp>
      <p:pic>
        <p:nvPicPr>
          <p:cNvPr id="45" name="Image 10" descr="onay simgesi">    </p:cNvPr>
          <p:cNvPicPr>
            <a:picLocks noChangeAspect="1"/>
          </p:cNvPicPr>
          <p:nvPr/>
        </p:nvPicPr>
        <p:blipFill>
          <a:blip r:embed="rId11"/>
          <a:stretch>
            <a:fillRect/>
          </a:stretch>
        </p:blipFill>
        <p:spPr>
          <a:xfrm>
            <a:off x="8716975" y="5257800"/>
            <a:ext cx="201168" cy="201168"/>
          </a:xfrm>
          <a:prstGeom prst="rect">
            <a:avLst/>
          </a:prstGeom>
        </p:spPr>
      </p:pic>
      <p:sp>
        <p:nvSpPr>
          <p:cNvPr id="46" name="Text 33"/>
          <p:cNvSpPr txBox="1"/>
          <p:nvPr/>
        </p:nvSpPr>
        <p:spPr>
          <a:xfrm>
            <a:off x="8982151" y="5138928"/>
            <a:ext cx="2065630" cy="438912"/>
          </a:xfrm>
          <a:prstGeom prst="rect">
            <a:avLst/>
          </a:prstGeom>
          <a:noFill/>
          <a:ln/>
        </p:spPr>
        <p:txBody>
          <a:bodyPr wrap="square" lIns="0" tIns="0" rIns="0" bIns="0" rtlCol="0" anchor="ctr"/>
          <a:lstStyle/>
          <a:p>
            <a:pPr indent="0" marL="0">
              <a:buNone/>
            </a:pPr>
            <a:r>
              <a:rPr lang="tr-TR" altLang="en-US" sz="1500" dirty="0">
                <a:solidFill>
                  <a:srgbClr val="15303A"/>
                </a:solidFill>
                <a:latin typeface="Calibri" pitchFamily="34" charset="0"/>
                <a:ea typeface="Calibri" pitchFamily="34" charset="-122"/>
                <a:cs typeface="Calibri" pitchFamily="34" charset="-120"/>
              </a:rPr>
              <a:t>Tanı ya da tedavi değil</a:t>
            </a:r>
            <a:endParaRPr lang="tr-TR" sz="1500" dirty="0"/>
          </a:p>
        </p:txBody>
      </p:sp>
      <p:sp>
        <p:nvSpPr>
          <p:cNvPr id="47" name="Text 34"/>
          <p:cNvSpPr txBox="1"/>
          <p:nvPr/>
        </p:nvSpPr>
        <p:spPr>
          <a:xfrm>
            <a:off x="685800" y="5870448"/>
            <a:ext cx="10820095" cy="310896"/>
          </a:xfrm>
          <a:prstGeom prst="rect">
            <a:avLst/>
          </a:prstGeom>
          <a:noFill/>
          <a:ln/>
        </p:spPr>
        <p:txBody>
          <a:bodyPr wrap="square" lIns="0" tIns="0" rIns="0" bIns="0" rtlCol="0" anchor="t"/>
          <a:lstStyle/>
          <a:p>
            <a:pPr indent="0" marL="0">
              <a:buNone/>
            </a:pPr>
            <a:r>
              <a:rPr lang="tr-TR" altLang="en-US" sz="1500" i="1" dirty="0">
                <a:solidFill>
                  <a:srgbClr val="5A6C73"/>
                </a:solidFill>
                <a:latin typeface="Calibri" pitchFamily="34" charset="0"/>
                <a:ea typeface="Calibri" pitchFamily="34" charset="-122"/>
                <a:cs typeface="Calibri" pitchFamily="34" charset="-120"/>
              </a:rPr>
              <a:t>Android için önerilen bir araştırma prototipi.</a:t>
            </a:r>
            <a:endParaRPr lang="tr-TR" sz="15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7F6"/>
        </a:solidFill>
      </p:bgPr>
    </p:bg>
    <p:spTree>
      <p:nvGrpSpPr>
        <p:cNvPr id="1" name=""/>
        <p:cNvGrpSpPr/>
        <p:nvPr/>
      </p:nvGrpSpPr>
      <p:grpSpPr>
        <a:xfrm>
          <a:off x="0" y="0"/>
          <a:ext cx="0" cy="0"/>
          <a:chOff x="0" y="0"/>
          <a:chExt cx="0" cy="0"/>
        </a:xfrm>
      </p:grpSpPr>
      <p:sp>
        <p:nvSpPr>
          <p:cNvPr id="2" name="Text 0"/>
          <p:cNvSpPr txBox="1"/>
          <p:nvPr/>
        </p:nvSpPr>
        <p:spPr>
          <a:xfrm>
            <a:off x="685800" y="457200"/>
            <a:ext cx="10820095" cy="274320"/>
          </a:xfrm>
          <a:prstGeom prst="rect">
            <a:avLst/>
          </a:prstGeom>
          <a:noFill/>
          <a:ln/>
        </p:spPr>
        <p:txBody>
          <a:bodyPr wrap="square" lIns="0" tIns="0" rIns="0" bIns="0" rtlCol="0" anchor="t"/>
          <a:lstStyle/>
          <a:p>
            <a:pPr indent="0" marL="0">
              <a:buNone/>
            </a:pPr>
            <a:r>
              <a:rPr lang="tr-TR" altLang="en-US" sz="1300" b="1" spc="200" kern="0" dirty="0">
                <a:solidFill>
                  <a:srgbClr val="1B7A6E"/>
                </a:solidFill>
                <a:latin typeface="Calibri" pitchFamily="34" charset="0"/>
                <a:ea typeface="Calibri" pitchFamily="34" charset="-122"/>
                <a:cs typeface="Calibri" pitchFamily="34" charset="-120"/>
              </a:rPr>
              <a:t>04  ·  VERİ VE ARAŞTIRMA YAKLAŞIMI</a:t>
            </a:r>
            <a:endParaRPr lang="tr-TR" sz="1300" dirty="0"/>
          </a:p>
        </p:txBody>
      </p:sp>
      <p:sp>
        <p:nvSpPr>
          <p:cNvPr id="3" name="Text 1"/>
          <p:cNvSpPr txBox="1"/>
          <p:nvPr/>
        </p:nvSpPr>
        <p:spPr>
          <a:xfrm>
            <a:off x="685800" y="731520"/>
            <a:ext cx="10820095" cy="658368"/>
          </a:xfrm>
          <a:prstGeom prst="rect">
            <a:avLst/>
          </a:prstGeom>
          <a:noFill/>
          <a:ln/>
        </p:spPr>
        <p:txBody>
          <a:bodyPr wrap="square" lIns="0" tIns="0" rIns="0" bIns="0" rtlCol="0" anchor="ctr"/>
          <a:lstStyle/>
          <a:p>
            <a:pPr indent="0" marL="0">
              <a:buNone/>
            </a:pPr>
            <a:r>
              <a:rPr lang="tr-TR" altLang="en-US" sz="3400" b="1" dirty="0">
                <a:solidFill>
                  <a:srgbClr val="15303A"/>
                </a:solidFill>
                <a:latin typeface="Georgia" pitchFamily="34" charset="0"/>
                <a:ea typeface="Georgia" pitchFamily="34" charset="-122"/>
                <a:cs typeface="Georgia" pitchFamily="34" charset="-120"/>
              </a:rPr>
              <a:t>AwareMind: hem niyet hem davranış</a:t>
            </a:r>
            <a:endParaRPr lang="tr-TR" sz="3400" dirty="0"/>
          </a:p>
        </p:txBody>
      </p:sp>
      <p:sp>
        <p:nvSpPr>
          <p:cNvPr id="4" name="Shape 2"/>
          <p:cNvSpPr/>
          <p:nvPr/>
        </p:nvSpPr>
        <p:spPr>
          <a:xfrm>
            <a:off x="685800" y="1572768"/>
            <a:ext cx="3429000" cy="384048"/>
          </a:xfrm>
          <a:prstGeom prst="roundRect">
            <a:avLst>
              <a:gd name="adj" fmla="val 50000"/>
            </a:avLst>
          </a:prstGeom>
          <a:solidFill>
            <a:srgbClr val="E3F1EE"/>
          </a:solidFill>
          <a:ln/>
        </p:spPr>
      </p:sp>
      <p:pic>
        <p:nvPicPr>
          <p:cNvPr id="5" name="Image 0" descr="veri seti simgesi">    </p:cNvPr>
          <p:cNvPicPr>
            <a:picLocks noChangeAspect="1"/>
          </p:cNvPicPr>
          <p:nvPr/>
        </p:nvPicPr>
        <p:blipFill>
          <a:blip r:embed="rId1"/>
          <a:stretch>
            <a:fillRect/>
          </a:stretch>
        </p:blipFill>
        <p:spPr>
          <a:xfrm>
            <a:off x="850392" y="1645920"/>
            <a:ext cx="237744" cy="237744"/>
          </a:xfrm>
          <a:prstGeom prst="rect">
            <a:avLst/>
          </a:prstGeom>
        </p:spPr>
      </p:pic>
      <p:sp>
        <p:nvSpPr>
          <p:cNvPr id="6" name="Text 3"/>
          <p:cNvSpPr txBox="1"/>
          <p:nvPr/>
        </p:nvSpPr>
        <p:spPr>
          <a:xfrm>
            <a:off x="1161288" y="1572768"/>
            <a:ext cx="2926080" cy="384048"/>
          </a:xfrm>
          <a:prstGeom prst="rect">
            <a:avLst/>
          </a:prstGeom>
          <a:noFill/>
          <a:ln/>
        </p:spPr>
        <p:txBody>
          <a:bodyPr wrap="square" lIns="0" tIns="0" rIns="0" bIns="0" rtlCol="0" anchor="ctr"/>
          <a:lstStyle/>
          <a:p>
            <a:pPr indent="0" marL="0">
              <a:buNone/>
            </a:pPr>
            <a:r>
              <a:rPr lang="tr-TR" altLang="en-US" sz="1500" b="1" dirty="0">
                <a:solidFill>
                  <a:srgbClr val="15303A"/>
                </a:solidFill>
                <a:latin typeface="Calibri" pitchFamily="34" charset="0"/>
                <a:ea typeface="Calibri" pitchFamily="34" charset="-122"/>
                <a:cs typeface="Calibri" pitchFamily="34" charset="-120"/>
              </a:rPr>
              <a:t>AwareMind  ·  Zheng &amp; Choe (2026)</a:t>
            </a:r>
            <a:endParaRPr lang="tr-TR" sz="1500" dirty="0"/>
          </a:p>
        </p:txBody>
      </p:sp>
      <p:sp>
        <p:nvSpPr>
          <p:cNvPr id="7" name="Text 4"/>
          <p:cNvSpPr txBox="1"/>
          <p:nvPr/>
        </p:nvSpPr>
        <p:spPr>
          <a:xfrm>
            <a:off x="685800" y="2066544"/>
            <a:ext cx="1554480" cy="566928"/>
          </a:xfrm>
          <a:prstGeom prst="rect">
            <a:avLst/>
          </a:prstGeom>
          <a:noFill/>
          <a:ln/>
        </p:spPr>
        <p:txBody>
          <a:bodyPr wrap="square" lIns="0" tIns="0" rIns="0" bIns="0" rtlCol="0" anchor="ctr"/>
          <a:lstStyle/>
          <a:p>
            <a:pPr indent="0" marL="0">
              <a:buNone/>
            </a:pPr>
            <a:r>
              <a:rPr lang="tr-TR" altLang="en-US" sz="3600" b="1" dirty="0">
                <a:solidFill>
                  <a:srgbClr val="1B7A6E"/>
                </a:solidFill>
                <a:latin typeface="Calibri" pitchFamily="34" charset="0"/>
                <a:ea typeface="Calibri" pitchFamily="34" charset="-122"/>
                <a:cs typeface="Calibri" pitchFamily="34" charset="-120"/>
              </a:rPr>
              <a:t>5.772</a:t>
            </a:r>
            <a:endParaRPr lang="tr-TR" sz="3600" dirty="0"/>
          </a:p>
        </p:txBody>
      </p:sp>
      <p:sp>
        <p:nvSpPr>
          <p:cNvPr id="8" name="Text 5"/>
          <p:cNvSpPr txBox="1"/>
          <p:nvPr/>
        </p:nvSpPr>
        <p:spPr>
          <a:xfrm>
            <a:off x="685800" y="2633472"/>
            <a:ext cx="1554480" cy="274320"/>
          </a:xfrm>
          <a:prstGeom prst="rect">
            <a:avLst/>
          </a:prstGeom>
          <a:noFill/>
          <a:ln/>
        </p:spPr>
        <p:txBody>
          <a:bodyPr wrap="square" lIns="0" tIns="0" rIns="0" bIns="0" rtlCol="0" anchor="t"/>
          <a:lstStyle/>
          <a:p>
            <a:pPr indent="0" marL="0">
              <a:buNone/>
            </a:pPr>
            <a:r>
              <a:rPr lang="tr-TR" altLang="en-US" sz="1400" dirty="0">
                <a:solidFill>
                  <a:srgbClr val="5A6C73"/>
                </a:solidFill>
                <a:latin typeface="Calibri" pitchFamily="34" charset="0"/>
                <a:ea typeface="Calibri" pitchFamily="34" charset="-122"/>
                <a:cs typeface="Calibri" pitchFamily="34" charset="-120"/>
              </a:rPr>
              <a:t>anlık yanıt</a:t>
            </a:r>
            <a:endParaRPr lang="tr-TR" sz="1400" dirty="0"/>
          </a:p>
        </p:txBody>
      </p:sp>
      <p:sp>
        <p:nvSpPr>
          <p:cNvPr id="9" name="Text 6"/>
          <p:cNvSpPr txBox="1"/>
          <p:nvPr/>
        </p:nvSpPr>
        <p:spPr>
          <a:xfrm>
            <a:off x="2377440" y="2066544"/>
            <a:ext cx="2377440" cy="566928"/>
          </a:xfrm>
          <a:prstGeom prst="rect">
            <a:avLst/>
          </a:prstGeom>
          <a:noFill/>
          <a:ln/>
        </p:spPr>
        <p:txBody>
          <a:bodyPr wrap="square" lIns="0" tIns="0" rIns="0" bIns="0" rtlCol="0" anchor="ctr"/>
          <a:lstStyle/>
          <a:p>
            <a:pPr indent="0" marL="0">
              <a:buNone/>
            </a:pPr>
            <a:r>
              <a:rPr lang="tr-TR" altLang="en-US" sz="3600" b="1" dirty="0">
                <a:solidFill>
                  <a:srgbClr val="1B7A6E"/>
                </a:solidFill>
                <a:latin typeface="Calibri" pitchFamily="34" charset="0"/>
                <a:ea typeface="Calibri" pitchFamily="34" charset="-122"/>
                <a:cs typeface="Calibri" pitchFamily="34" charset="-120"/>
              </a:rPr>
              <a:t>37</a:t>
            </a:r>
            <a:endParaRPr lang="tr-TR" sz="3600" dirty="0"/>
          </a:p>
        </p:txBody>
      </p:sp>
      <p:sp>
        <p:nvSpPr>
          <p:cNvPr id="10" name="Text 7"/>
          <p:cNvSpPr txBox="1"/>
          <p:nvPr/>
        </p:nvSpPr>
        <p:spPr>
          <a:xfrm>
            <a:off x="2377440" y="2633472"/>
            <a:ext cx="2377440" cy="274320"/>
          </a:xfrm>
          <a:prstGeom prst="rect">
            <a:avLst/>
          </a:prstGeom>
          <a:noFill/>
          <a:ln/>
        </p:spPr>
        <p:txBody>
          <a:bodyPr wrap="square" lIns="0" tIns="0" rIns="0" bIns="0" rtlCol="0" anchor="t"/>
          <a:lstStyle/>
          <a:p>
            <a:pPr indent="0" marL="0">
              <a:buNone/>
            </a:pPr>
            <a:r>
              <a:rPr lang="tr-TR" altLang="en-US" sz="1400" dirty="0">
                <a:solidFill>
                  <a:srgbClr val="5A6C73"/>
                </a:solidFill>
                <a:latin typeface="Calibri" pitchFamily="34" charset="0"/>
                <a:ea typeface="Calibri" pitchFamily="34" charset="-122"/>
                <a:cs typeface="Calibri" pitchFamily="34" charset="-120"/>
              </a:rPr>
              <a:t>yetişkin Android kullanıcısı</a:t>
            </a:r>
            <a:endParaRPr lang="tr-TR" sz="1400" dirty="0"/>
          </a:p>
        </p:txBody>
      </p:sp>
      <p:sp>
        <p:nvSpPr>
          <p:cNvPr id="11" name="Text 8"/>
          <p:cNvSpPr txBox="1"/>
          <p:nvPr/>
        </p:nvSpPr>
        <p:spPr>
          <a:xfrm>
            <a:off x="4892040" y="2066544"/>
            <a:ext cx="1554480" cy="566928"/>
          </a:xfrm>
          <a:prstGeom prst="rect">
            <a:avLst/>
          </a:prstGeom>
          <a:noFill/>
          <a:ln/>
        </p:spPr>
        <p:txBody>
          <a:bodyPr wrap="square" lIns="0" tIns="0" rIns="0" bIns="0" rtlCol="0" anchor="ctr"/>
          <a:lstStyle/>
          <a:p>
            <a:pPr indent="0" marL="0">
              <a:buNone/>
            </a:pPr>
            <a:r>
              <a:rPr lang="tr-TR" altLang="en-US" sz="3600" b="1" dirty="0">
                <a:solidFill>
                  <a:srgbClr val="1B7A6E"/>
                </a:solidFill>
                <a:latin typeface="Calibri" pitchFamily="34" charset="0"/>
                <a:ea typeface="Calibri" pitchFamily="34" charset="-122"/>
                <a:cs typeface="Calibri" pitchFamily="34" charset="-120"/>
              </a:rPr>
              <a:t>2+</a:t>
            </a:r>
            <a:endParaRPr lang="tr-TR" sz="3600" dirty="0"/>
          </a:p>
        </p:txBody>
      </p:sp>
      <p:sp>
        <p:nvSpPr>
          <p:cNvPr id="12" name="Text 9"/>
          <p:cNvSpPr txBox="1"/>
          <p:nvPr/>
        </p:nvSpPr>
        <p:spPr>
          <a:xfrm>
            <a:off x="4892040" y="2633472"/>
            <a:ext cx="1554480" cy="274320"/>
          </a:xfrm>
          <a:prstGeom prst="rect">
            <a:avLst/>
          </a:prstGeom>
          <a:noFill/>
          <a:ln/>
        </p:spPr>
        <p:txBody>
          <a:bodyPr wrap="square" lIns="0" tIns="0" rIns="0" bIns="0" rtlCol="0" anchor="t"/>
          <a:lstStyle/>
          <a:p>
            <a:pPr indent="0" marL="0">
              <a:buNone/>
            </a:pPr>
            <a:r>
              <a:rPr lang="tr-TR" altLang="en-US" sz="1400" dirty="0">
                <a:solidFill>
                  <a:srgbClr val="5A6C73"/>
                </a:solidFill>
                <a:latin typeface="Calibri" pitchFamily="34" charset="0"/>
                <a:ea typeface="Calibri" pitchFamily="34" charset="-122"/>
                <a:cs typeface="Calibri" pitchFamily="34" charset="-120"/>
              </a:rPr>
              <a:t>hafta (kişi başına)</a:t>
            </a:r>
            <a:endParaRPr lang="tr-TR" sz="1400" dirty="0"/>
          </a:p>
        </p:txBody>
      </p:sp>
      <p:sp>
        <p:nvSpPr>
          <p:cNvPr id="13" name="Shape 10"/>
          <p:cNvSpPr/>
          <p:nvPr/>
        </p:nvSpPr>
        <p:spPr>
          <a:xfrm>
            <a:off x="685800" y="3108960"/>
            <a:ext cx="5760720" cy="822960"/>
          </a:xfrm>
          <a:prstGeom prst="roundRect">
            <a:avLst>
              <a:gd name="adj" fmla="val 15556"/>
            </a:avLst>
          </a:prstGeom>
          <a:solidFill>
            <a:srgbClr val="FFFFFF"/>
          </a:solidFill>
          <a:ln/>
          <a:effectLst>
            <a:outerShdw sx="100000" sy="100000" kx="0" ky="0" algn="bl" rotWithShape="0" blurRad="127000" dist="31750" dir="5400000">
              <a:srgbClr val="0B2A30">
                <a:alpha val="10000"/>
              </a:srgbClr>
            </a:outerShdw>
          </a:effectLst>
        </p:spPr>
      </p:sp>
      <p:sp>
        <p:nvSpPr>
          <p:cNvPr id="14" name="Shape 11"/>
          <p:cNvSpPr/>
          <p:nvPr/>
        </p:nvSpPr>
        <p:spPr>
          <a:xfrm>
            <a:off x="685800" y="4087368"/>
            <a:ext cx="5760720" cy="822960"/>
          </a:xfrm>
          <a:prstGeom prst="roundRect">
            <a:avLst>
              <a:gd name="adj" fmla="val 15556"/>
            </a:avLst>
          </a:prstGeom>
          <a:solidFill>
            <a:srgbClr val="FFFFFF"/>
          </a:solidFill>
          <a:ln/>
          <a:effectLst>
            <a:outerShdw sx="100000" sy="100000" kx="0" ky="0" algn="bl" rotWithShape="0" blurRad="127000" dist="31750" dir="5400000">
              <a:srgbClr val="0B2A30">
                <a:alpha val="10000"/>
              </a:srgbClr>
            </a:outerShdw>
          </a:effectLst>
        </p:spPr>
      </p:sp>
      <p:sp>
        <p:nvSpPr>
          <p:cNvPr id="15" name="Shape 12"/>
          <p:cNvSpPr/>
          <p:nvPr/>
        </p:nvSpPr>
        <p:spPr>
          <a:xfrm>
            <a:off x="685800" y="5065776"/>
            <a:ext cx="5760720" cy="822960"/>
          </a:xfrm>
          <a:prstGeom prst="roundRect">
            <a:avLst>
              <a:gd name="adj" fmla="val 15556"/>
            </a:avLst>
          </a:prstGeom>
          <a:solidFill>
            <a:srgbClr val="FCE9E1"/>
          </a:solidFill>
          <a:ln/>
        </p:spPr>
      </p:sp>
      <p:sp>
        <p:nvSpPr>
          <p:cNvPr id="16" name="Shape 13"/>
          <p:cNvSpPr/>
          <p:nvPr/>
        </p:nvSpPr>
        <p:spPr>
          <a:xfrm>
            <a:off x="859536" y="3282696"/>
            <a:ext cx="475488" cy="475488"/>
          </a:xfrm>
          <a:prstGeom prst="ellipse">
            <a:avLst/>
          </a:prstGeom>
          <a:solidFill>
            <a:srgbClr val="E3F1EE"/>
          </a:solidFill>
          <a:ln/>
        </p:spPr>
      </p:sp>
      <p:pic>
        <p:nvPicPr>
          <p:cNvPr id="17" name="Image 1" descr="message-square-quote simgesi">    </p:cNvPr>
          <p:cNvPicPr>
            <a:picLocks noChangeAspect="1"/>
          </p:cNvPicPr>
          <p:nvPr/>
        </p:nvPicPr>
        <p:blipFill>
          <a:blip r:embed="rId2"/>
          <a:stretch>
            <a:fillRect/>
          </a:stretch>
        </p:blipFill>
        <p:spPr>
          <a:xfrm>
            <a:off x="966521" y="3389681"/>
            <a:ext cx="261518" cy="261518"/>
          </a:xfrm>
          <a:prstGeom prst="rect">
            <a:avLst/>
          </a:prstGeom>
        </p:spPr>
      </p:pic>
      <p:sp>
        <p:nvSpPr>
          <p:cNvPr id="18" name="Text 14"/>
          <p:cNvSpPr txBox="1"/>
          <p:nvPr/>
        </p:nvSpPr>
        <p:spPr>
          <a:xfrm>
            <a:off x="1463040" y="3108960"/>
            <a:ext cx="777240" cy="822960"/>
          </a:xfrm>
          <a:prstGeom prst="rect">
            <a:avLst/>
          </a:prstGeom>
          <a:noFill/>
          <a:ln/>
        </p:spPr>
        <p:txBody>
          <a:bodyPr wrap="square" lIns="0" tIns="0" rIns="0" bIns="0" rtlCol="0" anchor="ctr"/>
          <a:lstStyle/>
          <a:p>
            <a:pPr indent="0" marL="0">
              <a:buNone/>
            </a:pPr>
            <a:r>
              <a:rPr lang="tr-TR" altLang="en-US" sz="1400" b="1" spc="150" kern="0" dirty="0">
                <a:solidFill>
                  <a:srgbClr val="1B7A6E"/>
                </a:solidFill>
                <a:latin typeface="Calibri" pitchFamily="34" charset="0"/>
                <a:ea typeface="Calibri" pitchFamily="34" charset="-122"/>
                <a:cs typeface="Calibri" pitchFamily="34" charset="-120"/>
              </a:rPr>
              <a:t>DEDİ</a:t>
            </a:r>
            <a:endParaRPr lang="tr-TR" sz="1400" dirty="0"/>
          </a:p>
        </p:txBody>
      </p:sp>
      <p:sp>
        <p:nvSpPr>
          <p:cNvPr id="19" name="Text 15"/>
          <p:cNvSpPr txBox="1"/>
          <p:nvPr/>
        </p:nvSpPr>
        <p:spPr>
          <a:xfrm>
            <a:off x="2240280" y="3108960"/>
            <a:ext cx="4069080" cy="822960"/>
          </a:xfrm>
          <a:prstGeom prst="rect">
            <a:avLst/>
          </a:prstGeom>
          <a:noFill/>
          <a:ln/>
        </p:spPr>
        <p:txBody>
          <a:bodyPr wrap="square" lIns="0" tIns="0" rIns="0" bIns="0" rtlCol="0" anchor="ctr"/>
          <a:lstStyle/>
          <a:p>
            <a:pPr indent="0" marL="0">
              <a:spcAft>
                <a:spcPts val="200"/>
              </a:spcAft>
              <a:buNone/>
            </a:pPr>
            <a:r>
              <a:rPr lang="tr-TR" altLang="en-US" sz="1500" b="1" dirty="0">
                <a:solidFill>
                  <a:srgbClr val="15303A"/>
                </a:solidFill>
                <a:latin typeface="Calibri" pitchFamily="34" charset="0"/>
                <a:ea typeface="Calibri" pitchFamily="34" charset="-122"/>
                <a:cs typeface="Calibri" pitchFamily="34" charset="-120"/>
              </a:rPr>
              <a:t>“Şimdi bırakmalı mıyım, devam mı etmeliyim?”</a:t>
            </a:r>
            <a:endParaRPr lang="tr-TR" sz="1600" dirty="0"/>
          </a:p>
          <a:p>
            <a:pPr indent="0" marL="0">
              <a:spcAft>
                <a:spcPts val="200"/>
              </a:spcAft>
              <a:buNone/>
            </a:pPr>
            <a:r>
              <a:rPr lang="tr-TR" altLang="en-US" sz="1400" dirty="0">
                <a:solidFill>
                  <a:srgbClr val="5A6C73"/>
                </a:solidFill>
                <a:latin typeface="Calibri" pitchFamily="34" charset="0"/>
                <a:ea typeface="Calibri" pitchFamily="34" charset="-122"/>
                <a:cs typeface="Calibri" pitchFamily="34" charset="-120"/>
              </a:rPr>
              <a:t>Kullanırken sorulur  ·  1 = bırak … 10 = devam et</a:t>
            </a:r>
            <a:endParaRPr lang="tr-TR" sz="1600" dirty="0"/>
          </a:p>
        </p:txBody>
      </p:sp>
      <p:sp>
        <p:nvSpPr>
          <p:cNvPr id="20" name="Shape 16"/>
          <p:cNvSpPr/>
          <p:nvPr/>
        </p:nvSpPr>
        <p:spPr>
          <a:xfrm>
            <a:off x="859536" y="4261104"/>
            <a:ext cx="475488" cy="475488"/>
          </a:xfrm>
          <a:prstGeom prst="ellipse">
            <a:avLst/>
          </a:prstGeom>
          <a:solidFill>
            <a:srgbClr val="E3F1EE"/>
          </a:solidFill>
          <a:ln/>
        </p:spPr>
      </p:sp>
      <p:pic>
        <p:nvPicPr>
          <p:cNvPr id="21" name="Image 2" descr="timer simgesi">    </p:cNvPr>
          <p:cNvPicPr>
            <a:picLocks noChangeAspect="1"/>
          </p:cNvPicPr>
          <p:nvPr/>
        </p:nvPicPr>
        <p:blipFill>
          <a:blip r:embed="rId3"/>
          <a:stretch>
            <a:fillRect/>
          </a:stretch>
        </p:blipFill>
        <p:spPr>
          <a:xfrm>
            <a:off x="966521" y="4368089"/>
            <a:ext cx="261518" cy="261518"/>
          </a:xfrm>
          <a:prstGeom prst="rect">
            <a:avLst/>
          </a:prstGeom>
        </p:spPr>
      </p:pic>
      <p:sp>
        <p:nvSpPr>
          <p:cNvPr id="22" name="Text 17"/>
          <p:cNvSpPr txBox="1"/>
          <p:nvPr/>
        </p:nvSpPr>
        <p:spPr>
          <a:xfrm>
            <a:off x="1463040" y="4087368"/>
            <a:ext cx="777240" cy="822960"/>
          </a:xfrm>
          <a:prstGeom prst="rect">
            <a:avLst/>
          </a:prstGeom>
          <a:noFill/>
          <a:ln/>
        </p:spPr>
        <p:txBody>
          <a:bodyPr wrap="square" lIns="0" tIns="0" rIns="0" bIns="0" rtlCol="0" anchor="ctr"/>
          <a:lstStyle/>
          <a:p>
            <a:pPr indent="0" marL="0">
              <a:buNone/>
            </a:pPr>
            <a:r>
              <a:rPr lang="tr-TR" altLang="en-US" sz="1400" b="1" spc="150" kern="0" dirty="0">
                <a:solidFill>
                  <a:srgbClr val="1B7A6E"/>
                </a:solidFill>
                <a:latin typeface="Calibri" pitchFamily="34" charset="0"/>
                <a:ea typeface="Calibri" pitchFamily="34" charset="-122"/>
                <a:cs typeface="Calibri" pitchFamily="34" charset="-120"/>
              </a:rPr>
              <a:t>YAPTI</a:t>
            </a:r>
            <a:endParaRPr lang="tr-TR" sz="1400" dirty="0"/>
          </a:p>
        </p:txBody>
      </p:sp>
      <p:sp>
        <p:nvSpPr>
          <p:cNvPr id="23" name="Text 18"/>
          <p:cNvSpPr txBox="1"/>
          <p:nvPr/>
        </p:nvSpPr>
        <p:spPr>
          <a:xfrm>
            <a:off x="2240280" y="4087368"/>
            <a:ext cx="4069080" cy="822960"/>
          </a:xfrm>
          <a:prstGeom prst="rect">
            <a:avLst/>
          </a:prstGeom>
          <a:noFill/>
          <a:ln/>
        </p:spPr>
        <p:txBody>
          <a:bodyPr wrap="square" lIns="0" tIns="0" rIns="0" bIns="0" rtlCol="0" anchor="ctr"/>
          <a:lstStyle/>
          <a:p>
            <a:pPr indent="0" marL="0">
              <a:spcAft>
                <a:spcPts val="200"/>
              </a:spcAft>
              <a:buNone/>
            </a:pPr>
            <a:r>
              <a:rPr lang="tr-TR" altLang="en-US" sz="1500" b="1" dirty="0">
                <a:solidFill>
                  <a:srgbClr val="15303A"/>
                </a:solidFill>
                <a:latin typeface="Calibri" pitchFamily="34" charset="0"/>
                <a:ea typeface="Calibri" pitchFamily="34" charset="-122"/>
                <a:cs typeface="Calibri" pitchFamily="34" charset="-120"/>
              </a:rPr>
              <a:t>Yanıttan sonraki kullanım süresi</a:t>
            </a:r>
            <a:endParaRPr lang="tr-TR" sz="1600" dirty="0"/>
          </a:p>
          <a:p>
            <a:pPr indent="0" marL="0">
              <a:spcAft>
                <a:spcPts val="200"/>
              </a:spcAft>
              <a:buNone/>
            </a:pPr>
            <a:r>
              <a:rPr lang="tr-TR" altLang="en-US" sz="1400" dirty="0">
                <a:solidFill>
                  <a:srgbClr val="5A6C73"/>
                </a:solidFill>
                <a:latin typeface="Calibri" pitchFamily="34" charset="0"/>
                <a:ea typeface="Calibri" pitchFamily="34" charset="-122"/>
                <a:cs typeface="Calibri" pitchFamily="34" charset="-120"/>
              </a:rPr>
              <a:t>Ekran kilitlenene kadar ölçülür</a:t>
            </a:r>
            <a:endParaRPr lang="tr-TR" sz="1600" dirty="0"/>
          </a:p>
        </p:txBody>
      </p:sp>
      <p:sp>
        <p:nvSpPr>
          <p:cNvPr id="24" name="Shape 19"/>
          <p:cNvSpPr/>
          <p:nvPr/>
        </p:nvSpPr>
        <p:spPr>
          <a:xfrm>
            <a:off x="859536" y="5239512"/>
            <a:ext cx="475488" cy="475488"/>
          </a:xfrm>
          <a:prstGeom prst="ellipse">
            <a:avLst/>
          </a:prstGeom>
          <a:solidFill>
            <a:srgbClr val="FFFFFF"/>
          </a:solidFill>
          <a:ln/>
        </p:spPr>
      </p:sp>
      <p:pic>
        <p:nvPicPr>
          <p:cNvPr id="25" name="Image 3" descr="hand simgesi">    </p:cNvPr>
          <p:cNvPicPr>
            <a:picLocks noChangeAspect="1"/>
          </p:cNvPicPr>
          <p:nvPr/>
        </p:nvPicPr>
        <p:blipFill>
          <a:blip r:embed="rId4"/>
          <a:stretch>
            <a:fillRect/>
          </a:stretch>
        </p:blipFill>
        <p:spPr>
          <a:xfrm>
            <a:off x="966521" y="5346497"/>
            <a:ext cx="261518" cy="261518"/>
          </a:xfrm>
          <a:prstGeom prst="rect">
            <a:avLst/>
          </a:prstGeom>
        </p:spPr>
      </p:pic>
      <p:sp>
        <p:nvSpPr>
          <p:cNvPr id="26" name="Text 20"/>
          <p:cNvSpPr txBox="1"/>
          <p:nvPr/>
        </p:nvSpPr>
        <p:spPr>
          <a:xfrm>
            <a:off x="1463040" y="5065776"/>
            <a:ext cx="777240" cy="822960"/>
          </a:xfrm>
          <a:prstGeom prst="rect">
            <a:avLst/>
          </a:prstGeom>
          <a:noFill/>
          <a:ln/>
        </p:spPr>
        <p:txBody>
          <a:bodyPr wrap="square" lIns="0" tIns="0" rIns="0" bIns="0" rtlCol="0" anchor="ctr"/>
          <a:lstStyle/>
          <a:p>
            <a:pPr indent="0" marL="0">
              <a:buNone/>
            </a:pPr>
            <a:r>
              <a:rPr lang="tr-TR" altLang="en-US" sz="1400" b="1" spc="150" kern="0" dirty="0">
                <a:solidFill>
                  <a:srgbClr val="B4462A"/>
                </a:solidFill>
                <a:latin typeface="Calibri" pitchFamily="34" charset="0"/>
                <a:ea typeface="Calibri" pitchFamily="34" charset="-122"/>
                <a:cs typeface="Calibri" pitchFamily="34" charset="-120"/>
              </a:rPr>
              <a:t>FARK</a:t>
            </a:r>
            <a:endParaRPr lang="tr-TR" sz="1400" dirty="0"/>
          </a:p>
        </p:txBody>
      </p:sp>
      <p:sp>
        <p:nvSpPr>
          <p:cNvPr id="27" name="Text 21"/>
          <p:cNvSpPr txBox="1"/>
          <p:nvPr/>
        </p:nvSpPr>
        <p:spPr>
          <a:xfrm>
            <a:off x="2240280" y="5065776"/>
            <a:ext cx="4069080" cy="822960"/>
          </a:xfrm>
          <a:prstGeom prst="rect">
            <a:avLst/>
          </a:prstGeom>
          <a:noFill/>
          <a:ln/>
        </p:spPr>
        <p:txBody>
          <a:bodyPr wrap="square" lIns="0" tIns="0" rIns="0" bIns="0" rtlCol="0" anchor="ctr"/>
          <a:lstStyle/>
          <a:p>
            <a:pPr indent="0" marL="0">
              <a:spcAft>
                <a:spcPts val="200"/>
              </a:spcAft>
              <a:buNone/>
            </a:pPr>
            <a:r>
              <a:rPr lang="tr-TR" altLang="en-US" sz="1500" b="1" dirty="0">
                <a:solidFill>
                  <a:srgbClr val="15303A"/>
                </a:solidFill>
                <a:latin typeface="Calibri" pitchFamily="34" charset="0"/>
                <a:ea typeface="Calibri" pitchFamily="34" charset="-122"/>
                <a:cs typeface="Calibri" pitchFamily="34" charset="-120"/>
              </a:rPr>
              <a:t>“Bırak” dedi, devam etti → büyük fark</a:t>
            </a:r>
            <a:endParaRPr lang="tr-TR" sz="1600" dirty="0"/>
          </a:p>
          <a:p>
            <a:pPr indent="0" marL="0">
              <a:spcAft>
                <a:spcPts val="200"/>
              </a:spcAft>
              <a:buNone/>
            </a:pPr>
            <a:r>
              <a:rPr lang="tr-TR" altLang="en-US" sz="1400" dirty="0">
                <a:solidFill>
                  <a:srgbClr val="5A6C73"/>
                </a:solidFill>
                <a:latin typeface="Calibri" pitchFamily="34" charset="0"/>
                <a:ea typeface="Calibri" pitchFamily="34" charset="-122"/>
                <a:cs typeface="Calibri" pitchFamily="34" charset="-120"/>
              </a:rPr>
              <a:t>Modelin her oturum için tahmin ettiği şey</a:t>
            </a:r>
            <a:endParaRPr lang="tr-TR" sz="1600" dirty="0"/>
          </a:p>
        </p:txBody>
      </p:sp>
      <p:sp>
        <p:nvSpPr>
          <p:cNvPr id="28" name="Shape 22"/>
          <p:cNvSpPr/>
          <p:nvPr/>
        </p:nvSpPr>
        <p:spPr>
          <a:xfrm>
            <a:off x="950976" y="3863340"/>
            <a:ext cx="292608" cy="292608"/>
          </a:xfrm>
          <a:prstGeom prst="ellipse">
            <a:avLst/>
          </a:prstGeom>
          <a:solidFill>
            <a:srgbClr val="FFFFFF"/>
          </a:solidFill>
          <a:ln w="12700">
            <a:solidFill>
              <a:srgbClr val="CFDDD9"/>
            </a:solidFill>
            <a:prstDash val="solid"/>
          </a:ln>
        </p:spPr>
      </p:sp>
      <p:sp>
        <p:nvSpPr>
          <p:cNvPr id="29" name="Text 23"/>
          <p:cNvSpPr txBox="1"/>
          <p:nvPr/>
        </p:nvSpPr>
        <p:spPr>
          <a:xfrm>
            <a:off x="950976" y="3863340"/>
            <a:ext cx="292608" cy="292608"/>
          </a:xfrm>
          <a:prstGeom prst="rect">
            <a:avLst/>
          </a:prstGeom>
          <a:noFill/>
          <a:ln/>
        </p:spPr>
        <p:txBody>
          <a:bodyPr wrap="square" lIns="0" tIns="0" rIns="0" bIns="0" rtlCol="0" anchor="ctr"/>
          <a:lstStyle/>
          <a:p>
            <a:pPr algn="ctr" indent="0" marL="0">
              <a:buNone/>
            </a:pPr>
            <a:r>
              <a:rPr lang="tr-TR" altLang="en-US" sz="1400" b="1" dirty="0">
                <a:solidFill>
                  <a:srgbClr val="15303A"/>
                </a:solidFill>
                <a:latin typeface="Calibri" pitchFamily="34" charset="0"/>
                <a:ea typeface="Calibri" pitchFamily="34" charset="-122"/>
                <a:cs typeface="Calibri" pitchFamily="34" charset="-120"/>
              </a:rPr>
              <a:t>+</a:t>
            </a:r>
            <a:endParaRPr lang="tr-TR" sz="1400" dirty="0"/>
          </a:p>
        </p:txBody>
      </p:sp>
      <p:sp>
        <p:nvSpPr>
          <p:cNvPr id="30" name="Shape 24"/>
          <p:cNvSpPr/>
          <p:nvPr/>
        </p:nvSpPr>
        <p:spPr>
          <a:xfrm>
            <a:off x="950976" y="4841748"/>
            <a:ext cx="292608" cy="292608"/>
          </a:xfrm>
          <a:prstGeom prst="ellipse">
            <a:avLst/>
          </a:prstGeom>
          <a:solidFill>
            <a:srgbClr val="FFFFFF"/>
          </a:solidFill>
          <a:ln w="12700">
            <a:solidFill>
              <a:srgbClr val="CFDDD9"/>
            </a:solidFill>
            <a:prstDash val="solid"/>
          </a:ln>
        </p:spPr>
      </p:sp>
      <p:sp>
        <p:nvSpPr>
          <p:cNvPr id="31" name="Text 25"/>
          <p:cNvSpPr txBox="1"/>
          <p:nvPr/>
        </p:nvSpPr>
        <p:spPr>
          <a:xfrm>
            <a:off x="950976" y="4841748"/>
            <a:ext cx="292608" cy="292608"/>
          </a:xfrm>
          <a:prstGeom prst="rect">
            <a:avLst/>
          </a:prstGeom>
          <a:noFill/>
          <a:ln/>
        </p:spPr>
        <p:txBody>
          <a:bodyPr wrap="square" lIns="0" tIns="0" rIns="0" bIns="0" rtlCol="0" anchor="ctr"/>
          <a:lstStyle/>
          <a:p>
            <a:pPr algn="ctr" indent="0" marL="0">
              <a:buNone/>
            </a:pPr>
            <a:r>
              <a:rPr lang="tr-TR" altLang="en-US" sz="1400" b="1" dirty="0">
                <a:solidFill>
                  <a:srgbClr val="15303A"/>
                </a:solidFill>
                <a:latin typeface="Calibri" pitchFamily="34" charset="0"/>
                <a:ea typeface="Calibri" pitchFamily="34" charset="-122"/>
                <a:cs typeface="Calibri" pitchFamily="34" charset="-120"/>
              </a:rPr>
              <a:t>=</a:t>
            </a:r>
            <a:endParaRPr lang="tr-TR" sz="1400" dirty="0"/>
          </a:p>
        </p:txBody>
      </p:sp>
      <p:sp>
        <p:nvSpPr>
          <p:cNvPr id="32" name="Shape 26"/>
          <p:cNvSpPr/>
          <p:nvPr/>
        </p:nvSpPr>
        <p:spPr>
          <a:xfrm>
            <a:off x="6812280" y="1572768"/>
            <a:ext cx="4693615" cy="4315968"/>
          </a:xfrm>
          <a:prstGeom prst="roundRect">
            <a:avLst>
              <a:gd name="adj" fmla="val 2966"/>
            </a:avLst>
          </a:prstGeom>
          <a:solidFill>
            <a:srgbClr val="FFFFFF"/>
          </a:solidFill>
          <a:ln/>
          <a:effectLst>
            <a:outerShdw sx="100000" sy="100000" kx="0" ky="0" algn="bl" rotWithShape="0" blurRad="127000" dist="31750" dir="5400000">
              <a:srgbClr val="0B2A30">
                <a:alpha val="10000"/>
              </a:srgbClr>
            </a:outerShdw>
          </a:effectLst>
        </p:spPr>
      </p:sp>
      <p:pic>
        <p:nvPicPr>
          <p:cNvPr id="33" name="Image 4" descr="araştırma simgesi">    </p:cNvPr>
          <p:cNvPicPr>
            <a:picLocks noChangeAspect="1"/>
          </p:cNvPicPr>
          <p:nvPr/>
        </p:nvPicPr>
        <p:blipFill>
          <a:blip r:embed="rId5"/>
          <a:stretch>
            <a:fillRect/>
          </a:stretch>
        </p:blipFill>
        <p:spPr>
          <a:xfrm>
            <a:off x="7132320" y="1874520"/>
            <a:ext cx="292608" cy="292608"/>
          </a:xfrm>
          <a:prstGeom prst="rect">
            <a:avLst/>
          </a:prstGeom>
        </p:spPr>
      </p:pic>
      <p:sp>
        <p:nvSpPr>
          <p:cNvPr id="34" name="Text 27"/>
          <p:cNvSpPr txBox="1"/>
          <p:nvPr/>
        </p:nvSpPr>
        <p:spPr>
          <a:xfrm>
            <a:off x="7543800" y="1828800"/>
            <a:ext cx="3687775" cy="384048"/>
          </a:xfrm>
          <a:prstGeom prst="rect">
            <a:avLst/>
          </a:prstGeom>
          <a:noFill/>
          <a:ln/>
        </p:spPr>
        <p:txBody>
          <a:bodyPr wrap="square" lIns="0" tIns="0" rIns="0" bIns="0" rtlCol="0" anchor="ctr"/>
          <a:lstStyle/>
          <a:p>
            <a:pPr indent="0" marL="0">
              <a:buNone/>
            </a:pPr>
            <a:r>
              <a:rPr lang="tr-TR" altLang="en-US" sz="1900" b="1" dirty="0">
                <a:solidFill>
                  <a:srgbClr val="15303A"/>
                </a:solidFill>
                <a:latin typeface="Calibri" pitchFamily="34" charset="0"/>
                <a:ea typeface="Calibri" pitchFamily="34" charset="-122"/>
                <a:cs typeface="Calibri" pitchFamily="34" charset="-120"/>
              </a:rPr>
              <a:t>Nasıl test edeceğiz</a:t>
            </a:r>
            <a:endParaRPr lang="tr-TR" sz="1900" dirty="0"/>
          </a:p>
        </p:txBody>
      </p:sp>
      <p:sp>
        <p:nvSpPr>
          <p:cNvPr id="35" name="Shape 28"/>
          <p:cNvSpPr/>
          <p:nvPr/>
        </p:nvSpPr>
        <p:spPr>
          <a:xfrm>
            <a:off x="7132320" y="2651760"/>
            <a:ext cx="329184" cy="329184"/>
          </a:xfrm>
          <a:prstGeom prst="ellipse">
            <a:avLst/>
          </a:prstGeom>
          <a:solidFill>
            <a:srgbClr val="1B7A6E"/>
          </a:solidFill>
          <a:ln/>
        </p:spPr>
      </p:sp>
      <p:sp>
        <p:nvSpPr>
          <p:cNvPr id="36" name="Text 29"/>
          <p:cNvSpPr txBox="1"/>
          <p:nvPr/>
        </p:nvSpPr>
        <p:spPr>
          <a:xfrm>
            <a:off x="7132320" y="2651760"/>
            <a:ext cx="329184" cy="329184"/>
          </a:xfrm>
          <a:prstGeom prst="rect">
            <a:avLst/>
          </a:prstGeom>
          <a:noFill/>
          <a:ln/>
        </p:spPr>
        <p:txBody>
          <a:bodyPr wrap="square" lIns="0" tIns="0" rIns="0" bIns="0" rtlCol="0" anchor="ctr"/>
          <a:lstStyle/>
          <a:p>
            <a:pPr algn="ctr" indent="0" marL="0">
              <a:buNone/>
            </a:pPr>
            <a:r>
              <a:rPr lang="tr-TR" altLang="en-US" sz="1400" b="1" dirty="0">
                <a:solidFill>
                  <a:srgbClr val="FFFFFF"/>
                </a:solidFill>
                <a:latin typeface="Calibri" pitchFamily="34" charset="0"/>
                <a:ea typeface="Calibri" pitchFamily="34" charset="-122"/>
                <a:cs typeface="Calibri" pitchFamily="34" charset="-120"/>
              </a:rPr>
              <a:t>1</a:t>
            </a:r>
            <a:endParaRPr lang="tr-TR" sz="1400" dirty="0"/>
          </a:p>
        </p:txBody>
      </p:sp>
      <p:sp>
        <p:nvSpPr>
          <p:cNvPr id="37" name="Text 30"/>
          <p:cNvSpPr txBox="1"/>
          <p:nvPr/>
        </p:nvSpPr>
        <p:spPr>
          <a:xfrm>
            <a:off x="7635240" y="2624328"/>
            <a:ext cx="3642055" cy="640080"/>
          </a:xfrm>
          <a:prstGeom prst="rect">
            <a:avLst/>
          </a:prstGeom>
          <a:noFill/>
          <a:ln/>
        </p:spPr>
        <p:txBody>
          <a:bodyPr wrap="square" lIns="0" tIns="0" rIns="0" bIns="0" rtlCol="0" anchor="t"/>
          <a:lstStyle/>
          <a:p>
            <a:pPr indent="0" marL="0">
              <a:spcAft>
                <a:spcPts val="200"/>
              </a:spcAft>
              <a:buNone/>
            </a:pPr>
            <a:r>
              <a:rPr lang="tr-TR" altLang="en-US" sz="1600" b="1" dirty="0">
                <a:solidFill>
                  <a:srgbClr val="15303A"/>
                </a:solidFill>
                <a:latin typeface="Calibri" pitchFamily="34" charset="0"/>
                <a:ea typeface="Calibri" pitchFamily="34" charset="-122"/>
                <a:cs typeface="Calibri" pitchFamily="34" charset="-120"/>
              </a:rPr>
              <a:t>Sadece o ana kadarki bilgiler</a:t>
            </a:r>
            <a:endParaRPr lang="tr-TR" sz="1600" dirty="0"/>
          </a:p>
          <a:p>
            <a:pPr indent="0" marL="0">
              <a:spcAft>
                <a:spcPts val="200"/>
              </a:spcAft>
              <a:buNone/>
            </a:pPr>
            <a:r>
              <a:rPr lang="tr-TR" altLang="en-US" sz="1450" dirty="0">
                <a:solidFill>
                  <a:srgbClr val="5A6C73"/>
                </a:solidFill>
                <a:latin typeface="Calibri" pitchFamily="34" charset="0"/>
                <a:ea typeface="Calibri" pitchFamily="34" charset="-122"/>
                <a:cs typeface="Calibri" pitchFamily="34" charset="-120"/>
              </a:rPr>
              <a:t>Cevabı ve sonrasını görmeden tahmin eder</a:t>
            </a:r>
            <a:endParaRPr lang="tr-TR" sz="1600" dirty="0"/>
          </a:p>
        </p:txBody>
      </p:sp>
      <p:sp>
        <p:nvSpPr>
          <p:cNvPr id="38" name="Shape 31"/>
          <p:cNvSpPr/>
          <p:nvPr/>
        </p:nvSpPr>
        <p:spPr>
          <a:xfrm>
            <a:off x="7132320" y="3749040"/>
            <a:ext cx="329184" cy="329184"/>
          </a:xfrm>
          <a:prstGeom prst="ellipse">
            <a:avLst/>
          </a:prstGeom>
          <a:solidFill>
            <a:srgbClr val="1B7A6E"/>
          </a:solidFill>
          <a:ln/>
        </p:spPr>
      </p:sp>
      <p:sp>
        <p:nvSpPr>
          <p:cNvPr id="39" name="Text 32"/>
          <p:cNvSpPr txBox="1"/>
          <p:nvPr/>
        </p:nvSpPr>
        <p:spPr>
          <a:xfrm>
            <a:off x="7132320" y="3749040"/>
            <a:ext cx="329184" cy="329184"/>
          </a:xfrm>
          <a:prstGeom prst="rect">
            <a:avLst/>
          </a:prstGeom>
          <a:noFill/>
          <a:ln/>
        </p:spPr>
        <p:txBody>
          <a:bodyPr wrap="square" lIns="0" tIns="0" rIns="0" bIns="0" rtlCol="0" anchor="ctr"/>
          <a:lstStyle/>
          <a:p>
            <a:pPr algn="ctr" indent="0" marL="0">
              <a:buNone/>
            </a:pPr>
            <a:r>
              <a:rPr lang="tr-TR" altLang="en-US" sz="1400" b="1" dirty="0">
                <a:solidFill>
                  <a:srgbClr val="FFFFFF"/>
                </a:solidFill>
                <a:latin typeface="Calibri" pitchFamily="34" charset="0"/>
                <a:ea typeface="Calibri" pitchFamily="34" charset="-122"/>
                <a:cs typeface="Calibri" pitchFamily="34" charset="-120"/>
              </a:rPr>
              <a:t>2</a:t>
            </a:r>
            <a:endParaRPr lang="tr-TR" sz="1400" dirty="0"/>
          </a:p>
        </p:txBody>
      </p:sp>
      <p:sp>
        <p:nvSpPr>
          <p:cNvPr id="40" name="Text 33"/>
          <p:cNvSpPr txBox="1"/>
          <p:nvPr/>
        </p:nvSpPr>
        <p:spPr>
          <a:xfrm>
            <a:off x="7635240" y="3721608"/>
            <a:ext cx="3642055" cy="640080"/>
          </a:xfrm>
          <a:prstGeom prst="rect">
            <a:avLst/>
          </a:prstGeom>
          <a:noFill/>
          <a:ln/>
        </p:spPr>
        <p:txBody>
          <a:bodyPr wrap="square" lIns="0" tIns="0" rIns="0" bIns="0" rtlCol="0" anchor="t"/>
          <a:lstStyle/>
          <a:p>
            <a:pPr indent="0" marL="0">
              <a:spcAft>
                <a:spcPts val="200"/>
              </a:spcAft>
              <a:buNone/>
            </a:pPr>
            <a:r>
              <a:rPr lang="tr-TR" altLang="en-US" sz="1600" b="1" dirty="0">
                <a:solidFill>
                  <a:srgbClr val="15303A"/>
                </a:solidFill>
                <a:latin typeface="Calibri" pitchFamily="34" charset="0"/>
                <a:ea typeface="Calibri" pitchFamily="34" charset="-122"/>
                <a:cs typeface="Calibri" pitchFamily="34" charset="-120"/>
              </a:rPr>
              <a:t>Basit modelden zamansal modele</a:t>
            </a:r>
            <a:endParaRPr lang="tr-TR" sz="1600" dirty="0"/>
          </a:p>
          <a:p>
            <a:pPr indent="0" marL="0">
              <a:spcAft>
                <a:spcPts val="200"/>
              </a:spcAft>
              <a:buNone/>
            </a:pPr>
            <a:r>
              <a:rPr lang="tr-TR" altLang="en-US" sz="1450" dirty="0">
                <a:solidFill>
                  <a:srgbClr val="5A6C73"/>
                </a:solidFill>
                <a:latin typeface="Calibri" pitchFamily="34" charset="0"/>
                <a:ea typeface="Calibri" pitchFamily="34" charset="-122"/>
                <a:cs typeface="Calibri" pitchFamily="34" charset="-120"/>
              </a:rPr>
              <a:t>Basit ortalama ve makaledeki random forest</a:t>
            </a:r>
            <a:endParaRPr lang="tr-TR" sz="1600" dirty="0"/>
          </a:p>
        </p:txBody>
      </p:sp>
      <p:sp>
        <p:nvSpPr>
          <p:cNvPr id="41" name="Shape 34"/>
          <p:cNvSpPr/>
          <p:nvPr/>
        </p:nvSpPr>
        <p:spPr>
          <a:xfrm>
            <a:off x="7132320" y="4846320"/>
            <a:ext cx="329184" cy="329184"/>
          </a:xfrm>
          <a:prstGeom prst="ellipse">
            <a:avLst/>
          </a:prstGeom>
          <a:solidFill>
            <a:srgbClr val="1B7A6E"/>
          </a:solidFill>
          <a:ln/>
        </p:spPr>
      </p:sp>
      <p:sp>
        <p:nvSpPr>
          <p:cNvPr id="42" name="Text 35"/>
          <p:cNvSpPr txBox="1"/>
          <p:nvPr/>
        </p:nvSpPr>
        <p:spPr>
          <a:xfrm>
            <a:off x="7132320" y="4846320"/>
            <a:ext cx="329184" cy="329184"/>
          </a:xfrm>
          <a:prstGeom prst="rect">
            <a:avLst/>
          </a:prstGeom>
          <a:noFill/>
          <a:ln/>
        </p:spPr>
        <p:txBody>
          <a:bodyPr wrap="square" lIns="0" tIns="0" rIns="0" bIns="0" rtlCol="0" anchor="ctr"/>
          <a:lstStyle/>
          <a:p>
            <a:pPr algn="ctr" indent="0" marL="0">
              <a:buNone/>
            </a:pPr>
            <a:r>
              <a:rPr lang="tr-TR" altLang="en-US" sz="1400" b="1" dirty="0">
                <a:solidFill>
                  <a:srgbClr val="FFFFFF"/>
                </a:solidFill>
                <a:latin typeface="Calibri" pitchFamily="34" charset="0"/>
                <a:ea typeface="Calibri" pitchFamily="34" charset="-122"/>
                <a:cs typeface="Calibri" pitchFamily="34" charset="-120"/>
              </a:rPr>
              <a:t>3</a:t>
            </a:r>
            <a:endParaRPr lang="tr-TR" sz="1400" dirty="0"/>
          </a:p>
        </p:txBody>
      </p:sp>
      <p:sp>
        <p:nvSpPr>
          <p:cNvPr id="43" name="Text 36"/>
          <p:cNvSpPr txBox="1"/>
          <p:nvPr/>
        </p:nvSpPr>
        <p:spPr>
          <a:xfrm>
            <a:off x="7635240" y="4818888"/>
            <a:ext cx="3642055" cy="640080"/>
          </a:xfrm>
          <a:prstGeom prst="rect">
            <a:avLst/>
          </a:prstGeom>
          <a:noFill/>
          <a:ln/>
        </p:spPr>
        <p:txBody>
          <a:bodyPr wrap="square" lIns="0" tIns="0" rIns="0" bIns="0" rtlCol="0" anchor="t"/>
          <a:lstStyle/>
          <a:p>
            <a:pPr indent="0" marL="0">
              <a:spcAft>
                <a:spcPts val="200"/>
              </a:spcAft>
              <a:buNone/>
            </a:pPr>
            <a:r>
              <a:rPr lang="tr-TR" altLang="en-US" sz="1600" b="1" dirty="0">
                <a:solidFill>
                  <a:srgbClr val="15303A"/>
                </a:solidFill>
                <a:latin typeface="Calibri" pitchFamily="34" charset="0"/>
                <a:ea typeface="Calibri" pitchFamily="34" charset="-122"/>
                <a:cs typeface="Calibri" pitchFamily="34" charset="-120"/>
              </a:rPr>
              <a:t>Yeni kişilerde test</a:t>
            </a:r>
            <a:endParaRPr lang="tr-TR" sz="1600" dirty="0"/>
          </a:p>
          <a:p>
            <a:pPr indent="0" marL="0">
              <a:spcAft>
                <a:spcPts val="200"/>
              </a:spcAft>
              <a:buNone/>
            </a:pPr>
            <a:r>
              <a:rPr lang="tr-TR" altLang="en-US" sz="1450" dirty="0">
                <a:solidFill>
                  <a:srgbClr val="5A6C73"/>
                </a:solidFill>
                <a:latin typeface="Calibri" pitchFamily="34" charset="0"/>
                <a:ea typeface="Calibri" pitchFamily="34" charset="-122"/>
                <a:cs typeface="Calibri" pitchFamily="34" charset="-120"/>
              </a:rPr>
              <a:t>MAE, R², kesinlik–duyarlılık, uyarı sıklığı</a:t>
            </a:r>
            <a:endParaRPr lang="tr-TR" sz="1600" dirty="0"/>
          </a:p>
        </p:txBody>
      </p:sp>
      <p:sp>
        <p:nvSpPr>
          <p:cNvPr id="44" name="Text 37"/>
          <p:cNvSpPr txBox="1"/>
          <p:nvPr/>
        </p:nvSpPr>
        <p:spPr>
          <a:xfrm>
            <a:off x="685800" y="6336792"/>
            <a:ext cx="10820095" cy="237744"/>
          </a:xfrm>
          <a:prstGeom prst="rect">
            <a:avLst/>
          </a:prstGeom>
          <a:noFill/>
          <a:ln/>
        </p:spPr>
        <p:txBody>
          <a:bodyPr wrap="square" lIns="0" tIns="0" rIns="0" bIns="0" rtlCol="0" anchor="ctr"/>
          <a:lstStyle/>
          <a:p>
            <a:pPr indent="0" marL="0">
              <a:buNone/>
            </a:pPr>
            <a:r>
              <a:rPr lang="tr-TR" altLang="en-US" sz="1050" dirty="0">
                <a:solidFill>
                  <a:srgbClr val="5A6C73"/>
                </a:solidFill>
                <a:latin typeface="Calibri" pitchFamily="34" charset="0"/>
                <a:ea typeface="Calibri" pitchFamily="34" charset="-122"/>
                <a:cs typeface="Calibri" pitchFamily="34" charset="-120"/>
              </a:rPr>
              <a:t>Kaynaklar: Zheng &amp; Choe (2026), </a:t>
            </a:r>
            <a:pPr indent="0" marL="0">
              <a:buNone/>
            </a:pPr>
            <a:r>
              <a:rPr lang="tr-TR" altLang="en-US" sz="1050" u="sng" dirty="0">
                <a:solidFill>
                  <a:srgbClr val="5A6C73"/>
                </a:solidFill>
                <a:latin typeface="Calibri" pitchFamily="34" charset="0"/>
                <a:ea typeface="Calibri" pitchFamily="34" charset="-122"/>
                <a:cs typeface="Calibri" pitchFamily="34" charset="-120"/>
                <a:hlinkClick r:id="rId6" invalidUrl="" action="" tgtFrame="" tooltip="" history="1" highlightClick="0" endSnd="0">
                  <a:extLst>
                    <a:ext uri="{A12FA001-AC4F-418D-AE19-62706E023703}">
                      <ahyp:hlinkClr xmlns:ahyp="http://schemas.microsoft.com/office/drawing/2018/hyperlinkcolor" val="tx"/>
                    </a:ext>
                  </a:extLst>
                </a:hlinkClick>
              </a:rPr>
              <a:t>arxiv.org/html/2609.08909v1</a:t>
            </a:r>
            <a:pPr indent="0" marL="0">
              <a:buNone/>
            </a:pPr>
            <a:r>
              <a:rPr lang="tr-TR" altLang="en-US" sz="1050" dirty="0">
                <a:solidFill>
                  <a:srgbClr val="5A6C73"/>
                </a:solidFill>
                <a:latin typeface="Calibri" pitchFamily="34" charset="0"/>
                <a:ea typeface="Calibri" pitchFamily="34" charset="-122"/>
                <a:cs typeface="Calibri" pitchFamily="34" charset="-120"/>
              </a:rPr>
              <a:t>  ·  AwareMind verisi: </a:t>
            </a:r>
            <a:pPr indent="0" marL="0">
              <a:buNone/>
            </a:pPr>
            <a:r>
              <a:rPr lang="tr-TR" altLang="en-US" sz="1050" u="sng" dirty="0">
                <a:solidFill>
                  <a:srgbClr val="5A6C73"/>
                </a:solidFill>
                <a:latin typeface="Calibri" pitchFamily="34" charset="0"/>
                <a:ea typeface="Calibri" pitchFamily="34" charset="-122"/>
                <a:cs typeface="Calibri" pitchFamily="34" charset="-120"/>
                <a:hlinkClick r:id="rId7" invalidUrl="" action="" tgtFrame="" tooltip="" history="1" highlightClick="0" endSnd="0">
                  <a:extLst>
                    <a:ext uri="{A12FA001-AC4F-418D-AE19-62706E023703}">
                      <ahyp:hlinkClr xmlns:ahyp="http://schemas.microsoft.com/office/drawing/2018/hyperlinkcolor" val="tx"/>
                    </a:ext>
                  </a:extLst>
                </a:hlinkClick>
              </a:rPr>
              <a:t>osf.io/x6yzs</a:t>
            </a:r>
            <a:pPr indent="0" marL="0">
              <a:buNone/>
            </a:pPr>
            <a:r>
              <a:rPr lang="tr-TR" altLang="en-US" sz="1050" dirty="0">
                <a:solidFill>
                  <a:srgbClr val="5A6C73"/>
                </a:solidFill>
                <a:latin typeface="Calibri" pitchFamily="34" charset="0"/>
                <a:ea typeface="Calibri" pitchFamily="34" charset="-122"/>
                <a:cs typeface="Calibri" pitchFamily="34" charset="-120"/>
              </a:rPr>
              <a:t>  ·  DOI </a:t>
            </a:r>
            <a:pPr indent="0" marL="0">
              <a:buNone/>
            </a:pPr>
            <a:r>
              <a:rPr lang="tr-TR" altLang="en-US" sz="1050" u="sng" dirty="0">
                <a:solidFill>
                  <a:srgbClr val="5A6C73"/>
                </a:solidFill>
                <a:latin typeface="Calibri" pitchFamily="34" charset="0"/>
                <a:ea typeface="Calibri" pitchFamily="34" charset="-122"/>
                <a:cs typeface="Calibri" pitchFamily="34" charset="-120"/>
                <a:hlinkClick r:id="rId8" invalidUrl="" action="" tgtFrame="" tooltip="" history="1" highlightClick="0" endSnd="0">
                  <a:extLst>
                    <a:ext uri="{A12FA001-AC4F-418D-AE19-62706E023703}">
                      <ahyp:hlinkClr xmlns:ahyp="http://schemas.microsoft.com/office/drawing/2018/hyperlinkcolor" val="tx"/>
                    </a:ext>
                  </a:extLst>
                </a:hlinkClick>
              </a:rPr>
              <a:t>10.1145/3821659</a:t>
            </a:r>
            <a:endParaRPr lang="tr-TR" sz="10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Georg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Grup 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NudgeWell: Fikir Önerisi (Grup 6)</dc:title>
  <dc:subject>Dijital Bağımlılık Bitirme Projesi fikir önerisi, 24 Eylül 2026</dc:subject>
  <dc:creator>Grup 6</dc:creator>
  <cp:lastModifiedBy>Grup 6</cp:lastModifiedBy>
  <cp:revision>1</cp:revision>
  <dcterms:created xsi:type="dcterms:W3CDTF">2026-09-24T16:17:33Z</dcterms:created>
  <dcterms:modified xsi:type="dcterms:W3CDTF">2026-09-24T16:17:33Z</dcterms:modified>
</cp:coreProperties>
</file>