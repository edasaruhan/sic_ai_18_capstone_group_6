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~30 s]
Hi everyone, we're Group 6, and our idea is NudgeWell, an opt-in digital well-being coach. It focuses on one specific moment: when you feel you should put your phone down, but you keep going anyway. NudgeWell would estimate when that moment is likely and, only when it's confident, offer a short alternative you picked yourself, like a five-minute walk. To be clear from the start: this is a proposed prototype, not a treatment for addiction.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~55 s]
Many phone warnings are based on time: after, say, thirty minutes, you get an alert. But time alone can't tell purposeful use from use you regret. In the top example, someone is doing something they value, like a group-project chat, and the timer interrupts them anyway. In the bottom example, someone thinks, "I should stop," but keeps scrolling. They're still under the limit, so no alert comes. That second case is called the intention-behavior gap, and it can be measured. In the AwareMind study, 14.9 percent of sampled moments leaned toward "stop", yet phone use went on for more than five minutes. So our target isn't total screen time. It's that gap, inside a single session.
Sources (not read aloud):
- Zheng, J. &amp; Choe, E. K. (2026). To Stop or Not to Stop: Exploring the Intention-Behavior Gaps in Smartphone Usage. https://arxiv.org/html/2609.08909v1 (DOI 10.1145/3821659).
- 14.9% is the paper's own example (Results, Fig. 4): intention to continue below 5.5 on the 1-10 scale AND remaining session length above 5 minutes. It is a descriptive figure, not a model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~60 s]
Our proposed solution works in four steps. First, you opt in and choose alternatives you'd actually enjoy: a short walk, a stretch, calling a friend. Second, during a session, NudgeWell reads only what's known so far: the time of day, the type of app, how long this session has lasted, taps and scrolls, and earlier phone use. Third, a model estimates the gap: how likely is it that you want to stop, but will keep going? Fourth, only if that estimate is confident, it offers one brief suggestion from your own list, which you can dismiss with one tap. Otherwise, it stays quiet. We would build this as an Android research prototype. It is not a diagnosis, and we are not claiming the suggestions work. Testing that would need a separate user study.
Sources (not read aloud):
- Design motivation (user control, adaptive timing): Orzikulova, A., et al. (2024). Time2Stop. https://doi.org/10.1145/3613904.3642747. It does not validate NudgeWell's predictions or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~85 s]
Our primary dataset is AwareMind, published with Zheng and Choe's 2026 study: 5,772 sampled responses from 37 adult Android users, each followed for at least two weeks. Why does it fit our question? Because it records both halves of the gap. What people said: in the middle of a session, a short pop-up asked them to complete "I should ... using my phone now", from 1, stop, to 10, continue. And what they did: how long they actually kept using the phone after answering, until it locked. Together, those give the session-level gap we want to predict. For the research, we'll use only information available before the outcome, so there is no leakage. We'll start with simple baselines, including a random forest like the paper's benchmark, and then test a small temporal model if the timestamps allow. We'll evaluate on people the model has never seen, and if the simpler model wins, we'll report that. Two limits: 37 people is a small group, so results may not generalize, and we still need to confirm permission to reuse the data. And to avoid confusion: we are not training on the Child Mind Institute dataset. It measures person-level risk and has no phone-session records of intention and outcome. Thank you.
Sources (not read aloud):
- Paper: https://arxiv.org/html/2609.08909v1 (DOI 10.1145/3821659). Data: https://osf.io/x6yzs/ (no dataset licence attached on OSF as of 23 Sep 2026, so reuse terms must be confirmed with the authors).
- Gap definition in the paper: standardized remaining session length minus standardized intention; positive = wanted to stop but continued.
- Not used for training: Child Mind Institute Problematic Internet Use data (https://www.kaggle.com/competitions/child-mind-institute-problematic-internet-use/data), which is person-level risk data without phone-session intention/outcome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hyperlink" Target="https://arxiv.org/html/2609.08909v1"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hyperlink" Target="https://arxiv.org/html/2609.08909v1" TargetMode="External"/><Relationship Id="rId9" Type="http://schemas.openxmlformats.org/officeDocument/2006/relationships/hyperlink" Target="https://osf.io/x6yzs/" TargetMode="External"/><Relationship Id="rId10" Type="http://schemas.openxmlformats.org/officeDocument/2006/relationships/hyperlink" Target="https://doi.org/10.1145/3821659"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52D"/>
        </a:solidFill>
      </p:bgPr>
    </p:bg>
    <p:spTree>
      <p:nvGrpSpPr>
        <p:cNvPr id="1" name=""/>
        <p:cNvGrpSpPr/>
        <p:nvPr/>
      </p:nvGrpSpPr>
      <p:grpSpPr>
        <a:xfrm>
          <a:off x="0" y="0"/>
          <a:ext cx="0" cy="0"/>
          <a:chOff x="0" y="0"/>
          <a:chExt cx="0" cy="0"/>
        </a:xfrm>
      </p:grpSpPr>
      <p:sp>
        <p:nvSpPr>
          <p:cNvPr id="2" name="Shape 0"/>
          <p:cNvSpPr/>
          <p:nvPr/>
        </p:nvSpPr>
        <p:spPr>
          <a:xfrm>
            <a:off x="7159752" y="795528"/>
            <a:ext cx="5029200" cy="5029200"/>
          </a:xfrm>
          <a:prstGeom prst="ellipse">
            <a:avLst/>
          </a:prstGeom>
          <a:solidFill>
            <a:srgbClr val="1B7A6E">
              <a:alpha val="16000"/>
            </a:srgbClr>
          </a:solidFill>
          <a:ln/>
        </p:spPr>
      </p:sp>
      <p:sp>
        <p:nvSpPr>
          <p:cNvPr id="3" name="Text 1"/>
          <p:cNvSpPr txBox="1"/>
          <p:nvPr/>
        </p:nvSpPr>
        <p:spPr>
          <a:xfrm>
            <a:off x="731520" y="1691640"/>
            <a:ext cx="6217920" cy="320040"/>
          </a:xfrm>
          <a:prstGeom prst="rect">
            <a:avLst/>
          </a:prstGeom>
          <a:noFill/>
          <a:ln/>
        </p:spPr>
        <p:txBody>
          <a:bodyPr wrap="square" lIns="0" tIns="0" rIns="0" bIns="0" rtlCol="0" anchor="t"/>
          <a:lstStyle/>
          <a:p>
            <a:pPr indent="0" marL="0">
              <a:buNone/>
            </a:pPr>
            <a:r>
              <a:rPr lang="en-US" sz="1400" b="1" spc="300" kern="0" dirty="0">
                <a:solidFill>
                  <a:srgbClr val="8FD3C1"/>
                </a:solidFill>
                <a:latin typeface="Calibri" pitchFamily="34" charset="0"/>
                <a:ea typeface="Calibri" pitchFamily="34" charset="-122"/>
                <a:cs typeface="Calibri" pitchFamily="34" charset="-120"/>
              </a:rPr>
              <a:t>GROUP 6  ·  IDEA PROPOSAL</a:t>
            </a:r>
            <a:endParaRPr lang="en-US" sz="1400" dirty="0"/>
          </a:p>
        </p:txBody>
      </p:sp>
      <p:sp>
        <p:nvSpPr>
          <p:cNvPr id="4" name="Text 2"/>
          <p:cNvSpPr txBox="1"/>
          <p:nvPr/>
        </p:nvSpPr>
        <p:spPr>
          <a:xfrm>
            <a:off x="731520" y="2057400"/>
            <a:ext cx="6766560" cy="1097280"/>
          </a:xfrm>
          <a:prstGeom prst="rect">
            <a:avLst/>
          </a:prstGeom>
          <a:noFill/>
          <a:ln/>
        </p:spPr>
        <p:txBody>
          <a:bodyPr wrap="square" lIns="0" tIns="0" rIns="0" bIns="0" rtlCol="0" anchor="ctr"/>
          <a:lstStyle/>
          <a:p>
            <a:pPr indent="0" marL="0">
              <a:buNone/>
            </a:pPr>
            <a:r>
              <a:rPr lang="en-US" sz="6600" b="1" dirty="0">
                <a:solidFill>
                  <a:srgbClr val="FFFFFF"/>
                </a:solidFill>
                <a:latin typeface="Georgia" pitchFamily="34" charset="0"/>
                <a:ea typeface="Georgia" pitchFamily="34" charset="-122"/>
                <a:cs typeface="Georgia" pitchFamily="34" charset="-120"/>
              </a:rPr>
              <a:t>NudgeWell</a:t>
            </a:r>
            <a:endParaRPr lang="en-US" sz="6600" dirty="0"/>
          </a:p>
        </p:txBody>
      </p:sp>
      <p:sp>
        <p:nvSpPr>
          <p:cNvPr id="5" name="Text 3"/>
          <p:cNvSpPr txBox="1"/>
          <p:nvPr/>
        </p:nvSpPr>
        <p:spPr>
          <a:xfrm>
            <a:off x="731520" y="3383280"/>
            <a:ext cx="6675120" cy="1234440"/>
          </a:xfrm>
          <a:prstGeom prst="rect">
            <a:avLst/>
          </a:prstGeom>
          <a:noFill/>
          <a:ln/>
        </p:spPr>
        <p:txBody>
          <a:bodyPr wrap="square" lIns="0" tIns="0" rIns="0" bIns="0" rtlCol="0" anchor="t"/>
          <a:lstStyle/>
          <a:p>
            <a:pPr indent="0" marL="0">
              <a:lnSpc>
                <a:spcPct val="105000"/>
              </a:lnSpc>
              <a:buNone/>
            </a:pPr>
            <a:r>
              <a:rPr lang="en-US" sz="2400" dirty="0">
                <a:solidFill>
                  <a:srgbClr val="DCEBE7"/>
                </a:solidFill>
                <a:latin typeface="Calibri" pitchFamily="34" charset="0"/>
                <a:ea typeface="Calibri" pitchFamily="34" charset="-122"/>
                <a:cs typeface="Calibri" pitchFamily="34" charset="-120"/>
              </a:rPr>
              <a:t>An opt-in coach that estimates when you </a:t>
            </a:r>
            <a:pPr indent="0" marL="0">
              <a:lnSpc>
                <a:spcPct val="105000"/>
              </a:lnSpc>
              <a:buNone/>
            </a:pPr>
            <a:r>
              <a:rPr lang="en-US" sz="2400" b="1" dirty="0">
                <a:solidFill>
                  <a:srgbClr val="8FD3C1"/>
                </a:solidFill>
                <a:latin typeface="Calibri" pitchFamily="34" charset="0"/>
                <a:ea typeface="Calibri" pitchFamily="34" charset="-122"/>
                <a:cs typeface="Calibri" pitchFamily="34" charset="-120"/>
              </a:rPr>
              <a:t>want to put your phone down but probably won’t</a:t>
            </a:r>
            <a:pPr indent="0" marL="0">
              <a:lnSpc>
                <a:spcPct val="105000"/>
              </a:lnSpc>
              <a:buNone/>
            </a:pPr>
            <a:r>
              <a:rPr lang="en-US" sz="2400" dirty="0">
                <a:solidFill>
                  <a:srgbClr val="DCEBE7"/>
                </a:solidFill>
                <a:latin typeface="Calibri" pitchFamily="34" charset="0"/>
                <a:ea typeface="Calibri" pitchFamily="34" charset="-122"/>
                <a:cs typeface="Calibri" pitchFamily="34" charset="-120"/>
              </a:rPr>
              <a:t> — and offers a brief alternative you chose.</a:t>
            </a:r>
            <a:endParaRPr lang="en-US" sz="2400" dirty="0"/>
          </a:p>
        </p:txBody>
      </p:sp>
      <p:sp>
        <p:nvSpPr>
          <p:cNvPr id="6" name="Text 4"/>
          <p:cNvSpPr txBox="1"/>
          <p:nvPr/>
        </p:nvSpPr>
        <p:spPr>
          <a:xfrm>
            <a:off x="731520" y="5669280"/>
            <a:ext cx="6400800" cy="320040"/>
          </a:xfrm>
          <a:prstGeom prst="rect">
            <a:avLst/>
          </a:prstGeom>
          <a:noFill/>
          <a:ln/>
        </p:spPr>
        <p:txBody>
          <a:bodyPr wrap="square" lIns="0" tIns="0" rIns="0" bIns="0" rtlCol="0" anchor="t"/>
          <a:lstStyle/>
          <a:p>
            <a:pPr indent="0" marL="0">
              <a:buNone/>
            </a:pPr>
            <a:r>
              <a:rPr lang="en-US" sz="1400" dirty="0">
                <a:solidFill>
                  <a:srgbClr val="9DB9B3"/>
                </a:solidFill>
                <a:latin typeface="Calibri" pitchFamily="34" charset="0"/>
                <a:ea typeface="Calibri" pitchFamily="34" charset="-122"/>
                <a:cs typeface="Calibri" pitchFamily="34" charset="-120"/>
              </a:rPr>
              <a:t>Digital Addiction Capstone  ·  24 September 2026</a:t>
            </a:r>
            <a:endParaRPr lang="en-US" sz="1400" dirty="0"/>
          </a:p>
        </p:txBody>
      </p:sp>
      <p:sp>
        <p:nvSpPr>
          <p:cNvPr id="7" name="Shape 5"/>
          <p:cNvSpPr/>
          <p:nvPr/>
        </p:nvSpPr>
        <p:spPr>
          <a:xfrm>
            <a:off x="8275320" y="566928"/>
            <a:ext cx="2788920" cy="5486400"/>
          </a:xfrm>
          <a:prstGeom prst="roundRect">
            <a:avLst>
              <a:gd name="adj" fmla="val 13115"/>
            </a:avLst>
          </a:prstGeom>
          <a:solidFill>
            <a:srgbClr val="07161B"/>
          </a:solidFill>
          <a:ln w="15875">
            <a:solidFill>
              <a:srgbClr val="35565F"/>
            </a:solidFill>
            <a:prstDash val="solid"/>
          </a:ln>
          <a:effectLst>
            <a:outerShdw sx="100000" sy="100000" kx="0" ky="0" algn="bl" rotWithShape="0" blurRad="228600" dist="76200" dir="5400000">
              <a:srgbClr val="000000">
                <a:alpha val="35000"/>
              </a:srgbClr>
            </a:outerShdw>
          </a:effectLst>
        </p:spPr>
      </p:sp>
      <p:sp>
        <p:nvSpPr>
          <p:cNvPr id="8" name="Shape 6"/>
          <p:cNvSpPr/>
          <p:nvPr/>
        </p:nvSpPr>
        <p:spPr>
          <a:xfrm>
            <a:off x="8385048" y="676656"/>
            <a:ext cx="2569464" cy="5266944"/>
          </a:xfrm>
          <a:prstGeom prst="roundRect">
            <a:avLst>
              <a:gd name="adj" fmla="val 10676"/>
            </a:avLst>
          </a:prstGeom>
          <a:solidFill>
            <a:srgbClr val="EEF3F2"/>
          </a:solidFill>
          <a:ln/>
        </p:spPr>
      </p:sp>
      <p:sp>
        <p:nvSpPr>
          <p:cNvPr id="9" name="Shape 7"/>
          <p:cNvSpPr/>
          <p:nvPr/>
        </p:nvSpPr>
        <p:spPr>
          <a:xfrm>
            <a:off x="9395460" y="795528"/>
            <a:ext cx="548640" cy="137160"/>
          </a:xfrm>
          <a:prstGeom prst="roundRect">
            <a:avLst>
              <a:gd name="adj" fmla="val 50000"/>
            </a:avLst>
          </a:prstGeom>
          <a:solidFill>
            <a:srgbClr val="07161B"/>
          </a:solidFill>
          <a:ln/>
        </p:spPr>
      </p:sp>
      <p:sp>
        <p:nvSpPr>
          <p:cNvPr id="10" name="Text 8"/>
          <p:cNvSpPr txBox="1"/>
          <p:nvPr/>
        </p:nvSpPr>
        <p:spPr>
          <a:xfrm>
            <a:off x="8604504" y="768096"/>
            <a:ext cx="731520" cy="201168"/>
          </a:xfrm>
          <a:prstGeom prst="rect">
            <a:avLst/>
          </a:prstGeom>
          <a:noFill/>
          <a:ln/>
        </p:spPr>
        <p:txBody>
          <a:bodyPr wrap="square" lIns="0" tIns="0" rIns="0" bIns="0" rtlCol="0" anchor="ctr"/>
          <a:lstStyle/>
          <a:p>
            <a:pPr indent="0" marL="0">
              <a:buNone/>
            </a:pPr>
            <a:r>
              <a:rPr lang="en-US" sz="1000" b="1" dirty="0">
                <a:solidFill>
                  <a:srgbClr val="15303A"/>
                </a:solidFill>
                <a:latin typeface="Calibri" pitchFamily="34" charset="0"/>
                <a:ea typeface="Calibri" pitchFamily="34" charset="-122"/>
                <a:cs typeface="Calibri" pitchFamily="34" charset="-120"/>
              </a:rPr>
              <a:t>23:41</a:t>
            </a:r>
            <a:endParaRPr lang="en-US" sz="1000" dirty="0"/>
          </a:p>
        </p:txBody>
      </p:sp>
      <p:sp>
        <p:nvSpPr>
          <p:cNvPr id="11" name="Shape 9"/>
          <p:cNvSpPr/>
          <p:nvPr/>
        </p:nvSpPr>
        <p:spPr>
          <a:xfrm>
            <a:off x="8586216" y="1179576"/>
            <a:ext cx="329184" cy="329184"/>
          </a:xfrm>
          <a:prstGeom prst="ellipse">
            <a:avLst/>
          </a:prstGeom>
          <a:solidFill>
            <a:srgbClr val="BFD3CE"/>
          </a:solidFill>
          <a:ln/>
        </p:spPr>
      </p:sp>
      <p:sp>
        <p:nvSpPr>
          <p:cNvPr id="12" name="Shape 10"/>
          <p:cNvSpPr/>
          <p:nvPr/>
        </p:nvSpPr>
        <p:spPr>
          <a:xfrm>
            <a:off x="9025128" y="1234440"/>
            <a:ext cx="1188720" cy="91440"/>
          </a:xfrm>
          <a:prstGeom prst="roundRect">
            <a:avLst>
              <a:gd name="adj" fmla="val 50000"/>
            </a:avLst>
          </a:prstGeom>
          <a:solidFill>
            <a:srgbClr val="C5D4D1"/>
          </a:solidFill>
          <a:ln/>
        </p:spPr>
      </p:sp>
      <p:sp>
        <p:nvSpPr>
          <p:cNvPr id="13" name="Shape 11"/>
          <p:cNvSpPr/>
          <p:nvPr/>
        </p:nvSpPr>
        <p:spPr>
          <a:xfrm>
            <a:off x="9025128" y="1380744"/>
            <a:ext cx="777240" cy="73152"/>
          </a:xfrm>
          <a:prstGeom prst="roundRect">
            <a:avLst>
              <a:gd name="adj" fmla="val 50000"/>
            </a:avLst>
          </a:prstGeom>
          <a:solidFill>
            <a:srgbClr val="D6E1DE"/>
          </a:solidFill>
          <a:ln/>
        </p:spPr>
      </p:sp>
      <p:sp>
        <p:nvSpPr>
          <p:cNvPr id="14" name="Shape 12"/>
          <p:cNvSpPr/>
          <p:nvPr/>
        </p:nvSpPr>
        <p:spPr>
          <a:xfrm>
            <a:off x="8586216" y="1636776"/>
            <a:ext cx="2167128" cy="1325880"/>
          </a:xfrm>
          <a:prstGeom prst="roundRect">
            <a:avLst>
              <a:gd name="adj" fmla="val 8276"/>
            </a:avLst>
          </a:prstGeom>
          <a:solidFill>
            <a:srgbClr val="C9DAD6"/>
          </a:solidFill>
          <a:ln/>
        </p:spPr>
      </p:sp>
      <p:sp>
        <p:nvSpPr>
          <p:cNvPr id="15" name="Shape 13"/>
          <p:cNvSpPr/>
          <p:nvPr/>
        </p:nvSpPr>
        <p:spPr>
          <a:xfrm>
            <a:off x="8586216" y="3072384"/>
            <a:ext cx="1883664" cy="91440"/>
          </a:xfrm>
          <a:prstGeom prst="roundRect">
            <a:avLst>
              <a:gd name="adj" fmla="val 50000"/>
            </a:avLst>
          </a:prstGeom>
          <a:solidFill>
            <a:srgbClr val="D0DCD9"/>
          </a:solidFill>
          <a:ln/>
        </p:spPr>
      </p:sp>
      <p:sp>
        <p:nvSpPr>
          <p:cNvPr id="16" name="Shape 14"/>
          <p:cNvSpPr/>
          <p:nvPr/>
        </p:nvSpPr>
        <p:spPr>
          <a:xfrm>
            <a:off x="8586216" y="3236976"/>
            <a:ext cx="1380744" cy="91440"/>
          </a:xfrm>
          <a:prstGeom prst="roundRect">
            <a:avLst>
              <a:gd name="adj" fmla="val 50000"/>
            </a:avLst>
          </a:prstGeom>
          <a:solidFill>
            <a:srgbClr val="D6E1DE"/>
          </a:solidFill>
          <a:ln/>
        </p:spPr>
      </p:sp>
      <p:sp>
        <p:nvSpPr>
          <p:cNvPr id="17" name="Shape 15"/>
          <p:cNvSpPr/>
          <p:nvPr/>
        </p:nvSpPr>
        <p:spPr>
          <a:xfrm>
            <a:off x="8586216" y="3511296"/>
            <a:ext cx="329184" cy="329184"/>
          </a:xfrm>
          <a:prstGeom prst="ellipse">
            <a:avLst/>
          </a:prstGeom>
          <a:solidFill>
            <a:srgbClr val="BFD3CE"/>
          </a:solidFill>
          <a:ln/>
        </p:spPr>
      </p:sp>
      <p:sp>
        <p:nvSpPr>
          <p:cNvPr id="18" name="Shape 16"/>
          <p:cNvSpPr/>
          <p:nvPr/>
        </p:nvSpPr>
        <p:spPr>
          <a:xfrm>
            <a:off x="9025128" y="3566160"/>
            <a:ext cx="1188720" cy="91440"/>
          </a:xfrm>
          <a:prstGeom prst="roundRect">
            <a:avLst>
              <a:gd name="adj" fmla="val 50000"/>
            </a:avLst>
          </a:prstGeom>
          <a:solidFill>
            <a:srgbClr val="C5D4D1"/>
          </a:solidFill>
          <a:ln/>
        </p:spPr>
      </p:sp>
      <p:sp>
        <p:nvSpPr>
          <p:cNvPr id="19" name="Shape 17"/>
          <p:cNvSpPr/>
          <p:nvPr/>
        </p:nvSpPr>
        <p:spPr>
          <a:xfrm>
            <a:off x="9025128" y="3712464"/>
            <a:ext cx="777240" cy="73152"/>
          </a:xfrm>
          <a:prstGeom prst="roundRect">
            <a:avLst>
              <a:gd name="adj" fmla="val 50000"/>
            </a:avLst>
          </a:prstGeom>
          <a:solidFill>
            <a:srgbClr val="D6E1DE"/>
          </a:solidFill>
          <a:ln/>
        </p:spPr>
      </p:sp>
      <p:sp>
        <p:nvSpPr>
          <p:cNvPr id="20" name="Shape 18"/>
          <p:cNvSpPr/>
          <p:nvPr/>
        </p:nvSpPr>
        <p:spPr>
          <a:xfrm>
            <a:off x="8586216" y="3968496"/>
            <a:ext cx="2167128" cy="1463040"/>
          </a:xfrm>
          <a:prstGeom prst="roundRect">
            <a:avLst>
              <a:gd name="adj" fmla="val 7500"/>
            </a:avLst>
          </a:prstGeom>
          <a:solidFill>
            <a:srgbClr val="D3E0DC"/>
          </a:solidFill>
          <a:ln/>
        </p:spPr>
      </p:sp>
      <p:sp>
        <p:nvSpPr>
          <p:cNvPr id="21" name="Shape 19"/>
          <p:cNvSpPr/>
          <p:nvPr/>
        </p:nvSpPr>
        <p:spPr>
          <a:xfrm>
            <a:off x="9258300" y="5760720"/>
            <a:ext cx="822960" cy="54864"/>
          </a:xfrm>
          <a:prstGeom prst="roundRect">
            <a:avLst>
              <a:gd name="adj" fmla="val 50000"/>
            </a:avLst>
          </a:prstGeom>
          <a:solidFill>
            <a:srgbClr val="15303A"/>
          </a:solidFill>
          <a:ln/>
        </p:spPr>
      </p:sp>
      <p:sp>
        <p:nvSpPr>
          <p:cNvPr id="22" name="Shape 20"/>
          <p:cNvSpPr/>
          <p:nvPr/>
        </p:nvSpPr>
        <p:spPr>
          <a:xfrm>
            <a:off x="8385048" y="676656"/>
            <a:ext cx="2569464" cy="5266944"/>
          </a:xfrm>
          <a:prstGeom prst="roundRect">
            <a:avLst>
              <a:gd name="adj" fmla="val 10676"/>
            </a:avLst>
          </a:prstGeom>
          <a:solidFill>
            <a:srgbClr val="0E252D">
              <a:alpha val="48000"/>
            </a:srgbClr>
          </a:solidFill>
          <a:ln/>
        </p:spPr>
      </p:sp>
      <p:sp>
        <p:nvSpPr>
          <p:cNvPr id="23" name="Shape 21"/>
          <p:cNvSpPr/>
          <p:nvPr/>
        </p:nvSpPr>
        <p:spPr>
          <a:xfrm>
            <a:off x="8531352" y="2642616"/>
            <a:ext cx="2276856" cy="2011680"/>
          </a:xfrm>
          <a:prstGeom prst="roundRect">
            <a:avLst>
              <a:gd name="adj" fmla="val 7273"/>
            </a:avLst>
          </a:prstGeom>
          <a:solidFill>
            <a:srgbClr val="FFFFFF"/>
          </a:solidFill>
          <a:ln/>
          <a:effectLst>
            <a:outerShdw sx="100000" sy="100000" kx="0" ky="0" algn="bl" rotWithShape="0" blurRad="177800" dist="50800" dir="5400000">
              <a:srgbClr val="000000">
                <a:alpha val="30000"/>
              </a:srgbClr>
            </a:outerShdw>
          </a:effectLst>
        </p:spPr>
      </p:sp>
      <p:sp>
        <p:nvSpPr>
          <p:cNvPr id="24" name="Shape 22"/>
          <p:cNvSpPr/>
          <p:nvPr/>
        </p:nvSpPr>
        <p:spPr>
          <a:xfrm>
            <a:off x="8714232" y="2825496"/>
            <a:ext cx="310896" cy="310896"/>
          </a:xfrm>
          <a:prstGeom prst="roundRect">
            <a:avLst>
              <a:gd name="adj" fmla="val 23529"/>
            </a:avLst>
          </a:prstGeom>
          <a:solidFill>
            <a:srgbClr val="1B7A6E"/>
          </a:solidFill>
          <a:ln/>
        </p:spPr>
      </p:sp>
      <p:pic>
        <p:nvPicPr>
          <p:cNvPr id="25" name="Image 0" descr="NudgeWell app icon">    </p:cNvPr>
          <p:cNvPicPr>
            <a:picLocks noChangeAspect="1"/>
          </p:cNvPicPr>
          <p:nvPr/>
        </p:nvPicPr>
        <p:blipFill>
          <a:blip r:embed="rId1"/>
          <a:stretch>
            <a:fillRect/>
          </a:stretch>
        </p:blipFill>
        <p:spPr>
          <a:xfrm>
            <a:off x="8769096" y="2880360"/>
            <a:ext cx="201168" cy="201168"/>
          </a:xfrm>
          <a:prstGeom prst="rect">
            <a:avLst/>
          </a:prstGeom>
        </p:spPr>
      </p:pic>
      <p:sp>
        <p:nvSpPr>
          <p:cNvPr id="26" name="Text 23"/>
          <p:cNvSpPr txBox="1"/>
          <p:nvPr/>
        </p:nvSpPr>
        <p:spPr>
          <a:xfrm>
            <a:off x="9098280" y="2825496"/>
            <a:ext cx="1371600" cy="310896"/>
          </a:xfrm>
          <a:prstGeom prst="rect">
            <a:avLst/>
          </a:prstGeom>
          <a:noFill/>
          <a:ln/>
        </p:spPr>
        <p:txBody>
          <a:bodyPr wrap="square" lIns="0" tIns="0" rIns="0" bIns="0" rtlCol="0" anchor="ctr"/>
          <a:lstStyle/>
          <a:p>
            <a:pPr indent="0" marL="0">
              <a:buNone/>
            </a:pPr>
            <a:r>
              <a:rPr lang="en-US" sz="1100" b="1" dirty="0">
                <a:solidFill>
                  <a:srgbClr val="1B7A6E"/>
                </a:solidFill>
                <a:latin typeface="Calibri" pitchFamily="34" charset="0"/>
                <a:ea typeface="Calibri" pitchFamily="34" charset="-122"/>
                <a:cs typeface="Calibri" pitchFamily="34" charset="-120"/>
              </a:rPr>
              <a:t>NudgeWell</a:t>
            </a:r>
            <a:endParaRPr lang="en-US" sz="1100" dirty="0"/>
          </a:p>
        </p:txBody>
      </p:sp>
      <p:sp>
        <p:nvSpPr>
          <p:cNvPr id="27" name="Text 24"/>
          <p:cNvSpPr txBox="1"/>
          <p:nvPr/>
        </p:nvSpPr>
        <p:spPr>
          <a:xfrm>
            <a:off x="8714232" y="3246120"/>
            <a:ext cx="1911096" cy="512064"/>
          </a:xfrm>
          <a:prstGeom prst="rect">
            <a:avLst/>
          </a:prstGeom>
          <a:noFill/>
          <a:ln/>
        </p:spPr>
        <p:txBody>
          <a:bodyPr wrap="square" lIns="0" tIns="0" rIns="0" bIns="0" rtlCol="0" anchor="t"/>
          <a:lstStyle/>
          <a:p>
            <a:pPr indent="0" marL="0">
              <a:buNone/>
            </a:pPr>
            <a:r>
              <a:rPr lang="en-US" sz="1500" b="1" dirty="0">
                <a:solidFill>
                  <a:srgbClr val="15303A"/>
                </a:solidFill>
                <a:latin typeface="Calibri" pitchFamily="34" charset="0"/>
                <a:ea typeface="Calibri" pitchFamily="34" charset="-122"/>
                <a:cs typeface="Calibri" pitchFamily="34" charset="-120"/>
              </a:rPr>
              <a:t>Ready for a short break?</a:t>
            </a:r>
            <a:endParaRPr lang="en-US" sz="1500" dirty="0"/>
          </a:p>
        </p:txBody>
      </p:sp>
      <p:sp>
        <p:nvSpPr>
          <p:cNvPr id="28" name="Text 25"/>
          <p:cNvSpPr txBox="1"/>
          <p:nvPr/>
        </p:nvSpPr>
        <p:spPr>
          <a:xfrm>
            <a:off x="8714232" y="3776472"/>
            <a:ext cx="1911096" cy="256032"/>
          </a:xfrm>
          <a:prstGeom prst="rect">
            <a:avLst/>
          </a:prstGeom>
          <a:noFill/>
          <a:ln/>
        </p:spPr>
        <p:txBody>
          <a:bodyPr wrap="square" lIns="0" tIns="0" rIns="0" bIns="0" rtlCol="0" anchor="t"/>
          <a:lstStyle/>
          <a:p>
            <a:pPr indent="0" marL="0">
              <a:buNone/>
            </a:pPr>
            <a:r>
              <a:rPr lang="en-US" sz="1200" dirty="0">
                <a:solidFill>
                  <a:srgbClr val="5A6C73"/>
                </a:solidFill>
                <a:latin typeface="Calibri" pitchFamily="34" charset="0"/>
                <a:ea typeface="Calibri" pitchFamily="34" charset="-122"/>
                <a:cs typeface="Calibri" pitchFamily="34" charset="-120"/>
              </a:rPr>
              <a:t>Your pick: 5-minute walk</a:t>
            </a:r>
            <a:endParaRPr lang="en-US" sz="1200" dirty="0"/>
          </a:p>
        </p:txBody>
      </p:sp>
      <p:sp>
        <p:nvSpPr>
          <p:cNvPr id="29" name="Shape 26"/>
          <p:cNvSpPr/>
          <p:nvPr/>
        </p:nvSpPr>
        <p:spPr>
          <a:xfrm>
            <a:off x="8714232" y="4142232"/>
            <a:ext cx="1024128" cy="329184"/>
          </a:xfrm>
          <a:prstGeom prst="roundRect">
            <a:avLst>
              <a:gd name="adj" fmla="val 50000"/>
            </a:avLst>
          </a:prstGeom>
          <a:solidFill>
            <a:srgbClr val="1B7A6E"/>
          </a:solidFill>
          <a:ln/>
        </p:spPr>
      </p:sp>
      <p:sp>
        <p:nvSpPr>
          <p:cNvPr id="30" name="Text 27"/>
          <p:cNvSpPr txBox="1"/>
          <p:nvPr/>
        </p:nvSpPr>
        <p:spPr>
          <a:xfrm>
            <a:off x="8714232" y="4142232"/>
            <a:ext cx="1024128"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Start walk</a:t>
            </a:r>
            <a:endParaRPr lang="en-US" sz="1150" dirty="0"/>
          </a:p>
        </p:txBody>
      </p:sp>
      <p:sp>
        <p:nvSpPr>
          <p:cNvPr id="31" name="Shape 28"/>
          <p:cNvSpPr/>
          <p:nvPr/>
        </p:nvSpPr>
        <p:spPr>
          <a:xfrm>
            <a:off x="9829800" y="4142232"/>
            <a:ext cx="795528" cy="329184"/>
          </a:xfrm>
          <a:prstGeom prst="roundRect">
            <a:avLst>
              <a:gd name="adj" fmla="val 50000"/>
            </a:avLst>
          </a:prstGeom>
          <a:solidFill>
            <a:srgbClr val="FFFFFF"/>
          </a:solidFill>
          <a:ln w="12700">
            <a:solidFill>
              <a:srgbClr val="C4D3CF"/>
            </a:solidFill>
            <a:prstDash val="solid"/>
          </a:ln>
        </p:spPr>
      </p:sp>
      <p:sp>
        <p:nvSpPr>
          <p:cNvPr id="32" name="Text 29"/>
          <p:cNvSpPr txBox="1"/>
          <p:nvPr/>
        </p:nvSpPr>
        <p:spPr>
          <a:xfrm>
            <a:off x="9829800" y="4142232"/>
            <a:ext cx="795528" cy="329184"/>
          </a:xfrm>
          <a:prstGeom prst="rect">
            <a:avLst/>
          </a:prstGeom>
          <a:noFill/>
          <a:ln/>
        </p:spPr>
        <p:txBody>
          <a:bodyPr wrap="square" lIns="0" tIns="0" rIns="0" bIns="0" rtlCol="0" anchor="ctr"/>
          <a:lstStyle/>
          <a:p>
            <a:pPr algn="ctr" indent="0" marL="0">
              <a:buNone/>
            </a:pPr>
            <a:r>
              <a:rPr lang="en-US" sz="1150" dirty="0">
                <a:solidFill>
                  <a:srgbClr val="15303A"/>
                </a:solidFill>
                <a:latin typeface="Calibri" pitchFamily="34" charset="0"/>
                <a:ea typeface="Calibri" pitchFamily="34" charset="-122"/>
                <a:cs typeface="Calibri" pitchFamily="34" charset="-120"/>
              </a:rPr>
              <a:t>Not now</a:t>
            </a:r>
            <a:endParaRPr lang="en-US" sz="1150" dirty="0"/>
          </a:p>
        </p:txBody>
      </p:sp>
      <p:sp>
        <p:nvSpPr>
          <p:cNvPr id="33" name="Text 30"/>
          <p:cNvSpPr txBox="1"/>
          <p:nvPr/>
        </p:nvSpPr>
        <p:spPr>
          <a:xfrm>
            <a:off x="8275320" y="6144768"/>
            <a:ext cx="2788920" cy="274320"/>
          </a:xfrm>
          <a:prstGeom prst="rect">
            <a:avLst/>
          </a:prstGeom>
          <a:noFill/>
          <a:ln/>
        </p:spPr>
        <p:txBody>
          <a:bodyPr wrap="square" lIns="0" tIns="0" rIns="0" bIns="0" rtlCol="0" anchor="t"/>
          <a:lstStyle/>
          <a:p>
            <a:pPr algn="ctr" indent="0" marL="0">
              <a:buNone/>
            </a:pPr>
            <a:r>
              <a:rPr lang="en-US" sz="1200" i="1" dirty="0">
                <a:solidFill>
                  <a:srgbClr val="9DB9B3"/>
                </a:solidFill>
                <a:latin typeface="Calibri" pitchFamily="34" charset="0"/>
                <a:ea typeface="Calibri" pitchFamily="34" charset="-122"/>
                <a:cs typeface="Calibri" pitchFamily="34" charset="-120"/>
              </a:rPr>
              <a:t>Concept mock-up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300" b="1" spc="200" kern="0" dirty="0">
                <a:solidFill>
                  <a:srgbClr val="1B7A6E"/>
                </a:solidFill>
                <a:latin typeface="Calibri" pitchFamily="34" charset="0"/>
                <a:ea typeface="Calibri" pitchFamily="34" charset="-122"/>
                <a:cs typeface="Calibri" pitchFamily="34" charset="-120"/>
              </a:rPr>
              <a:t>02  ·  THE PROBLEM</a:t>
            </a:r>
            <a:endParaRPr lang="en-US" sz="1300" dirty="0"/>
          </a:p>
        </p:txBody>
      </p:sp>
      <p:sp>
        <p:nvSpPr>
          <p:cNvPr id="3" name="Text 1"/>
          <p:cNvSpPr txBox="1"/>
          <p:nvPr/>
        </p:nvSpPr>
        <p:spPr>
          <a:xfrm>
            <a:off x="685800" y="731520"/>
            <a:ext cx="10820095" cy="658368"/>
          </a:xfrm>
          <a:prstGeom prst="rect">
            <a:avLst/>
          </a:prstGeom>
          <a:noFill/>
          <a:ln/>
        </p:spPr>
        <p:txBody>
          <a:bodyPr wrap="square" lIns="0" tIns="0" rIns="0" bIns="0" rtlCol="0" anchor="ctr"/>
          <a:lstStyle/>
          <a:p>
            <a:pPr indent="0" marL="0">
              <a:buNone/>
            </a:pPr>
            <a:r>
              <a:rPr lang="en-US" sz="3400" b="1" dirty="0">
                <a:solidFill>
                  <a:srgbClr val="15303A"/>
                </a:solidFill>
                <a:latin typeface="Georgia" pitchFamily="34" charset="0"/>
                <a:ea typeface="Georgia" pitchFamily="34" charset="-122"/>
                <a:cs typeface="Georgia" pitchFamily="34" charset="-120"/>
              </a:rPr>
              <a:t>Time limits miss the moment that matters</a:t>
            </a:r>
            <a:endParaRPr lang="en-US" sz="3400" dirty="0"/>
          </a:p>
        </p:txBody>
      </p:sp>
      <p:sp>
        <p:nvSpPr>
          <p:cNvPr id="4" name="Shape 2"/>
          <p:cNvSpPr/>
          <p:nvPr/>
        </p:nvSpPr>
        <p:spPr>
          <a:xfrm>
            <a:off x="685800" y="1627632"/>
            <a:ext cx="10820095" cy="2898648"/>
          </a:xfrm>
          <a:prstGeom prst="roundRect">
            <a:avLst>
              <a:gd name="adj" fmla="val 4416"/>
            </a:avLst>
          </a:prstGeom>
          <a:solidFill>
            <a:srgbClr val="FFFFFF"/>
          </a:solidFill>
          <a:ln/>
          <a:effectLst>
            <a:outerShdw sx="100000" sy="100000" kx="0" ky="0" algn="bl" rotWithShape="0" blurRad="127000" dist="31750" dir="5400000">
              <a:srgbClr val="0B2A30">
                <a:alpha val="10000"/>
              </a:srgbClr>
            </a:outerShdw>
          </a:effectLst>
        </p:spPr>
      </p:sp>
      <p:pic>
        <p:nvPicPr>
          <p:cNvPr id="5" name="Image 0" descr="timer icon">    </p:cNvPr>
          <p:cNvPicPr>
            <a:picLocks noChangeAspect="1"/>
          </p:cNvPicPr>
          <p:nvPr/>
        </p:nvPicPr>
        <p:blipFill>
          <a:blip r:embed="rId1"/>
          <a:stretch>
            <a:fillRect/>
          </a:stretch>
        </p:blipFill>
        <p:spPr>
          <a:xfrm>
            <a:off x="5980176" y="1773936"/>
            <a:ext cx="237744" cy="237744"/>
          </a:xfrm>
          <a:prstGeom prst="rect">
            <a:avLst/>
          </a:prstGeom>
        </p:spPr>
      </p:pic>
      <p:sp>
        <p:nvSpPr>
          <p:cNvPr id="6" name="Text 3"/>
          <p:cNvSpPr txBox="1"/>
          <p:nvPr/>
        </p:nvSpPr>
        <p:spPr>
          <a:xfrm>
            <a:off x="6272784" y="1746504"/>
            <a:ext cx="1463040" cy="292608"/>
          </a:xfrm>
          <a:prstGeom prst="rect">
            <a:avLst/>
          </a:prstGeom>
          <a:noFill/>
          <a:ln/>
        </p:spPr>
        <p:txBody>
          <a:bodyPr wrap="square" lIns="0" tIns="0" rIns="0" bIns="0" rtlCol="0" anchor="ctr"/>
          <a:lstStyle/>
          <a:p>
            <a:pPr indent="0" marL="0">
              <a:buNone/>
            </a:pPr>
            <a:r>
              <a:rPr lang="en-US" sz="1300" b="1" dirty="0">
                <a:solidFill>
                  <a:srgbClr val="15303A"/>
                </a:solidFill>
                <a:latin typeface="Calibri" pitchFamily="34" charset="0"/>
                <a:ea typeface="Calibri" pitchFamily="34" charset="-122"/>
                <a:cs typeface="Calibri" pitchFamily="34" charset="-120"/>
              </a:rPr>
              <a:t>Fixed time limit</a:t>
            </a:r>
            <a:endParaRPr lang="en-US" sz="1300" dirty="0"/>
          </a:p>
        </p:txBody>
      </p:sp>
      <p:sp>
        <p:nvSpPr>
          <p:cNvPr id="7" name="Shape 4"/>
          <p:cNvSpPr/>
          <p:nvPr/>
        </p:nvSpPr>
        <p:spPr>
          <a:xfrm>
            <a:off x="6766560" y="2103120"/>
            <a:ext cx="0" cy="2148840"/>
          </a:xfrm>
          <a:prstGeom prst="line">
            <a:avLst/>
          </a:prstGeom>
          <a:noFill/>
          <a:ln w="19050">
            <a:solidFill>
              <a:srgbClr val="7C8D93"/>
            </a:solidFill>
            <a:prstDash val="dash"/>
          </a:ln>
        </p:spPr>
      </p:sp>
      <p:sp>
        <p:nvSpPr>
          <p:cNvPr id="8" name="Text 5"/>
          <p:cNvSpPr txBox="1"/>
          <p:nvPr/>
        </p:nvSpPr>
        <p:spPr>
          <a:xfrm>
            <a:off x="1005840" y="2212848"/>
            <a:ext cx="2194560" cy="329184"/>
          </a:xfrm>
          <a:prstGeom prst="rect">
            <a:avLst/>
          </a:prstGeom>
          <a:noFill/>
          <a:ln/>
        </p:spPr>
        <p:txBody>
          <a:bodyPr wrap="square" lIns="0" tIns="0" rIns="0" bIns="0" rtlCol="0" anchor="t"/>
          <a:lstStyle/>
          <a:p>
            <a:pPr indent="0" marL="0">
              <a:buNone/>
            </a:pPr>
            <a:r>
              <a:rPr lang="en-US" sz="1800" b="1" dirty="0">
                <a:solidFill>
                  <a:srgbClr val="15303A"/>
                </a:solidFill>
                <a:latin typeface="Calibri" pitchFamily="34" charset="0"/>
                <a:ea typeface="Calibri" pitchFamily="34" charset="-122"/>
                <a:cs typeface="Calibri" pitchFamily="34" charset="-120"/>
              </a:rPr>
              <a:t>Purposeful use</a:t>
            </a:r>
            <a:endParaRPr lang="en-US" sz="1800" dirty="0"/>
          </a:p>
        </p:txBody>
      </p:sp>
      <p:sp>
        <p:nvSpPr>
          <p:cNvPr id="9" name="Text 6"/>
          <p:cNvSpPr txBox="1"/>
          <p:nvPr/>
        </p:nvSpPr>
        <p:spPr>
          <a:xfrm>
            <a:off x="1005840" y="2560320"/>
            <a:ext cx="2194560" cy="274320"/>
          </a:xfrm>
          <a:prstGeom prst="rect">
            <a:avLst/>
          </a:prstGeom>
          <a:noFill/>
          <a:ln/>
        </p:spPr>
        <p:txBody>
          <a:bodyPr wrap="square" lIns="0" tIns="0" rIns="0" bIns="0" rtlCol="0" anchor="t"/>
          <a:lstStyle/>
          <a:p>
            <a:pPr indent="0" marL="0">
              <a:buNone/>
            </a:pPr>
            <a:r>
              <a:rPr lang="en-US" sz="1400" dirty="0">
                <a:solidFill>
                  <a:srgbClr val="5A6C73"/>
                </a:solidFill>
                <a:latin typeface="Calibri" pitchFamily="34" charset="0"/>
                <a:ea typeface="Calibri" pitchFamily="34" charset="-122"/>
                <a:cs typeface="Calibri" pitchFamily="34" charset="-120"/>
              </a:rPr>
              <a:t>e.g. group-project chat</a:t>
            </a:r>
            <a:endParaRPr lang="en-US" sz="1400" dirty="0"/>
          </a:p>
        </p:txBody>
      </p:sp>
      <p:sp>
        <p:nvSpPr>
          <p:cNvPr id="10" name="Text 7"/>
          <p:cNvSpPr txBox="1"/>
          <p:nvPr/>
        </p:nvSpPr>
        <p:spPr>
          <a:xfrm>
            <a:off x="1005840" y="3493008"/>
            <a:ext cx="2194560" cy="329184"/>
          </a:xfrm>
          <a:prstGeom prst="rect">
            <a:avLst/>
          </a:prstGeom>
          <a:noFill/>
          <a:ln/>
        </p:spPr>
        <p:txBody>
          <a:bodyPr wrap="square" lIns="0" tIns="0" rIns="0" bIns="0" rtlCol="0" anchor="t"/>
          <a:lstStyle/>
          <a:p>
            <a:pPr indent="0" marL="0">
              <a:buNone/>
            </a:pPr>
            <a:r>
              <a:rPr lang="en-US" sz="1800" b="1" dirty="0">
                <a:solidFill>
                  <a:srgbClr val="15303A"/>
                </a:solidFill>
                <a:latin typeface="Calibri" pitchFamily="34" charset="0"/>
                <a:ea typeface="Calibri" pitchFamily="34" charset="-122"/>
                <a:cs typeface="Calibri" pitchFamily="34" charset="-120"/>
              </a:rPr>
              <a:t>Wants to stop</a:t>
            </a:r>
            <a:endParaRPr lang="en-US" sz="1800" dirty="0"/>
          </a:p>
        </p:txBody>
      </p:sp>
      <p:sp>
        <p:nvSpPr>
          <p:cNvPr id="11" name="Text 8"/>
          <p:cNvSpPr txBox="1"/>
          <p:nvPr/>
        </p:nvSpPr>
        <p:spPr>
          <a:xfrm>
            <a:off x="1005840" y="3840480"/>
            <a:ext cx="2194560" cy="274320"/>
          </a:xfrm>
          <a:prstGeom prst="rect">
            <a:avLst/>
          </a:prstGeom>
          <a:noFill/>
          <a:ln/>
        </p:spPr>
        <p:txBody>
          <a:bodyPr wrap="square" lIns="0" tIns="0" rIns="0" bIns="0" rtlCol="0" anchor="t"/>
          <a:lstStyle/>
          <a:p>
            <a:pPr indent="0" marL="0">
              <a:buNone/>
            </a:pPr>
            <a:r>
              <a:rPr lang="en-US" sz="1400" dirty="0">
                <a:solidFill>
                  <a:srgbClr val="5A6C73"/>
                </a:solidFill>
                <a:latin typeface="Calibri" pitchFamily="34" charset="0"/>
                <a:ea typeface="Calibri" pitchFamily="34" charset="-122"/>
                <a:cs typeface="Calibri" pitchFamily="34" charset="-120"/>
              </a:rPr>
              <a:t>e.g. late-night scrolling</a:t>
            </a:r>
            <a:endParaRPr lang="en-US" sz="1400" dirty="0"/>
          </a:p>
        </p:txBody>
      </p:sp>
      <p:sp>
        <p:nvSpPr>
          <p:cNvPr id="12" name="Shape 9"/>
          <p:cNvSpPr/>
          <p:nvPr/>
        </p:nvSpPr>
        <p:spPr>
          <a:xfrm>
            <a:off x="3291840" y="2331720"/>
            <a:ext cx="5577840" cy="420624"/>
          </a:xfrm>
          <a:prstGeom prst="roundRect">
            <a:avLst>
              <a:gd name="adj" fmla="val 50000"/>
            </a:avLst>
          </a:prstGeom>
          <a:solidFill>
            <a:srgbClr val="1B7A6E"/>
          </a:solidFill>
          <a:ln/>
        </p:spPr>
      </p:sp>
      <p:sp>
        <p:nvSpPr>
          <p:cNvPr id="13" name="Shape 10"/>
          <p:cNvSpPr/>
          <p:nvPr/>
        </p:nvSpPr>
        <p:spPr>
          <a:xfrm>
            <a:off x="6483096" y="2258568"/>
            <a:ext cx="566928" cy="566928"/>
          </a:xfrm>
          <a:prstGeom prst="ellipse">
            <a:avLst/>
          </a:prstGeom>
          <a:solidFill>
            <a:srgbClr val="15303A"/>
          </a:solidFill>
          <a:ln w="25400">
            <a:solidFill>
              <a:srgbClr val="FFFFFF"/>
            </a:solidFill>
            <a:prstDash val="solid"/>
          </a:ln>
        </p:spPr>
      </p:sp>
      <p:pic>
        <p:nvPicPr>
          <p:cNvPr id="14" name="Image 1" descr="bell ring icon">    </p:cNvPr>
          <p:cNvPicPr>
            <a:picLocks noChangeAspect="1"/>
          </p:cNvPicPr>
          <p:nvPr/>
        </p:nvPicPr>
        <p:blipFill>
          <a:blip r:embed="rId2"/>
          <a:stretch>
            <a:fillRect/>
          </a:stretch>
        </p:blipFill>
        <p:spPr>
          <a:xfrm>
            <a:off x="6610655" y="2386127"/>
            <a:ext cx="311810" cy="311810"/>
          </a:xfrm>
          <a:prstGeom prst="rect">
            <a:avLst/>
          </a:prstGeom>
        </p:spPr>
      </p:pic>
      <p:sp>
        <p:nvSpPr>
          <p:cNvPr id="15" name="Shape 11"/>
          <p:cNvSpPr/>
          <p:nvPr/>
        </p:nvSpPr>
        <p:spPr>
          <a:xfrm>
            <a:off x="3291840" y="3611880"/>
            <a:ext cx="3108960" cy="420624"/>
          </a:xfrm>
          <a:prstGeom prst="roundRect">
            <a:avLst>
              <a:gd name="adj" fmla="val 50000"/>
            </a:avLst>
          </a:prstGeom>
          <a:solidFill>
            <a:srgbClr val="DE5B33"/>
          </a:solidFill>
          <a:ln/>
        </p:spPr>
      </p:sp>
      <p:sp>
        <p:nvSpPr>
          <p:cNvPr id="16" name="Shape 12"/>
          <p:cNvSpPr/>
          <p:nvPr/>
        </p:nvSpPr>
        <p:spPr>
          <a:xfrm>
            <a:off x="3291840" y="3611880"/>
            <a:ext cx="1508760" cy="420624"/>
          </a:xfrm>
          <a:prstGeom prst="roundRect">
            <a:avLst>
              <a:gd name="adj" fmla="val 50000"/>
            </a:avLst>
          </a:prstGeom>
          <a:solidFill>
            <a:srgbClr val="1B7A6E"/>
          </a:solidFill>
          <a:ln/>
        </p:spPr>
      </p:sp>
      <p:sp>
        <p:nvSpPr>
          <p:cNvPr id="17" name="Text 13"/>
          <p:cNvSpPr txBox="1"/>
          <p:nvPr/>
        </p:nvSpPr>
        <p:spPr>
          <a:xfrm>
            <a:off x="4892040" y="3611880"/>
            <a:ext cx="141732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kept going</a:t>
            </a:r>
            <a:endParaRPr lang="en-US" sz="1300" dirty="0"/>
          </a:p>
        </p:txBody>
      </p:sp>
      <p:sp>
        <p:nvSpPr>
          <p:cNvPr id="18" name="Shape 14"/>
          <p:cNvSpPr/>
          <p:nvPr/>
        </p:nvSpPr>
        <p:spPr>
          <a:xfrm>
            <a:off x="4572000" y="3685032"/>
            <a:ext cx="274320" cy="274320"/>
          </a:xfrm>
          <a:prstGeom prst="ellipse">
            <a:avLst/>
          </a:prstGeom>
          <a:solidFill>
            <a:srgbClr val="FFFFFF"/>
          </a:solidFill>
          <a:ln w="31750">
            <a:solidFill>
              <a:srgbClr val="DE5B33"/>
            </a:solidFill>
            <a:prstDash val="solid"/>
          </a:ln>
        </p:spPr>
      </p:sp>
      <p:sp>
        <p:nvSpPr>
          <p:cNvPr id="19" name="Shape 15"/>
          <p:cNvSpPr/>
          <p:nvPr/>
        </p:nvSpPr>
        <p:spPr>
          <a:xfrm>
            <a:off x="4709160" y="3401568"/>
            <a:ext cx="0" cy="283464"/>
          </a:xfrm>
          <a:prstGeom prst="line">
            <a:avLst/>
          </a:prstGeom>
          <a:noFill/>
          <a:ln w="19050">
            <a:solidFill>
              <a:srgbClr val="DE5B33"/>
            </a:solidFill>
            <a:prstDash val="solid"/>
          </a:ln>
        </p:spPr>
      </p:sp>
      <p:sp>
        <p:nvSpPr>
          <p:cNvPr id="20" name="Shape 16"/>
          <p:cNvSpPr/>
          <p:nvPr/>
        </p:nvSpPr>
        <p:spPr>
          <a:xfrm>
            <a:off x="3840480" y="3035808"/>
            <a:ext cx="1737360" cy="365760"/>
          </a:xfrm>
          <a:prstGeom prst="roundRect">
            <a:avLst>
              <a:gd name="adj" fmla="val 50000"/>
            </a:avLst>
          </a:prstGeom>
          <a:solidFill>
            <a:srgbClr val="FCE9E1"/>
          </a:solidFill>
          <a:ln/>
        </p:spPr>
      </p:sp>
      <p:sp>
        <p:nvSpPr>
          <p:cNvPr id="21" name="Text 17"/>
          <p:cNvSpPr txBox="1"/>
          <p:nvPr/>
        </p:nvSpPr>
        <p:spPr>
          <a:xfrm>
            <a:off x="3840480" y="3035808"/>
            <a:ext cx="1737360" cy="365760"/>
          </a:xfrm>
          <a:prstGeom prst="rect">
            <a:avLst/>
          </a:prstGeom>
          <a:noFill/>
          <a:ln/>
        </p:spPr>
        <p:txBody>
          <a:bodyPr wrap="square" lIns="0" tIns="0" rIns="0" bIns="0" rtlCol="0" anchor="ctr"/>
          <a:lstStyle/>
          <a:p>
            <a:pPr algn="ctr" indent="0" marL="0">
              <a:buNone/>
            </a:pPr>
            <a:r>
              <a:rPr lang="en-US" sz="1400" b="1" i="1" dirty="0">
                <a:solidFill>
                  <a:srgbClr val="B4462A"/>
                </a:solidFill>
                <a:latin typeface="Calibri" pitchFamily="34" charset="0"/>
                <a:ea typeface="Calibri" pitchFamily="34" charset="-122"/>
                <a:cs typeface="Calibri" pitchFamily="34" charset="-120"/>
              </a:rPr>
              <a:t>“I should stop”</a:t>
            </a:r>
            <a:endParaRPr lang="en-US" sz="1400" dirty="0"/>
          </a:p>
        </p:txBody>
      </p:sp>
      <p:sp>
        <p:nvSpPr>
          <p:cNvPr id="22" name="Shape 18"/>
          <p:cNvSpPr/>
          <p:nvPr/>
        </p:nvSpPr>
        <p:spPr>
          <a:xfrm>
            <a:off x="6510528" y="3566160"/>
            <a:ext cx="512064" cy="512064"/>
          </a:xfrm>
          <a:prstGeom prst="ellipse">
            <a:avLst/>
          </a:prstGeom>
          <a:solidFill>
            <a:srgbClr val="FFFFFF"/>
          </a:solidFill>
          <a:ln w="15875">
            <a:solidFill>
              <a:srgbClr val="9AA9AE"/>
            </a:solidFill>
            <a:prstDash val="dash"/>
          </a:ln>
        </p:spPr>
      </p:sp>
      <p:pic>
        <p:nvPicPr>
          <p:cNvPr id="23" name="Image 2" descr="no alert icon">    </p:cNvPr>
          <p:cNvPicPr>
            <a:picLocks noChangeAspect="1"/>
          </p:cNvPicPr>
          <p:nvPr/>
        </p:nvPicPr>
        <p:blipFill>
          <a:blip r:embed="rId3"/>
          <a:stretch>
            <a:fillRect/>
          </a:stretch>
        </p:blipFill>
        <p:spPr>
          <a:xfrm>
            <a:off x="6629400" y="3685032"/>
            <a:ext cx="274320" cy="274320"/>
          </a:xfrm>
          <a:prstGeom prst="rect">
            <a:avLst/>
          </a:prstGeom>
        </p:spPr>
      </p:pic>
      <p:sp>
        <p:nvSpPr>
          <p:cNvPr id="24" name="Text 19"/>
          <p:cNvSpPr txBox="1"/>
          <p:nvPr/>
        </p:nvSpPr>
        <p:spPr>
          <a:xfrm>
            <a:off x="3291840" y="4151376"/>
            <a:ext cx="2286000" cy="256032"/>
          </a:xfrm>
          <a:prstGeom prst="rect">
            <a:avLst/>
          </a:prstGeom>
          <a:noFill/>
          <a:ln/>
        </p:spPr>
        <p:txBody>
          <a:bodyPr wrap="square" lIns="0" tIns="0" rIns="0" bIns="0" rtlCol="0" anchor="t"/>
          <a:lstStyle/>
          <a:p>
            <a:pPr indent="0" marL="0">
              <a:buNone/>
            </a:pPr>
            <a:r>
              <a:rPr lang="en-US" sz="1200" i="1" dirty="0">
                <a:solidFill>
                  <a:srgbClr val="5A6C73"/>
                </a:solidFill>
                <a:latin typeface="Calibri" pitchFamily="34" charset="0"/>
                <a:ea typeface="Calibri" pitchFamily="34" charset="-122"/>
                <a:cs typeface="Calibri" pitchFamily="34" charset="-120"/>
              </a:rPr>
              <a:t>Time in session  →</a:t>
            </a:r>
            <a:endParaRPr lang="en-US" sz="1200" dirty="0"/>
          </a:p>
        </p:txBody>
      </p:sp>
      <p:sp>
        <p:nvSpPr>
          <p:cNvPr id="25" name="Text 20"/>
          <p:cNvSpPr txBox="1"/>
          <p:nvPr/>
        </p:nvSpPr>
        <p:spPr>
          <a:xfrm>
            <a:off x="9189720" y="2231136"/>
            <a:ext cx="2148840" cy="621792"/>
          </a:xfrm>
          <a:prstGeom prst="rect">
            <a:avLst/>
          </a:prstGeom>
          <a:noFill/>
          <a:ln/>
        </p:spPr>
        <p:txBody>
          <a:bodyPr wrap="square" lIns="0" tIns="0" rIns="0" bIns="0" rtlCol="0" anchor="ctr"/>
          <a:lstStyle/>
          <a:p>
            <a:pPr indent="0" marL="0">
              <a:buNone/>
            </a:pPr>
            <a:r>
              <a:rPr lang="en-US" sz="1600" b="1" dirty="0">
                <a:solidFill>
                  <a:srgbClr val="15303A"/>
                </a:solidFill>
                <a:latin typeface="Calibri" pitchFamily="34" charset="0"/>
                <a:ea typeface="Calibri" pitchFamily="34" charset="-122"/>
                <a:cs typeface="Calibri" pitchFamily="34" charset="-120"/>
              </a:rPr>
              <a:t>Interrupts</a:t>
            </a:r>
            <a:endParaRPr lang="en-US" sz="1600" dirty="0"/>
          </a:p>
          <a:p>
            <a:pPr indent="0" marL="0">
              <a:buNone/>
            </a:pPr>
            <a:r>
              <a:rPr lang="en-US" sz="1600" b="1" dirty="0">
                <a:solidFill>
                  <a:srgbClr val="15303A"/>
                </a:solidFill>
                <a:latin typeface="Calibri" pitchFamily="34" charset="0"/>
                <a:ea typeface="Calibri" pitchFamily="34" charset="-122"/>
                <a:cs typeface="Calibri" pitchFamily="34" charset="-120"/>
              </a:rPr>
              <a:t>purposeful use</a:t>
            </a:r>
            <a:endParaRPr lang="en-US" sz="1600" dirty="0"/>
          </a:p>
        </p:txBody>
      </p:sp>
      <p:sp>
        <p:nvSpPr>
          <p:cNvPr id="26" name="Text 21"/>
          <p:cNvSpPr txBox="1"/>
          <p:nvPr/>
        </p:nvSpPr>
        <p:spPr>
          <a:xfrm>
            <a:off x="9189720" y="3511296"/>
            <a:ext cx="2148840" cy="621792"/>
          </a:xfrm>
          <a:prstGeom prst="rect">
            <a:avLst/>
          </a:prstGeom>
          <a:noFill/>
          <a:ln/>
        </p:spPr>
        <p:txBody>
          <a:bodyPr wrap="square" lIns="0" tIns="0" rIns="0" bIns="0" rtlCol="0" anchor="ctr"/>
          <a:lstStyle/>
          <a:p>
            <a:pPr indent="0" marL="0">
              <a:buNone/>
            </a:pPr>
            <a:r>
              <a:rPr lang="en-US" sz="1600" b="1" dirty="0">
                <a:solidFill>
                  <a:srgbClr val="B4462A"/>
                </a:solidFill>
                <a:latin typeface="Calibri" pitchFamily="34" charset="0"/>
                <a:ea typeface="Calibri" pitchFamily="34" charset="-122"/>
                <a:cs typeface="Calibri" pitchFamily="34" charset="-120"/>
              </a:rPr>
              <a:t>No alert when</a:t>
            </a:r>
            <a:endParaRPr lang="en-US" sz="1600" dirty="0"/>
          </a:p>
          <a:p>
            <a:pPr indent="0" marL="0">
              <a:buNone/>
            </a:pPr>
            <a:r>
              <a:rPr lang="en-US" sz="1600" b="1" dirty="0">
                <a:solidFill>
                  <a:srgbClr val="B4462A"/>
                </a:solidFill>
                <a:latin typeface="Calibri" pitchFamily="34" charset="0"/>
                <a:ea typeface="Calibri" pitchFamily="34" charset="-122"/>
                <a:cs typeface="Calibri" pitchFamily="34" charset="-120"/>
              </a:rPr>
              <a:t>help is wanted</a:t>
            </a:r>
            <a:endParaRPr lang="en-US" sz="1600" dirty="0"/>
          </a:p>
        </p:txBody>
      </p:sp>
      <p:sp>
        <p:nvSpPr>
          <p:cNvPr id="27" name="Shape 22"/>
          <p:cNvSpPr/>
          <p:nvPr/>
        </p:nvSpPr>
        <p:spPr>
          <a:xfrm>
            <a:off x="685800" y="4773168"/>
            <a:ext cx="6949440" cy="1261872"/>
          </a:xfrm>
          <a:prstGeom prst="roundRect">
            <a:avLst>
              <a:gd name="adj" fmla="val 10145"/>
            </a:avLst>
          </a:prstGeom>
          <a:solidFill>
            <a:srgbClr val="FFFFFF"/>
          </a:solidFill>
          <a:ln/>
          <a:effectLst>
            <a:outerShdw sx="100000" sy="100000" kx="0" ky="0" algn="bl" rotWithShape="0" blurRad="127000" dist="31750" dir="5400000">
              <a:srgbClr val="0B2A30">
                <a:alpha val="10000"/>
              </a:srgbClr>
            </a:outerShdw>
          </a:effectLst>
        </p:spPr>
      </p:sp>
      <p:sp>
        <p:nvSpPr>
          <p:cNvPr id="28" name="Shape 23"/>
          <p:cNvSpPr/>
          <p:nvPr/>
        </p:nvSpPr>
        <p:spPr>
          <a:xfrm>
            <a:off x="969264" y="5029200"/>
            <a:ext cx="749808" cy="749808"/>
          </a:xfrm>
          <a:prstGeom prst="ellipse">
            <a:avLst/>
          </a:prstGeom>
          <a:solidFill>
            <a:srgbClr val="FCE9E1"/>
          </a:solidFill>
          <a:ln/>
        </p:spPr>
      </p:sp>
      <p:pic>
        <p:nvPicPr>
          <p:cNvPr id="29" name="Image 3" descr="hand icon">    </p:cNvPr>
          <p:cNvPicPr>
            <a:picLocks noChangeAspect="1"/>
          </p:cNvPicPr>
          <p:nvPr/>
        </p:nvPicPr>
        <p:blipFill>
          <a:blip r:embed="rId4"/>
          <a:stretch>
            <a:fillRect/>
          </a:stretch>
        </p:blipFill>
        <p:spPr>
          <a:xfrm>
            <a:off x="1137971" y="5197907"/>
            <a:ext cx="412394" cy="412394"/>
          </a:xfrm>
          <a:prstGeom prst="rect">
            <a:avLst/>
          </a:prstGeom>
        </p:spPr>
      </p:pic>
      <p:sp>
        <p:nvSpPr>
          <p:cNvPr id="30" name="Text 24"/>
          <p:cNvSpPr txBox="1"/>
          <p:nvPr/>
        </p:nvSpPr>
        <p:spPr>
          <a:xfrm>
            <a:off x="1920240" y="4956048"/>
            <a:ext cx="5486400" cy="896112"/>
          </a:xfrm>
          <a:prstGeom prst="rect">
            <a:avLst/>
          </a:prstGeom>
          <a:noFill/>
          <a:ln/>
        </p:spPr>
        <p:txBody>
          <a:bodyPr wrap="square" lIns="0" tIns="0" rIns="0" bIns="0" rtlCol="0" anchor="ctr"/>
          <a:lstStyle/>
          <a:p>
            <a:pPr indent="0" marL="0">
              <a:spcAft>
                <a:spcPts val="300"/>
              </a:spcAft>
              <a:buNone/>
            </a:pPr>
            <a:r>
              <a:rPr lang="en-US" sz="1800" b="1" dirty="0">
                <a:solidFill>
                  <a:srgbClr val="15303A"/>
                </a:solidFill>
                <a:latin typeface="Calibri" pitchFamily="34" charset="0"/>
                <a:ea typeface="Calibri" pitchFamily="34" charset="-122"/>
                <a:cs typeface="Calibri" pitchFamily="34" charset="-120"/>
              </a:rPr>
              <a:t>The intention–behavior gap</a:t>
            </a:r>
            <a:endParaRPr lang="en-US" sz="1600" dirty="0"/>
          </a:p>
          <a:p>
            <a:pPr indent="0" marL="0">
              <a:spcAft>
                <a:spcPts val="300"/>
              </a:spcAft>
              <a:buNone/>
            </a:pPr>
            <a:r>
              <a:rPr lang="en-US" sz="1500" dirty="0">
                <a:solidFill>
                  <a:srgbClr val="15303A"/>
                </a:solidFill>
                <a:latin typeface="Calibri" pitchFamily="34" charset="0"/>
                <a:ea typeface="Calibri" pitchFamily="34" charset="-122"/>
                <a:cs typeface="Calibri" pitchFamily="34" charset="-120"/>
              </a:rPr>
              <a:t>Within one session, you feel you should stop, yet keep using the phone. That moment, not total screen time, is our target.</a:t>
            </a:r>
            <a:endParaRPr lang="en-US" sz="1600" dirty="0"/>
          </a:p>
        </p:txBody>
      </p:sp>
      <p:sp>
        <p:nvSpPr>
          <p:cNvPr id="31" name="Shape 25"/>
          <p:cNvSpPr/>
          <p:nvPr/>
        </p:nvSpPr>
        <p:spPr>
          <a:xfrm>
            <a:off x="7909560" y="4773168"/>
            <a:ext cx="3596335" cy="1261872"/>
          </a:xfrm>
          <a:prstGeom prst="roundRect">
            <a:avLst>
              <a:gd name="adj" fmla="val 10145"/>
            </a:avLst>
          </a:prstGeom>
          <a:solidFill>
            <a:srgbClr val="FCE9E1"/>
          </a:solidFill>
          <a:ln/>
        </p:spPr>
      </p:sp>
      <p:sp>
        <p:nvSpPr>
          <p:cNvPr id="32" name="Text 26"/>
          <p:cNvSpPr txBox="1"/>
          <p:nvPr/>
        </p:nvSpPr>
        <p:spPr>
          <a:xfrm>
            <a:off x="8183880" y="4901184"/>
            <a:ext cx="3047695" cy="566928"/>
          </a:xfrm>
          <a:prstGeom prst="rect">
            <a:avLst/>
          </a:prstGeom>
          <a:noFill/>
          <a:ln/>
        </p:spPr>
        <p:txBody>
          <a:bodyPr wrap="square" lIns="0" tIns="0" rIns="0" bIns="0" rtlCol="0" anchor="ctr"/>
          <a:lstStyle/>
          <a:p>
            <a:pPr indent="0" marL="0">
              <a:buNone/>
            </a:pPr>
            <a:r>
              <a:rPr lang="en-US" sz="3400" b="1" dirty="0">
                <a:solidFill>
                  <a:srgbClr val="B4462A"/>
                </a:solidFill>
                <a:latin typeface="Calibri" pitchFamily="34" charset="0"/>
                <a:ea typeface="Calibri" pitchFamily="34" charset="-122"/>
                <a:cs typeface="Calibri" pitchFamily="34" charset="-120"/>
              </a:rPr>
              <a:t>14.9%</a:t>
            </a:r>
            <a:endParaRPr lang="en-US" sz="3400" dirty="0"/>
          </a:p>
        </p:txBody>
      </p:sp>
      <p:sp>
        <p:nvSpPr>
          <p:cNvPr id="33" name="Text 27"/>
          <p:cNvSpPr txBox="1"/>
          <p:nvPr/>
        </p:nvSpPr>
        <p:spPr>
          <a:xfrm>
            <a:off x="8183880" y="5468112"/>
            <a:ext cx="3139135" cy="457200"/>
          </a:xfrm>
          <a:prstGeom prst="rect">
            <a:avLst/>
          </a:prstGeom>
          <a:noFill/>
          <a:ln/>
        </p:spPr>
        <p:txBody>
          <a:bodyPr wrap="square" lIns="0" tIns="0" rIns="0" bIns="0" rtlCol="0" anchor="t"/>
          <a:lstStyle/>
          <a:p>
            <a:pPr indent="0" marL="0">
              <a:buNone/>
            </a:pPr>
            <a:r>
              <a:rPr lang="en-US" sz="1300" dirty="0">
                <a:solidFill>
                  <a:srgbClr val="15303A"/>
                </a:solidFill>
                <a:latin typeface="Calibri" pitchFamily="34" charset="0"/>
                <a:ea typeface="Calibri" pitchFamily="34" charset="-122"/>
                <a:cs typeface="Calibri" pitchFamily="34" charset="-120"/>
              </a:rPr>
              <a:t>of AwareMind check-ins leaned toward “stop”, yet phone use went on for over 5 minutes</a:t>
            </a:r>
            <a:endParaRPr lang="en-US" sz="1300" dirty="0"/>
          </a:p>
        </p:txBody>
      </p:sp>
      <p:sp>
        <p:nvSpPr>
          <p:cNvPr id="34" name="Text 28"/>
          <p:cNvSpPr txBox="1"/>
          <p:nvPr/>
        </p:nvSpPr>
        <p:spPr>
          <a:xfrm>
            <a:off x="685800" y="6336792"/>
            <a:ext cx="10820095" cy="237744"/>
          </a:xfrm>
          <a:prstGeom prst="rect">
            <a:avLst/>
          </a:prstGeom>
          <a:noFill/>
          <a:ln/>
        </p:spPr>
        <p:txBody>
          <a:bodyPr wrap="square" lIns="0" tIns="0" rIns="0" bIns="0" rtlCol="0" anchor="ctr"/>
          <a:lstStyle/>
          <a:p>
            <a:pPr indent="0" marL="0">
              <a:buNone/>
            </a:pPr>
            <a:r>
              <a:rPr lang="en-US" sz="1050" dirty="0">
                <a:solidFill>
                  <a:srgbClr val="5A6C73"/>
                </a:solidFill>
                <a:latin typeface="Calibri" pitchFamily="34" charset="0"/>
                <a:ea typeface="Calibri" pitchFamily="34" charset="-122"/>
                <a:cs typeface="Calibri" pitchFamily="34" charset="-120"/>
              </a:rPr>
              <a:t>Source: Zheng &amp; Choe (2026), </a:t>
            </a:r>
            <a:pPr indent="0" marL="0">
              <a:buNone/>
            </a:pPr>
            <a:r>
              <a:rPr lang="en-US" sz="1050" u="sng" dirty="0">
                <a:solidFill>
                  <a:srgbClr val="5A6C7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arxiv.org/html/2609.08909v1</a:t>
            </a:r>
            <a:pPr indent="0" marL="0">
              <a:buNone/>
            </a:pPr>
            <a:r>
              <a:rPr lang="en-US" sz="1050" dirty="0">
                <a:solidFill>
                  <a:srgbClr val="5A6C73"/>
                </a:solidFill>
                <a:latin typeface="Calibri" pitchFamily="34" charset="0"/>
                <a:ea typeface="Calibri" pitchFamily="34" charset="-122"/>
                <a:cs typeface="Calibri" pitchFamily="34" charset="-120"/>
              </a:rPr>
              <a:t>  ·  14.9% uses the paper’s example cut-offs: rating below 5.5 of 10 and over 5 minutes of further use.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300" b="1" spc="200" kern="0" dirty="0">
                <a:solidFill>
                  <a:srgbClr val="1B7A6E"/>
                </a:solidFill>
                <a:latin typeface="Calibri" pitchFamily="34" charset="0"/>
                <a:ea typeface="Calibri" pitchFamily="34" charset="-122"/>
                <a:cs typeface="Calibri" pitchFamily="34" charset="-120"/>
              </a:rPr>
              <a:t>03  ·  OUR PROPOSED SOLUTION</a:t>
            </a:r>
            <a:endParaRPr lang="en-US" sz="1300" dirty="0"/>
          </a:p>
        </p:txBody>
      </p:sp>
      <p:sp>
        <p:nvSpPr>
          <p:cNvPr id="3" name="Text 1"/>
          <p:cNvSpPr txBox="1"/>
          <p:nvPr/>
        </p:nvSpPr>
        <p:spPr>
          <a:xfrm>
            <a:off x="685800" y="731520"/>
            <a:ext cx="10820095" cy="658368"/>
          </a:xfrm>
          <a:prstGeom prst="rect">
            <a:avLst/>
          </a:prstGeom>
          <a:noFill/>
          <a:ln/>
        </p:spPr>
        <p:txBody>
          <a:bodyPr wrap="square" lIns="0" tIns="0" rIns="0" bIns="0" rtlCol="0" anchor="ctr"/>
          <a:lstStyle/>
          <a:p>
            <a:pPr indent="0" marL="0">
              <a:buNone/>
            </a:pPr>
            <a:r>
              <a:rPr lang="en-US" sz="3400" b="1" dirty="0">
                <a:solidFill>
                  <a:srgbClr val="15303A"/>
                </a:solidFill>
                <a:latin typeface="Georgia" pitchFamily="34" charset="0"/>
                <a:ea typeface="Georgia" pitchFamily="34" charset="-122"/>
                <a:cs typeface="Georgia" pitchFamily="34" charset="-120"/>
              </a:rPr>
              <a:t>A coach that speaks up only when confident</a:t>
            </a:r>
            <a:endParaRPr lang="en-US" sz="3400" dirty="0"/>
          </a:p>
        </p:txBody>
      </p:sp>
      <p:sp>
        <p:nvSpPr>
          <p:cNvPr id="4" name="Shape 2"/>
          <p:cNvSpPr/>
          <p:nvPr/>
        </p:nvSpPr>
        <p:spPr>
          <a:xfrm>
            <a:off x="685800"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5" name="Shape 3"/>
          <p:cNvSpPr/>
          <p:nvPr/>
        </p:nvSpPr>
        <p:spPr>
          <a:xfrm>
            <a:off x="914400" y="2057400"/>
            <a:ext cx="731520" cy="731520"/>
          </a:xfrm>
          <a:prstGeom prst="ellipse">
            <a:avLst/>
          </a:prstGeom>
          <a:solidFill>
            <a:srgbClr val="E3F1EE"/>
          </a:solidFill>
          <a:ln/>
        </p:spPr>
      </p:sp>
      <p:pic>
        <p:nvPicPr>
          <p:cNvPr id="6" name="Image 0" descr="sliders horizontal icon">    </p:cNvPr>
          <p:cNvPicPr>
            <a:picLocks noChangeAspect="1"/>
          </p:cNvPicPr>
          <p:nvPr/>
        </p:nvPicPr>
        <p:blipFill>
          <a:blip r:embed="rId1"/>
          <a:stretch>
            <a:fillRect/>
          </a:stretch>
        </p:blipFill>
        <p:spPr>
          <a:xfrm>
            <a:off x="1078992" y="2221992"/>
            <a:ext cx="402336" cy="402336"/>
          </a:xfrm>
          <a:prstGeom prst="rect">
            <a:avLst/>
          </a:prstGeom>
        </p:spPr>
      </p:pic>
      <p:sp>
        <p:nvSpPr>
          <p:cNvPr id="7" name="Text 4"/>
          <p:cNvSpPr txBox="1"/>
          <p:nvPr/>
        </p:nvSpPr>
        <p:spPr>
          <a:xfrm>
            <a:off x="2256968" y="2039112"/>
            <a:ext cx="685800" cy="457200"/>
          </a:xfrm>
          <a:prstGeom prst="rect">
            <a:avLst/>
          </a:prstGeom>
          <a:noFill/>
          <a:ln/>
        </p:spPr>
        <p:txBody>
          <a:bodyPr wrap="square" lIns="0" tIns="0" rIns="0" bIns="0" rtlCol="0" anchor="t"/>
          <a:lstStyle/>
          <a:p>
            <a:pPr algn="r" indent="0" marL="0">
              <a:buNone/>
            </a:pPr>
            <a:r>
              <a:rPr lang="en-US" sz="2400" b="1" dirty="0">
                <a:solidFill>
                  <a:srgbClr val="C3D6D1"/>
                </a:solidFill>
                <a:latin typeface="Calibri" pitchFamily="34" charset="0"/>
                <a:ea typeface="Calibri" pitchFamily="34" charset="-122"/>
                <a:cs typeface="Calibri" pitchFamily="34" charset="-120"/>
              </a:rPr>
              <a:t>01</a:t>
            </a:r>
            <a:endParaRPr lang="en-US" sz="2400" dirty="0"/>
          </a:p>
        </p:txBody>
      </p:sp>
      <p:sp>
        <p:nvSpPr>
          <p:cNvPr id="8" name="Text 5"/>
          <p:cNvSpPr txBox="1"/>
          <p:nvPr/>
        </p:nvSpPr>
        <p:spPr>
          <a:xfrm>
            <a:off x="914400" y="2990088"/>
            <a:ext cx="2028368" cy="384048"/>
          </a:xfrm>
          <a:prstGeom prst="rect">
            <a:avLst/>
          </a:prstGeom>
          <a:noFill/>
          <a:ln/>
        </p:spPr>
        <p:txBody>
          <a:bodyPr wrap="square" lIns="0" tIns="0" rIns="0" bIns="0" rtlCol="0" anchor="t"/>
          <a:lstStyle/>
          <a:p>
            <a:pPr indent="0" marL="0">
              <a:buNone/>
            </a:pPr>
            <a:r>
              <a:rPr lang="en-US" sz="2000" b="1" dirty="0">
                <a:solidFill>
                  <a:srgbClr val="15303A"/>
                </a:solidFill>
                <a:latin typeface="Calibri" pitchFamily="34" charset="0"/>
                <a:ea typeface="Calibri" pitchFamily="34" charset="-122"/>
                <a:cs typeface="Calibri" pitchFamily="34" charset="-120"/>
              </a:rPr>
              <a:t>Opt in</a:t>
            </a:r>
            <a:endParaRPr lang="en-US" sz="2000" dirty="0"/>
          </a:p>
        </p:txBody>
      </p:sp>
      <p:sp>
        <p:nvSpPr>
          <p:cNvPr id="9" name="Text 6"/>
          <p:cNvSpPr txBox="1"/>
          <p:nvPr/>
        </p:nvSpPr>
        <p:spPr>
          <a:xfrm>
            <a:off x="914400" y="3447288"/>
            <a:ext cx="2074088" cy="1051560"/>
          </a:xfrm>
          <a:prstGeom prst="rect">
            <a:avLst/>
          </a:prstGeom>
          <a:noFill/>
          <a:ln/>
        </p:spPr>
        <p:txBody>
          <a:bodyPr wrap="square" lIns="0" tIns="0" rIns="0" bIns="0" rtlCol="0" anchor="t"/>
          <a:lstStyle/>
          <a:p>
            <a:pPr indent="0" marL="0">
              <a:lnSpc>
                <a:spcPct val="105000"/>
              </a:lnSpc>
              <a:buNone/>
            </a:pPr>
            <a:r>
              <a:rPr lang="en-US" sz="1500" dirty="0">
                <a:solidFill>
                  <a:srgbClr val="15303A"/>
                </a:solidFill>
                <a:latin typeface="Calibri" pitchFamily="34" charset="0"/>
                <a:ea typeface="Calibri" pitchFamily="34" charset="-122"/>
                <a:cs typeface="Calibri" pitchFamily="34" charset="-120"/>
              </a:rPr>
              <a:t>Pick a few alternatives you enjoy: a walk, a stretch.</a:t>
            </a:r>
            <a:endParaRPr lang="en-US" sz="1500" dirty="0"/>
          </a:p>
        </p:txBody>
      </p:sp>
      <p:sp>
        <p:nvSpPr>
          <p:cNvPr id="10" name="Shape 7"/>
          <p:cNvSpPr/>
          <p:nvPr/>
        </p:nvSpPr>
        <p:spPr>
          <a:xfrm>
            <a:off x="3116504" y="2221992"/>
            <a:ext cx="402336" cy="402336"/>
          </a:xfrm>
          <a:prstGeom prst="ellipse">
            <a:avLst/>
          </a:prstGeom>
          <a:solidFill>
            <a:srgbClr val="FFFFFF"/>
          </a:solidFill>
          <a:ln w="12700">
            <a:solidFill>
              <a:srgbClr val="CFDDD9"/>
            </a:solidFill>
            <a:prstDash val="solid"/>
          </a:ln>
        </p:spPr>
      </p:sp>
      <p:pic>
        <p:nvPicPr>
          <p:cNvPr id="11" name="Image 1" descr="arrow right icon">    </p:cNvPr>
          <p:cNvPicPr>
            <a:picLocks noChangeAspect="1"/>
          </p:cNvPicPr>
          <p:nvPr/>
        </p:nvPicPr>
        <p:blipFill>
          <a:blip r:embed="rId2"/>
          <a:stretch>
            <a:fillRect/>
          </a:stretch>
        </p:blipFill>
        <p:spPr>
          <a:xfrm>
            <a:off x="3207029" y="2312518"/>
            <a:ext cx="221285" cy="221285"/>
          </a:xfrm>
          <a:prstGeom prst="rect">
            <a:avLst/>
          </a:prstGeom>
        </p:spPr>
      </p:pic>
      <p:sp>
        <p:nvSpPr>
          <p:cNvPr id="12" name="Shape 8"/>
          <p:cNvSpPr/>
          <p:nvPr/>
        </p:nvSpPr>
        <p:spPr>
          <a:xfrm>
            <a:off x="3463976"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13" name="Shape 9"/>
          <p:cNvSpPr/>
          <p:nvPr/>
        </p:nvSpPr>
        <p:spPr>
          <a:xfrm>
            <a:off x="3692576" y="2057400"/>
            <a:ext cx="731520" cy="731520"/>
          </a:xfrm>
          <a:prstGeom prst="ellipse">
            <a:avLst/>
          </a:prstGeom>
          <a:solidFill>
            <a:srgbClr val="E3F1EE"/>
          </a:solidFill>
          <a:ln/>
        </p:spPr>
      </p:sp>
      <p:pic>
        <p:nvPicPr>
          <p:cNvPr id="14" name="Image 2" descr="smartphone icon">    </p:cNvPr>
          <p:cNvPicPr>
            <a:picLocks noChangeAspect="1"/>
          </p:cNvPicPr>
          <p:nvPr/>
        </p:nvPicPr>
        <p:blipFill>
          <a:blip r:embed="rId3"/>
          <a:stretch>
            <a:fillRect/>
          </a:stretch>
        </p:blipFill>
        <p:spPr>
          <a:xfrm>
            <a:off x="3857168" y="2221992"/>
            <a:ext cx="402336" cy="402336"/>
          </a:xfrm>
          <a:prstGeom prst="rect">
            <a:avLst/>
          </a:prstGeom>
        </p:spPr>
      </p:pic>
      <p:sp>
        <p:nvSpPr>
          <p:cNvPr id="15" name="Text 10"/>
          <p:cNvSpPr txBox="1"/>
          <p:nvPr/>
        </p:nvSpPr>
        <p:spPr>
          <a:xfrm>
            <a:off x="5035144" y="2039112"/>
            <a:ext cx="685800" cy="457200"/>
          </a:xfrm>
          <a:prstGeom prst="rect">
            <a:avLst/>
          </a:prstGeom>
          <a:noFill/>
          <a:ln/>
        </p:spPr>
        <p:txBody>
          <a:bodyPr wrap="square" lIns="0" tIns="0" rIns="0" bIns="0" rtlCol="0" anchor="t"/>
          <a:lstStyle/>
          <a:p>
            <a:pPr algn="r" indent="0" marL="0">
              <a:buNone/>
            </a:pPr>
            <a:r>
              <a:rPr lang="en-US" sz="2400" b="1" dirty="0">
                <a:solidFill>
                  <a:srgbClr val="C3D6D1"/>
                </a:solidFill>
                <a:latin typeface="Calibri" pitchFamily="34" charset="0"/>
                <a:ea typeface="Calibri" pitchFamily="34" charset="-122"/>
                <a:cs typeface="Calibri" pitchFamily="34" charset="-120"/>
              </a:rPr>
              <a:t>02</a:t>
            </a:r>
            <a:endParaRPr lang="en-US" sz="2400" dirty="0"/>
          </a:p>
        </p:txBody>
      </p:sp>
      <p:sp>
        <p:nvSpPr>
          <p:cNvPr id="16" name="Text 11"/>
          <p:cNvSpPr txBox="1"/>
          <p:nvPr/>
        </p:nvSpPr>
        <p:spPr>
          <a:xfrm>
            <a:off x="3692576" y="2990088"/>
            <a:ext cx="2028368" cy="384048"/>
          </a:xfrm>
          <a:prstGeom prst="rect">
            <a:avLst/>
          </a:prstGeom>
          <a:noFill/>
          <a:ln/>
        </p:spPr>
        <p:txBody>
          <a:bodyPr wrap="square" lIns="0" tIns="0" rIns="0" bIns="0" rtlCol="0" anchor="t"/>
          <a:lstStyle/>
          <a:p>
            <a:pPr indent="0" marL="0">
              <a:buNone/>
            </a:pPr>
            <a:r>
              <a:rPr lang="en-US" sz="2000" b="1" dirty="0">
                <a:solidFill>
                  <a:srgbClr val="15303A"/>
                </a:solidFill>
                <a:latin typeface="Calibri" pitchFamily="34" charset="0"/>
                <a:ea typeface="Calibri" pitchFamily="34" charset="-122"/>
                <a:cs typeface="Calibri" pitchFamily="34" charset="-120"/>
              </a:rPr>
              <a:t>Read context</a:t>
            </a:r>
            <a:endParaRPr lang="en-US" sz="2000" dirty="0"/>
          </a:p>
        </p:txBody>
      </p:sp>
      <p:sp>
        <p:nvSpPr>
          <p:cNvPr id="17" name="Text 12"/>
          <p:cNvSpPr txBox="1"/>
          <p:nvPr/>
        </p:nvSpPr>
        <p:spPr>
          <a:xfrm>
            <a:off x="3692576" y="3447288"/>
            <a:ext cx="2074088" cy="1051560"/>
          </a:xfrm>
          <a:prstGeom prst="rect">
            <a:avLst/>
          </a:prstGeom>
          <a:noFill/>
          <a:ln/>
        </p:spPr>
        <p:txBody>
          <a:bodyPr wrap="square" lIns="0" tIns="0" rIns="0" bIns="0" rtlCol="0" anchor="t"/>
          <a:lstStyle/>
          <a:p>
            <a:pPr indent="0" marL="0">
              <a:lnSpc>
                <a:spcPct val="105000"/>
              </a:lnSpc>
              <a:buNone/>
            </a:pPr>
            <a:r>
              <a:rPr lang="en-US" sz="1500" dirty="0">
                <a:solidFill>
                  <a:srgbClr val="15303A"/>
                </a:solidFill>
                <a:latin typeface="Calibri" pitchFamily="34" charset="0"/>
                <a:ea typeface="Calibri" pitchFamily="34" charset="-122"/>
                <a:cs typeface="Calibri" pitchFamily="34" charset="-120"/>
              </a:rPr>
              <a:t>Only what’s known so far: time, app type, minutes used, taps, past sessions.</a:t>
            </a:r>
            <a:endParaRPr lang="en-US" sz="1500" dirty="0"/>
          </a:p>
        </p:txBody>
      </p:sp>
      <p:sp>
        <p:nvSpPr>
          <p:cNvPr id="18" name="Shape 13"/>
          <p:cNvSpPr/>
          <p:nvPr/>
        </p:nvSpPr>
        <p:spPr>
          <a:xfrm>
            <a:off x="5894680" y="2221992"/>
            <a:ext cx="402336" cy="402336"/>
          </a:xfrm>
          <a:prstGeom prst="ellipse">
            <a:avLst/>
          </a:prstGeom>
          <a:solidFill>
            <a:srgbClr val="FFFFFF"/>
          </a:solidFill>
          <a:ln w="12700">
            <a:solidFill>
              <a:srgbClr val="CFDDD9"/>
            </a:solidFill>
            <a:prstDash val="solid"/>
          </a:ln>
        </p:spPr>
      </p:sp>
      <p:pic>
        <p:nvPicPr>
          <p:cNvPr id="19" name="Image 3" descr="arrow right icon">    </p:cNvPr>
          <p:cNvPicPr>
            <a:picLocks noChangeAspect="1"/>
          </p:cNvPicPr>
          <p:nvPr/>
        </p:nvPicPr>
        <p:blipFill>
          <a:blip r:embed="rId4"/>
          <a:stretch>
            <a:fillRect/>
          </a:stretch>
        </p:blipFill>
        <p:spPr>
          <a:xfrm>
            <a:off x="5985205" y="2312518"/>
            <a:ext cx="221285" cy="221285"/>
          </a:xfrm>
          <a:prstGeom prst="rect">
            <a:avLst/>
          </a:prstGeom>
        </p:spPr>
      </p:pic>
      <p:sp>
        <p:nvSpPr>
          <p:cNvPr id="20" name="Shape 14"/>
          <p:cNvSpPr/>
          <p:nvPr/>
        </p:nvSpPr>
        <p:spPr>
          <a:xfrm>
            <a:off x="6242152"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21" name="Shape 15"/>
          <p:cNvSpPr/>
          <p:nvPr/>
        </p:nvSpPr>
        <p:spPr>
          <a:xfrm>
            <a:off x="6470752" y="2057400"/>
            <a:ext cx="731520" cy="731520"/>
          </a:xfrm>
          <a:prstGeom prst="ellipse">
            <a:avLst/>
          </a:prstGeom>
          <a:solidFill>
            <a:srgbClr val="FCE9E1"/>
          </a:solidFill>
          <a:ln/>
        </p:spPr>
      </p:sp>
      <p:pic>
        <p:nvPicPr>
          <p:cNvPr id="22" name="Image 4" descr="gauge icon">    </p:cNvPr>
          <p:cNvPicPr>
            <a:picLocks noChangeAspect="1"/>
          </p:cNvPicPr>
          <p:nvPr/>
        </p:nvPicPr>
        <p:blipFill>
          <a:blip r:embed="rId5"/>
          <a:stretch>
            <a:fillRect/>
          </a:stretch>
        </p:blipFill>
        <p:spPr>
          <a:xfrm>
            <a:off x="6635344" y="2221992"/>
            <a:ext cx="402336" cy="402336"/>
          </a:xfrm>
          <a:prstGeom prst="rect">
            <a:avLst/>
          </a:prstGeom>
        </p:spPr>
      </p:pic>
      <p:sp>
        <p:nvSpPr>
          <p:cNvPr id="23" name="Text 16"/>
          <p:cNvSpPr txBox="1"/>
          <p:nvPr/>
        </p:nvSpPr>
        <p:spPr>
          <a:xfrm>
            <a:off x="7813319" y="2039112"/>
            <a:ext cx="685800" cy="457200"/>
          </a:xfrm>
          <a:prstGeom prst="rect">
            <a:avLst/>
          </a:prstGeom>
          <a:noFill/>
          <a:ln/>
        </p:spPr>
        <p:txBody>
          <a:bodyPr wrap="square" lIns="0" tIns="0" rIns="0" bIns="0" rtlCol="0" anchor="t"/>
          <a:lstStyle/>
          <a:p>
            <a:pPr algn="r" indent="0" marL="0">
              <a:buNone/>
            </a:pPr>
            <a:r>
              <a:rPr lang="en-US" sz="2400" b="1" dirty="0">
                <a:solidFill>
                  <a:srgbClr val="C3D6D1"/>
                </a:solidFill>
                <a:latin typeface="Calibri" pitchFamily="34" charset="0"/>
                <a:ea typeface="Calibri" pitchFamily="34" charset="-122"/>
                <a:cs typeface="Calibri" pitchFamily="34" charset="-120"/>
              </a:rPr>
              <a:t>03</a:t>
            </a:r>
            <a:endParaRPr lang="en-US" sz="2400" dirty="0"/>
          </a:p>
        </p:txBody>
      </p:sp>
      <p:sp>
        <p:nvSpPr>
          <p:cNvPr id="24" name="Text 17"/>
          <p:cNvSpPr txBox="1"/>
          <p:nvPr/>
        </p:nvSpPr>
        <p:spPr>
          <a:xfrm>
            <a:off x="6470752" y="2990088"/>
            <a:ext cx="2028368" cy="384048"/>
          </a:xfrm>
          <a:prstGeom prst="rect">
            <a:avLst/>
          </a:prstGeom>
          <a:noFill/>
          <a:ln/>
        </p:spPr>
        <p:txBody>
          <a:bodyPr wrap="square" lIns="0" tIns="0" rIns="0" bIns="0" rtlCol="0" anchor="t"/>
          <a:lstStyle/>
          <a:p>
            <a:pPr indent="0" marL="0">
              <a:buNone/>
            </a:pPr>
            <a:r>
              <a:rPr lang="en-US" sz="2000" b="1" dirty="0">
                <a:solidFill>
                  <a:srgbClr val="B4462A"/>
                </a:solidFill>
                <a:latin typeface="Calibri" pitchFamily="34" charset="0"/>
                <a:ea typeface="Calibri" pitchFamily="34" charset="-122"/>
                <a:cs typeface="Calibri" pitchFamily="34" charset="-120"/>
              </a:rPr>
              <a:t>Estimate the gap</a:t>
            </a:r>
            <a:endParaRPr lang="en-US" sz="2000" dirty="0"/>
          </a:p>
        </p:txBody>
      </p:sp>
      <p:sp>
        <p:nvSpPr>
          <p:cNvPr id="25" name="Text 18"/>
          <p:cNvSpPr txBox="1"/>
          <p:nvPr/>
        </p:nvSpPr>
        <p:spPr>
          <a:xfrm>
            <a:off x="6470752" y="3447288"/>
            <a:ext cx="2074088" cy="1051560"/>
          </a:xfrm>
          <a:prstGeom prst="rect">
            <a:avLst/>
          </a:prstGeom>
          <a:noFill/>
          <a:ln/>
        </p:spPr>
        <p:txBody>
          <a:bodyPr wrap="square" lIns="0" tIns="0" rIns="0" bIns="0" rtlCol="0" anchor="t"/>
          <a:lstStyle/>
          <a:p>
            <a:pPr indent="0" marL="0">
              <a:lnSpc>
                <a:spcPct val="105000"/>
              </a:lnSpc>
              <a:buNone/>
            </a:pPr>
            <a:r>
              <a:rPr lang="en-US" sz="1500" dirty="0">
                <a:solidFill>
                  <a:srgbClr val="15303A"/>
                </a:solidFill>
                <a:latin typeface="Calibri" pitchFamily="34" charset="0"/>
                <a:ea typeface="Calibri" pitchFamily="34" charset="-122"/>
                <a:cs typeface="Calibri" pitchFamily="34" charset="-120"/>
              </a:rPr>
              <a:t>How likely you are to want to stop, yet keep going.</a:t>
            </a:r>
            <a:endParaRPr lang="en-US" sz="1500" dirty="0"/>
          </a:p>
        </p:txBody>
      </p:sp>
      <p:sp>
        <p:nvSpPr>
          <p:cNvPr id="26" name="Shape 19"/>
          <p:cNvSpPr/>
          <p:nvPr/>
        </p:nvSpPr>
        <p:spPr>
          <a:xfrm>
            <a:off x="8672855" y="2221992"/>
            <a:ext cx="402336" cy="402336"/>
          </a:xfrm>
          <a:prstGeom prst="ellipse">
            <a:avLst/>
          </a:prstGeom>
          <a:solidFill>
            <a:srgbClr val="FFFFFF"/>
          </a:solidFill>
          <a:ln w="12700">
            <a:solidFill>
              <a:srgbClr val="CFDDD9"/>
            </a:solidFill>
            <a:prstDash val="solid"/>
          </a:ln>
        </p:spPr>
      </p:sp>
      <p:pic>
        <p:nvPicPr>
          <p:cNvPr id="27" name="Image 5" descr="arrow right icon">    </p:cNvPr>
          <p:cNvPicPr>
            <a:picLocks noChangeAspect="1"/>
          </p:cNvPicPr>
          <p:nvPr/>
        </p:nvPicPr>
        <p:blipFill>
          <a:blip r:embed="rId6"/>
          <a:stretch>
            <a:fillRect/>
          </a:stretch>
        </p:blipFill>
        <p:spPr>
          <a:xfrm>
            <a:off x="8763381" y="2312518"/>
            <a:ext cx="221285" cy="221285"/>
          </a:xfrm>
          <a:prstGeom prst="rect">
            <a:avLst/>
          </a:prstGeom>
        </p:spPr>
      </p:pic>
      <p:sp>
        <p:nvSpPr>
          <p:cNvPr id="28" name="Shape 20"/>
          <p:cNvSpPr/>
          <p:nvPr/>
        </p:nvSpPr>
        <p:spPr>
          <a:xfrm>
            <a:off x="9020327"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29" name="Shape 21"/>
          <p:cNvSpPr/>
          <p:nvPr/>
        </p:nvSpPr>
        <p:spPr>
          <a:xfrm>
            <a:off x="9248927" y="2057400"/>
            <a:ext cx="731520" cy="731520"/>
          </a:xfrm>
          <a:prstGeom prst="ellipse">
            <a:avLst/>
          </a:prstGeom>
          <a:solidFill>
            <a:srgbClr val="E3F1EE"/>
          </a:solidFill>
          <a:ln/>
        </p:spPr>
      </p:sp>
      <p:pic>
        <p:nvPicPr>
          <p:cNvPr id="30" name="Image 6" descr="message circle heart icon">    </p:cNvPr>
          <p:cNvPicPr>
            <a:picLocks noChangeAspect="1"/>
          </p:cNvPicPr>
          <p:nvPr/>
        </p:nvPicPr>
        <p:blipFill>
          <a:blip r:embed="rId7"/>
          <a:stretch>
            <a:fillRect/>
          </a:stretch>
        </p:blipFill>
        <p:spPr>
          <a:xfrm>
            <a:off x="9413519" y="2221992"/>
            <a:ext cx="402336" cy="402336"/>
          </a:xfrm>
          <a:prstGeom prst="rect">
            <a:avLst/>
          </a:prstGeom>
        </p:spPr>
      </p:pic>
      <p:sp>
        <p:nvSpPr>
          <p:cNvPr id="31" name="Text 22"/>
          <p:cNvSpPr txBox="1"/>
          <p:nvPr/>
        </p:nvSpPr>
        <p:spPr>
          <a:xfrm>
            <a:off x="10591495" y="2039112"/>
            <a:ext cx="685800" cy="457200"/>
          </a:xfrm>
          <a:prstGeom prst="rect">
            <a:avLst/>
          </a:prstGeom>
          <a:noFill/>
          <a:ln/>
        </p:spPr>
        <p:txBody>
          <a:bodyPr wrap="square" lIns="0" tIns="0" rIns="0" bIns="0" rtlCol="0" anchor="t"/>
          <a:lstStyle/>
          <a:p>
            <a:pPr algn="r" indent="0" marL="0">
              <a:buNone/>
            </a:pPr>
            <a:r>
              <a:rPr lang="en-US" sz="2400" b="1" dirty="0">
                <a:solidFill>
                  <a:srgbClr val="C3D6D1"/>
                </a:solidFill>
                <a:latin typeface="Calibri" pitchFamily="34" charset="0"/>
                <a:ea typeface="Calibri" pitchFamily="34" charset="-122"/>
                <a:cs typeface="Calibri" pitchFamily="34" charset="-120"/>
              </a:rPr>
              <a:t>04</a:t>
            </a:r>
            <a:endParaRPr lang="en-US" sz="2400" dirty="0"/>
          </a:p>
        </p:txBody>
      </p:sp>
      <p:sp>
        <p:nvSpPr>
          <p:cNvPr id="32" name="Text 23"/>
          <p:cNvSpPr txBox="1"/>
          <p:nvPr/>
        </p:nvSpPr>
        <p:spPr>
          <a:xfrm>
            <a:off x="9248927" y="2990088"/>
            <a:ext cx="2028368" cy="384048"/>
          </a:xfrm>
          <a:prstGeom prst="rect">
            <a:avLst/>
          </a:prstGeom>
          <a:noFill/>
          <a:ln/>
        </p:spPr>
        <p:txBody>
          <a:bodyPr wrap="square" lIns="0" tIns="0" rIns="0" bIns="0" rtlCol="0" anchor="t"/>
          <a:lstStyle/>
          <a:p>
            <a:pPr indent="0" marL="0">
              <a:buNone/>
            </a:pPr>
            <a:r>
              <a:rPr lang="en-US" sz="2000" b="1" dirty="0">
                <a:solidFill>
                  <a:srgbClr val="15303A"/>
                </a:solidFill>
                <a:latin typeface="Calibri" pitchFamily="34" charset="0"/>
                <a:ea typeface="Calibri" pitchFamily="34" charset="-122"/>
                <a:cs typeface="Calibri" pitchFamily="34" charset="-120"/>
              </a:rPr>
              <a:t>Offer a choice</a:t>
            </a:r>
            <a:endParaRPr lang="en-US" sz="2000" dirty="0"/>
          </a:p>
        </p:txBody>
      </p:sp>
      <p:sp>
        <p:nvSpPr>
          <p:cNvPr id="33" name="Text 24"/>
          <p:cNvSpPr txBox="1"/>
          <p:nvPr/>
        </p:nvSpPr>
        <p:spPr>
          <a:xfrm>
            <a:off x="9248927" y="3447288"/>
            <a:ext cx="2074088" cy="1051560"/>
          </a:xfrm>
          <a:prstGeom prst="rect">
            <a:avLst/>
          </a:prstGeom>
          <a:noFill/>
          <a:ln/>
        </p:spPr>
        <p:txBody>
          <a:bodyPr wrap="square" lIns="0" tIns="0" rIns="0" bIns="0" rtlCol="0" anchor="t"/>
          <a:lstStyle/>
          <a:p>
            <a:pPr indent="0" marL="0">
              <a:lnSpc>
                <a:spcPct val="105000"/>
              </a:lnSpc>
              <a:buNone/>
            </a:pPr>
            <a:r>
              <a:rPr lang="en-US" sz="1500" dirty="0">
                <a:solidFill>
                  <a:srgbClr val="15303A"/>
                </a:solidFill>
                <a:latin typeface="Calibri" pitchFamily="34" charset="0"/>
                <a:ea typeface="Calibri" pitchFamily="34" charset="-122"/>
                <a:cs typeface="Calibri" pitchFamily="34" charset="-120"/>
              </a:rPr>
              <a:t>Only if confident: one brief idea from your list. Dismiss in one tap.</a:t>
            </a:r>
            <a:endParaRPr lang="en-US" sz="1500" dirty="0"/>
          </a:p>
        </p:txBody>
      </p:sp>
      <p:sp>
        <p:nvSpPr>
          <p:cNvPr id="34" name="Text 25"/>
          <p:cNvSpPr txBox="1"/>
          <p:nvPr/>
        </p:nvSpPr>
        <p:spPr>
          <a:xfrm>
            <a:off x="685800" y="5138928"/>
            <a:ext cx="1188720" cy="438912"/>
          </a:xfrm>
          <a:prstGeom prst="rect">
            <a:avLst/>
          </a:prstGeom>
          <a:noFill/>
          <a:ln/>
        </p:spPr>
        <p:txBody>
          <a:bodyPr wrap="square" lIns="0" tIns="0" rIns="0" bIns="0" rtlCol="0" anchor="ctr"/>
          <a:lstStyle/>
          <a:p>
            <a:pPr indent="0" marL="0">
              <a:buNone/>
            </a:pPr>
            <a:r>
              <a:rPr lang="en-US" sz="1500" b="1" dirty="0">
                <a:solidFill>
                  <a:srgbClr val="1B7A6E"/>
                </a:solidFill>
                <a:latin typeface="Calibri" pitchFamily="34" charset="0"/>
                <a:ea typeface="Calibri" pitchFamily="34" charset="-122"/>
                <a:cs typeface="Calibri" pitchFamily="34" charset="-120"/>
              </a:rPr>
              <a:t>Guardrails</a:t>
            </a:r>
            <a:endParaRPr lang="en-US" sz="1500" dirty="0"/>
          </a:p>
        </p:txBody>
      </p:sp>
      <p:sp>
        <p:nvSpPr>
          <p:cNvPr id="35" name="Shape 26"/>
          <p:cNvSpPr/>
          <p:nvPr/>
        </p:nvSpPr>
        <p:spPr>
          <a:xfrm>
            <a:off x="1920240" y="5138928"/>
            <a:ext cx="1502359" cy="438912"/>
          </a:xfrm>
          <a:prstGeom prst="roundRect">
            <a:avLst>
              <a:gd name="adj" fmla="val 50000"/>
            </a:avLst>
          </a:prstGeom>
          <a:solidFill>
            <a:srgbClr val="FFFFFF"/>
          </a:solidFill>
          <a:ln w="12700">
            <a:solidFill>
              <a:srgbClr val="CFDDD9"/>
            </a:solidFill>
            <a:prstDash val="solid"/>
          </a:ln>
        </p:spPr>
      </p:sp>
      <p:pic>
        <p:nvPicPr>
          <p:cNvPr id="36" name="Image 7" descr="check icon">    </p:cNvPr>
          <p:cNvPicPr>
            <a:picLocks noChangeAspect="1"/>
          </p:cNvPicPr>
          <p:nvPr/>
        </p:nvPicPr>
        <p:blipFill>
          <a:blip r:embed="rId8"/>
          <a:stretch>
            <a:fillRect/>
          </a:stretch>
        </p:blipFill>
        <p:spPr>
          <a:xfrm>
            <a:off x="2075688" y="5257800"/>
            <a:ext cx="201168" cy="201168"/>
          </a:xfrm>
          <a:prstGeom prst="rect">
            <a:avLst/>
          </a:prstGeom>
        </p:spPr>
      </p:pic>
      <p:sp>
        <p:nvSpPr>
          <p:cNvPr id="37" name="Text 27"/>
          <p:cNvSpPr txBox="1"/>
          <p:nvPr/>
        </p:nvSpPr>
        <p:spPr>
          <a:xfrm>
            <a:off x="2340864" y="5138928"/>
            <a:ext cx="1045159" cy="438912"/>
          </a:xfrm>
          <a:prstGeom prst="rect">
            <a:avLst/>
          </a:prstGeom>
          <a:noFill/>
          <a:ln/>
        </p:spPr>
        <p:txBody>
          <a:bodyPr wrap="square" lIns="0" tIns="0" rIns="0" bIns="0" rtlCol="0" anchor="ctr"/>
          <a:lstStyle/>
          <a:p>
            <a:pPr indent="0" marL="0">
              <a:buNone/>
            </a:pPr>
            <a:r>
              <a:rPr lang="en-US" sz="1500" dirty="0">
                <a:solidFill>
                  <a:srgbClr val="15303A"/>
                </a:solidFill>
                <a:latin typeface="Calibri" pitchFamily="34" charset="0"/>
                <a:ea typeface="Calibri" pitchFamily="34" charset="-122"/>
                <a:cs typeface="Calibri" pitchFamily="34" charset="-120"/>
              </a:rPr>
              <a:t>Opt-in only</a:t>
            </a:r>
            <a:endParaRPr lang="en-US" sz="1500" dirty="0"/>
          </a:p>
        </p:txBody>
      </p:sp>
      <p:sp>
        <p:nvSpPr>
          <p:cNvPr id="38" name="Shape 28"/>
          <p:cNvSpPr/>
          <p:nvPr/>
        </p:nvSpPr>
        <p:spPr>
          <a:xfrm>
            <a:off x="3623767" y="5138928"/>
            <a:ext cx="1927555" cy="438912"/>
          </a:xfrm>
          <a:prstGeom prst="roundRect">
            <a:avLst>
              <a:gd name="adj" fmla="val 50000"/>
            </a:avLst>
          </a:prstGeom>
          <a:solidFill>
            <a:srgbClr val="FFFFFF"/>
          </a:solidFill>
          <a:ln w="12700">
            <a:solidFill>
              <a:srgbClr val="CFDDD9"/>
            </a:solidFill>
            <a:prstDash val="solid"/>
          </a:ln>
        </p:spPr>
      </p:sp>
      <p:pic>
        <p:nvPicPr>
          <p:cNvPr id="39" name="Image 8" descr="check icon">    </p:cNvPr>
          <p:cNvPicPr>
            <a:picLocks noChangeAspect="1"/>
          </p:cNvPicPr>
          <p:nvPr/>
        </p:nvPicPr>
        <p:blipFill>
          <a:blip r:embed="rId9"/>
          <a:stretch>
            <a:fillRect/>
          </a:stretch>
        </p:blipFill>
        <p:spPr>
          <a:xfrm>
            <a:off x="3779215" y="5257800"/>
            <a:ext cx="201168" cy="201168"/>
          </a:xfrm>
          <a:prstGeom prst="rect">
            <a:avLst/>
          </a:prstGeom>
        </p:spPr>
      </p:pic>
      <p:sp>
        <p:nvSpPr>
          <p:cNvPr id="40" name="Text 29"/>
          <p:cNvSpPr txBox="1"/>
          <p:nvPr/>
        </p:nvSpPr>
        <p:spPr>
          <a:xfrm>
            <a:off x="4044391" y="5138928"/>
            <a:ext cx="1470355" cy="438912"/>
          </a:xfrm>
          <a:prstGeom prst="rect">
            <a:avLst/>
          </a:prstGeom>
          <a:noFill/>
          <a:ln/>
        </p:spPr>
        <p:txBody>
          <a:bodyPr wrap="square" lIns="0" tIns="0" rIns="0" bIns="0" rtlCol="0" anchor="ctr"/>
          <a:lstStyle/>
          <a:p>
            <a:pPr indent="0" marL="0">
              <a:buNone/>
            </a:pPr>
            <a:r>
              <a:rPr lang="en-US" sz="1500" dirty="0">
                <a:solidFill>
                  <a:srgbClr val="15303A"/>
                </a:solidFill>
                <a:latin typeface="Calibri" pitchFamily="34" charset="0"/>
                <a:ea typeface="Calibri" pitchFamily="34" charset="-122"/>
                <a:cs typeface="Calibri" pitchFamily="34" charset="-120"/>
              </a:rPr>
              <a:t>Quiet by default</a:t>
            </a:r>
            <a:endParaRPr lang="en-US" sz="1500" dirty="0"/>
          </a:p>
        </p:txBody>
      </p:sp>
      <p:sp>
        <p:nvSpPr>
          <p:cNvPr id="41" name="Shape 30"/>
          <p:cNvSpPr/>
          <p:nvPr/>
        </p:nvSpPr>
        <p:spPr>
          <a:xfrm>
            <a:off x="5752490" y="5138928"/>
            <a:ext cx="1842516" cy="438912"/>
          </a:xfrm>
          <a:prstGeom prst="roundRect">
            <a:avLst>
              <a:gd name="adj" fmla="val 50000"/>
            </a:avLst>
          </a:prstGeom>
          <a:solidFill>
            <a:srgbClr val="FFFFFF"/>
          </a:solidFill>
          <a:ln w="12700">
            <a:solidFill>
              <a:srgbClr val="CFDDD9"/>
            </a:solidFill>
            <a:prstDash val="solid"/>
          </a:ln>
        </p:spPr>
      </p:sp>
      <p:pic>
        <p:nvPicPr>
          <p:cNvPr id="42" name="Image 9" descr="check icon">    </p:cNvPr>
          <p:cNvPicPr>
            <a:picLocks noChangeAspect="1"/>
          </p:cNvPicPr>
          <p:nvPr/>
        </p:nvPicPr>
        <p:blipFill>
          <a:blip r:embed="rId10"/>
          <a:stretch>
            <a:fillRect/>
          </a:stretch>
        </p:blipFill>
        <p:spPr>
          <a:xfrm>
            <a:off x="5907938" y="5257800"/>
            <a:ext cx="201168" cy="201168"/>
          </a:xfrm>
          <a:prstGeom prst="rect">
            <a:avLst/>
          </a:prstGeom>
        </p:spPr>
      </p:pic>
      <p:sp>
        <p:nvSpPr>
          <p:cNvPr id="43" name="Text 31"/>
          <p:cNvSpPr txBox="1"/>
          <p:nvPr/>
        </p:nvSpPr>
        <p:spPr>
          <a:xfrm>
            <a:off x="6173114" y="5138928"/>
            <a:ext cx="1385316" cy="438912"/>
          </a:xfrm>
          <a:prstGeom prst="rect">
            <a:avLst/>
          </a:prstGeom>
          <a:noFill/>
          <a:ln/>
        </p:spPr>
        <p:txBody>
          <a:bodyPr wrap="square" lIns="0" tIns="0" rIns="0" bIns="0" rtlCol="0" anchor="ctr"/>
          <a:lstStyle/>
          <a:p>
            <a:pPr indent="0" marL="0">
              <a:buNone/>
            </a:pPr>
            <a:r>
              <a:rPr lang="en-US" sz="1500" dirty="0">
                <a:solidFill>
                  <a:srgbClr val="15303A"/>
                </a:solidFill>
                <a:latin typeface="Calibri" pitchFamily="34" charset="0"/>
                <a:ea typeface="Calibri" pitchFamily="34" charset="-122"/>
                <a:cs typeface="Calibri" pitchFamily="34" charset="-120"/>
              </a:rPr>
              <a:t>Dismiss anytime</a:t>
            </a:r>
            <a:endParaRPr lang="en-US" sz="1500" dirty="0"/>
          </a:p>
        </p:txBody>
      </p:sp>
      <p:sp>
        <p:nvSpPr>
          <p:cNvPr id="44" name="Shape 32"/>
          <p:cNvSpPr/>
          <p:nvPr/>
        </p:nvSpPr>
        <p:spPr>
          <a:xfrm>
            <a:off x="7796174" y="5138928"/>
            <a:ext cx="2948026" cy="438912"/>
          </a:xfrm>
          <a:prstGeom prst="roundRect">
            <a:avLst>
              <a:gd name="adj" fmla="val 50000"/>
            </a:avLst>
          </a:prstGeom>
          <a:solidFill>
            <a:srgbClr val="FFFFFF"/>
          </a:solidFill>
          <a:ln w="12700">
            <a:solidFill>
              <a:srgbClr val="CFDDD9"/>
            </a:solidFill>
            <a:prstDash val="solid"/>
          </a:ln>
        </p:spPr>
      </p:sp>
      <p:pic>
        <p:nvPicPr>
          <p:cNvPr id="45" name="Image 10" descr="check icon">    </p:cNvPr>
          <p:cNvPicPr>
            <a:picLocks noChangeAspect="1"/>
          </p:cNvPicPr>
          <p:nvPr/>
        </p:nvPicPr>
        <p:blipFill>
          <a:blip r:embed="rId11"/>
          <a:stretch>
            <a:fillRect/>
          </a:stretch>
        </p:blipFill>
        <p:spPr>
          <a:xfrm>
            <a:off x="7951622" y="5257800"/>
            <a:ext cx="201168" cy="201168"/>
          </a:xfrm>
          <a:prstGeom prst="rect">
            <a:avLst/>
          </a:prstGeom>
        </p:spPr>
      </p:pic>
      <p:sp>
        <p:nvSpPr>
          <p:cNvPr id="46" name="Text 33"/>
          <p:cNvSpPr txBox="1"/>
          <p:nvPr/>
        </p:nvSpPr>
        <p:spPr>
          <a:xfrm>
            <a:off x="8216798" y="5138928"/>
            <a:ext cx="2490826" cy="438912"/>
          </a:xfrm>
          <a:prstGeom prst="rect">
            <a:avLst/>
          </a:prstGeom>
          <a:noFill/>
          <a:ln/>
        </p:spPr>
        <p:txBody>
          <a:bodyPr wrap="square" lIns="0" tIns="0" rIns="0" bIns="0" rtlCol="0" anchor="ctr"/>
          <a:lstStyle/>
          <a:p>
            <a:pPr indent="0" marL="0">
              <a:buNone/>
            </a:pPr>
            <a:r>
              <a:rPr lang="en-US" sz="1500" dirty="0">
                <a:solidFill>
                  <a:srgbClr val="15303A"/>
                </a:solidFill>
                <a:latin typeface="Calibri" pitchFamily="34" charset="0"/>
                <a:ea typeface="Calibri" pitchFamily="34" charset="-122"/>
                <a:cs typeface="Calibri" pitchFamily="34" charset="-120"/>
              </a:rPr>
              <a:t>Not a diagnosis or treatment</a:t>
            </a:r>
            <a:endParaRPr lang="en-US" sz="1500" dirty="0"/>
          </a:p>
        </p:txBody>
      </p:sp>
      <p:sp>
        <p:nvSpPr>
          <p:cNvPr id="47" name="Text 34"/>
          <p:cNvSpPr txBox="1"/>
          <p:nvPr/>
        </p:nvSpPr>
        <p:spPr>
          <a:xfrm>
            <a:off x="685800" y="5870448"/>
            <a:ext cx="10820095" cy="310896"/>
          </a:xfrm>
          <a:prstGeom prst="rect">
            <a:avLst/>
          </a:prstGeom>
          <a:noFill/>
          <a:ln/>
        </p:spPr>
        <p:txBody>
          <a:bodyPr wrap="square" lIns="0" tIns="0" rIns="0" bIns="0" rtlCol="0" anchor="t"/>
          <a:lstStyle/>
          <a:p>
            <a:pPr indent="0" marL="0">
              <a:buNone/>
            </a:pPr>
            <a:r>
              <a:rPr lang="en-US" sz="1500" i="1" dirty="0">
                <a:solidFill>
                  <a:srgbClr val="5A6C73"/>
                </a:solidFill>
                <a:latin typeface="Calibri" pitchFamily="34" charset="0"/>
                <a:ea typeface="Calibri" pitchFamily="34" charset="-122"/>
                <a:cs typeface="Calibri" pitchFamily="34" charset="-120"/>
              </a:rPr>
              <a:t>Proposed Android research prototype. Whether suggestions help would need a later user study.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en-US" sz="1300" b="1" spc="200" kern="0" dirty="0">
                <a:solidFill>
                  <a:srgbClr val="1B7A6E"/>
                </a:solidFill>
                <a:latin typeface="Calibri" pitchFamily="34" charset="0"/>
                <a:ea typeface="Calibri" pitchFamily="34" charset="-122"/>
                <a:cs typeface="Calibri" pitchFamily="34" charset="-120"/>
              </a:rPr>
              <a:t>04  ·  DATA &amp; RESEARCH APPROACH</a:t>
            </a:r>
            <a:endParaRPr lang="en-US" sz="1300" dirty="0"/>
          </a:p>
        </p:txBody>
      </p:sp>
      <p:sp>
        <p:nvSpPr>
          <p:cNvPr id="3" name="Text 1"/>
          <p:cNvSpPr txBox="1"/>
          <p:nvPr/>
        </p:nvSpPr>
        <p:spPr>
          <a:xfrm>
            <a:off x="685800" y="731520"/>
            <a:ext cx="10820095" cy="658368"/>
          </a:xfrm>
          <a:prstGeom prst="rect">
            <a:avLst/>
          </a:prstGeom>
          <a:noFill/>
          <a:ln/>
        </p:spPr>
        <p:txBody>
          <a:bodyPr wrap="square" lIns="0" tIns="0" rIns="0" bIns="0" rtlCol="0" anchor="ctr"/>
          <a:lstStyle/>
          <a:p>
            <a:pPr indent="0" marL="0">
              <a:buNone/>
            </a:pPr>
            <a:r>
              <a:rPr lang="en-US" sz="3400" b="1" dirty="0">
                <a:solidFill>
                  <a:srgbClr val="15303A"/>
                </a:solidFill>
                <a:latin typeface="Georgia" pitchFamily="34" charset="0"/>
                <a:ea typeface="Georgia" pitchFamily="34" charset="-122"/>
                <a:cs typeface="Georgia" pitchFamily="34" charset="-120"/>
              </a:rPr>
              <a:t>AwareMind records both halves of the gap</a:t>
            </a:r>
            <a:endParaRPr lang="en-US" sz="3400" dirty="0"/>
          </a:p>
        </p:txBody>
      </p:sp>
      <p:sp>
        <p:nvSpPr>
          <p:cNvPr id="4" name="Shape 2"/>
          <p:cNvSpPr/>
          <p:nvPr/>
        </p:nvSpPr>
        <p:spPr>
          <a:xfrm>
            <a:off x="685800" y="1572768"/>
            <a:ext cx="3429000" cy="384048"/>
          </a:xfrm>
          <a:prstGeom prst="roundRect">
            <a:avLst>
              <a:gd name="adj" fmla="val 50000"/>
            </a:avLst>
          </a:prstGeom>
          <a:solidFill>
            <a:srgbClr val="E3F1EE"/>
          </a:solidFill>
          <a:ln/>
        </p:spPr>
      </p:sp>
      <p:pic>
        <p:nvPicPr>
          <p:cNvPr id="5" name="Image 0" descr="dataset icon">    </p:cNvPr>
          <p:cNvPicPr>
            <a:picLocks noChangeAspect="1"/>
          </p:cNvPicPr>
          <p:nvPr/>
        </p:nvPicPr>
        <p:blipFill>
          <a:blip r:embed="rId1"/>
          <a:stretch>
            <a:fillRect/>
          </a:stretch>
        </p:blipFill>
        <p:spPr>
          <a:xfrm>
            <a:off x="850392" y="1645920"/>
            <a:ext cx="237744" cy="237744"/>
          </a:xfrm>
          <a:prstGeom prst="rect">
            <a:avLst/>
          </a:prstGeom>
        </p:spPr>
      </p:pic>
      <p:sp>
        <p:nvSpPr>
          <p:cNvPr id="6" name="Text 3"/>
          <p:cNvSpPr txBox="1"/>
          <p:nvPr/>
        </p:nvSpPr>
        <p:spPr>
          <a:xfrm>
            <a:off x="1161288" y="1572768"/>
            <a:ext cx="3108960" cy="384048"/>
          </a:xfrm>
          <a:prstGeom prst="rect">
            <a:avLst/>
          </a:prstGeom>
          <a:noFill/>
          <a:ln/>
        </p:spPr>
        <p:txBody>
          <a:bodyPr wrap="square" lIns="0" tIns="0" rIns="0" bIns="0" rtlCol="0" anchor="ctr"/>
          <a:lstStyle/>
          <a:p>
            <a:pPr indent="0" marL="0">
              <a:buNone/>
            </a:pPr>
            <a:r>
              <a:rPr lang="en-US" sz="1500" b="1" dirty="0">
                <a:solidFill>
                  <a:srgbClr val="15303A"/>
                </a:solidFill>
                <a:latin typeface="Calibri" pitchFamily="34" charset="0"/>
                <a:ea typeface="Calibri" pitchFamily="34" charset="-122"/>
                <a:cs typeface="Calibri" pitchFamily="34" charset="-120"/>
              </a:rPr>
              <a:t>AwareMind  ·  Zheng &amp; Choe (2026)</a:t>
            </a:r>
            <a:endParaRPr lang="en-US" sz="1500" dirty="0"/>
          </a:p>
        </p:txBody>
      </p:sp>
      <p:sp>
        <p:nvSpPr>
          <p:cNvPr id="7" name="Text 4"/>
          <p:cNvSpPr txBox="1"/>
          <p:nvPr/>
        </p:nvSpPr>
        <p:spPr>
          <a:xfrm>
            <a:off x="685800" y="2066544"/>
            <a:ext cx="2148840" cy="566928"/>
          </a:xfrm>
          <a:prstGeom prst="rect">
            <a:avLst/>
          </a:prstGeom>
          <a:noFill/>
          <a:ln/>
        </p:spPr>
        <p:txBody>
          <a:bodyPr wrap="square" lIns="0" tIns="0" rIns="0" bIns="0" rtlCol="0" anchor="ctr"/>
          <a:lstStyle/>
          <a:p>
            <a:pPr indent="0" marL="0">
              <a:buNone/>
            </a:pPr>
            <a:r>
              <a:rPr lang="en-US" sz="3600" b="1" dirty="0">
                <a:solidFill>
                  <a:srgbClr val="1B7A6E"/>
                </a:solidFill>
                <a:latin typeface="Calibri" pitchFamily="34" charset="0"/>
                <a:ea typeface="Calibri" pitchFamily="34" charset="-122"/>
                <a:cs typeface="Calibri" pitchFamily="34" charset="-120"/>
              </a:rPr>
              <a:t>5,772</a:t>
            </a:r>
            <a:endParaRPr lang="en-US" sz="3600" dirty="0"/>
          </a:p>
        </p:txBody>
      </p:sp>
      <p:sp>
        <p:nvSpPr>
          <p:cNvPr id="8" name="Text 5"/>
          <p:cNvSpPr txBox="1"/>
          <p:nvPr/>
        </p:nvSpPr>
        <p:spPr>
          <a:xfrm>
            <a:off x="685800" y="2633472"/>
            <a:ext cx="2148840" cy="274320"/>
          </a:xfrm>
          <a:prstGeom prst="rect">
            <a:avLst/>
          </a:prstGeom>
          <a:noFill/>
          <a:ln/>
        </p:spPr>
        <p:txBody>
          <a:bodyPr wrap="square" lIns="0" tIns="0" rIns="0" bIns="0" rtlCol="0" anchor="t"/>
          <a:lstStyle/>
          <a:p>
            <a:pPr indent="0" marL="0">
              <a:buNone/>
            </a:pPr>
            <a:r>
              <a:rPr lang="en-US" sz="1400" dirty="0">
                <a:solidFill>
                  <a:srgbClr val="5A6C73"/>
                </a:solidFill>
                <a:latin typeface="Calibri" pitchFamily="34" charset="0"/>
                <a:ea typeface="Calibri" pitchFamily="34" charset="-122"/>
                <a:cs typeface="Calibri" pitchFamily="34" charset="-120"/>
              </a:rPr>
              <a:t>in-the-moment check-ins</a:t>
            </a:r>
            <a:endParaRPr lang="en-US" sz="1400" dirty="0"/>
          </a:p>
        </p:txBody>
      </p:sp>
      <p:sp>
        <p:nvSpPr>
          <p:cNvPr id="9" name="Text 6"/>
          <p:cNvSpPr txBox="1"/>
          <p:nvPr/>
        </p:nvSpPr>
        <p:spPr>
          <a:xfrm>
            <a:off x="2971800" y="2066544"/>
            <a:ext cx="1737360" cy="566928"/>
          </a:xfrm>
          <a:prstGeom prst="rect">
            <a:avLst/>
          </a:prstGeom>
          <a:noFill/>
          <a:ln/>
        </p:spPr>
        <p:txBody>
          <a:bodyPr wrap="square" lIns="0" tIns="0" rIns="0" bIns="0" rtlCol="0" anchor="ctr"/>
          <a:lstStyle/>
          <a:p>
            <a:pPr indent="0" marL="0">
              <a:buNone/>
            </a:pPr>
            <a:r>
              <a:rPr lang="en-US" sz="3600" b="1" dirty="0">
                <a:solidFill>
                  <a:srgbClr val="1B7A6E"/>
                </a:solidFill>
                <a:latin typeface="Calibri" pitchFamily="34" charset="0"/>
                <a:ea typeface="Calibri" pitchFamily="34" charset="-122"/>
                <a:cs typeface="Calibri" pitchFamily="34" charset="-120"/>
              </a:rPr>
              <a:t>37</a:t>
            </a:r>
            <a:endParaRPr lang="en-US" sz="3600" dirty="0"/>
          </a:p>
        </p:txBody>
      </p:sp>
      <p:sp>
        <p:nvSpPr>
          <p:cNvPr id="10" name="Text 7"/>
          <p:cNvSpPr txBox="1"/>
          <p:nvPr/>
        </p:nvSpPr>
        <p:spPr>
          <a:xfrm>
            <a:off x="2971800" y="2633472"/>
            <a:ext cx="1737360" cy="274320"/>
          </a:xfrm>
          <a:prstGeom prst="rect">
            <a:avLst/>
          </a:prstGeom>
          <a:noFill/>
          <a:ln/>
        </p:spPr>
        <p:txBody>
          <a:bodyPr wrap="square" lIns="0" tIns="0" rIns="0" bIns="0" rtlCol="0" anchor="t"/>
          <a:lstStyle/>
          <a:p>
            <a:pPr indent="0" marL="0">
              <a:buNone/>
            </a:pPr>
            <a:r>
              <a:rPr lang="en-US" sz="1400" dirty="0">
                <a:solidFill>
                  <a:srgbClr val="5A6C73"/>
                </a:solidFill>
                <a:latin typeface="Calibri" pitchFamily="34" charset="0"/>
                <a:ea typeface="Calibri" pitchFamily="34" charset="-122"/>
                <a:cs typeface="Calibri" pitchFamily="34" charset="-120"/>
              </a:rPr>
              <a:t>adult Android users</a:t>
            </a:r>
            <a:endParaRPr lang="en-US" sz="1400" dirty="0"/>
          </a:p>
        </p:txBody>
      </p:sp>
      <p:sp>
        <p:nvSpPr>
          <p:cNvPr id="11" name="Text 8"/>
          <p:cNvSpPr txBox="1"/>
          <p:nvPr/>
        </p:nvSpPr>
        <p:spPr>
          <a:xfrm>
            <a:off x="4846320" y="2066544"/>
            <a:ext cx="1600200" cy="566928"/>
          </a:xfrm>
          <a:prstGeom prst="rect">
            <a:avLst/>
          </a:prstGeom>
          <a:noFill/>
          <a:ln/>
        </p:spPr>
        <p:txBody>
          <a:bodyPr wrap="square" lIns="0" tIns="0" rIns="0" bIns="0" rtlCol="0" anchor="ctr"/>
          <a:lstStyle/>
          <a:p>
            <a:pPr indent="0" marL="0">
              <a:buNone/>
            </a:pPr>
            <a:r>
              <a:rPr lang="en-US" sz="3600" b="1" dirty="0">
                <a:solidFill>
                  <a:srgbClr val="1B7A6E"/>
                </a:solidFill>
                <a:latin typeface="Calibri" pitchFamily="34" charset="0"/>
                <a:ea typeface="Calibri" pitchFamily="34" charset="-122"/>
                <a:cs typeface="Calibri" pitchFamily="34" charset="-120"/>
              </a:rPr>
              <a:t>2+</a:t>
            </a:r>
            <a:endParaRPr lang="en-US" sz="3600" dirty="0"/>
          </a:p>
        </p:txBody>
      </p:sp>
      <p:sp>
        <p:nvSpPr>
          <p:cNvPr id="12" name="Text 9"/>
          <p:cNvSpPr txBox="1"/>
          <p:nvPr/>
        </p:nvSpPr>
        <p:spPr>
          <a:xfrm>
            <a:off x="4846320" y="2633472"/>
            <a:ext cx="1600200" cy="274320"/>
          </a:xfrm>
          <a:prstGeom prst="rect">
            <a:avLst/>
          </a:prstGeom>
          <a:noFill/>
          <a:ln/>
        </p:spPr>
        <p:txBody>
          <a:bodyPr wrap="square" lIns="0" tIns="0" rIns="0" bIns="0" rtlCol="0" anchor="t"/>
          <a:lstStyle/>
          <a:p>
            <a:pPr indent="0" marL="0">
              <a:buNone/>
            </a:pPr>
            <a:r>
              <a:rPr lang="en-US" sz="1400" dirty="0">
                <a:solidFill>
                  <a:srgbClr val="5A6C73"/>
                </a:solidFill>
                <a:latin typeface="Calibri" pitchFamily="34" charset="0"/>
                <a:ea typeface="Calibri" pitchFamily="34" charset="-122"/>
                <a:cs typeface="Calibri" pitchFamily="34" charset="-120"/>
              </a:rPr>
              <a:t>weeks per person</a:t>
            </a:r>
            <a:endParaRPr lang="en-US" sz="1400" dirty="0"/>
          </a:p>
        </p:txBody>
      </p:sp>
      <p:sp>
        <p:nvSpPr>
          <p:cNvPr id="13" name="Shape 10"/>
          <p:cNvSpPr/>
          <p:nvPr/>
        </p:nvSpPr>
        <p:spPr>
          <a:xfrm>
            <a:off x="685800" y="3108960"/>
            <a:ext cx="5760720" cy="822960"/>
          </a:xfrm>
          <a:prstGeom prst="roundRect">
            <a:avLst>
              <a:gd name="adj" fmla="val 15556"/>
            </a:avLst>
          </a:prstGeom>
          <a:solidFill>
            <a:srgbClr val="FFFFFF"/>
          </a:solidFill>
          <a:ln/>
          <a:effectLst>
            <a:outerShdw sx="100000" sy="100000" kx="0" ky="0" algn="bl" rotWithShape="0" blurRad="127000" dist="31750" dir="5400000">
              <a:srgbClr val="0B2A30">
                <a:alpha val="10000"/>
              </a:srgbClr>
            </a:outerShdw>
          </a:effectLst>
        </p:spPr>
      </p:sp>
      <p:sp>
        <p:nvSpPr>
          <p:cNvPr id="14" name="Shape 11"/>
          <p:cNvSpPr/>
          <p:nvPr/>
        </p:nvSpPr>
        <p:spPr>
          <a:xfrm>
            <a:off x="685800" y="4087368"/>
            <a:ext cx="5760720" cy="822960"/>
          </a:xfrm>
          <a:prstGeom prst="roundRect">
            <a:avLst>
              <a:gd name="adj" fmla="val 15556"/>
            </a:avLst>
          </a:prstGeom>
          <a:solidFill>
            <a:srgbClr val="FFFFFF"/>
          </a:solidFill>
          <a:ln/>
          <a:effectLst>
            <a:outerShdw sx="100000" sy="100000" kx="0" ky="0" algn="bl" rotWithShape="0" blurRad="127000" dist="31750" dir="5400000">
              <a:srgbClr val="0B2A30">
                <a:alpha val="10000"/>
              </a:srgbClr>
            </a:outerShdw>
          </a:effectLst>
        </p:spPr>
      </p:sp>
      <p:sp>
        <p:nvSpPr>
          <p:cNvPr id="15" name="Shape 12"/>
          <p:cNvSpPr/>
          <p:nvPr/>
        </p:nvSpPr>
        <p:spPr>
          <a:xfrm>
            <a:off x="685800" y="5065776"/>
            <a:ext cx="5760720" cy="822960"/>
          </a:xfrm>
          <a:prstGeom prst="roundRect">
            <a:avLst>
              <a:gd name="adj" fmla="val 15556"/>
            </a:avLst>
          </a:prstGeom>
          <a:solidFill>
            <a:srgbClr val="FCE9E1"/>
          </a:solidFill>
          <a:ln/>
        </p:spPr>
      </p:sp>
      <p:sp>
        <p:nvSpPr>
          <p:cNvPr id="16" name="Shape 13"/>
          <p:cNvSpPr/>
          <p:nvPr/>
        </p:nvSpPr>
        <p:spPr>
          <a:xfrm>
            <a:off x="859536" y="3282696"/>
            <a:ext cx="475488" cy="475488"/>
          </a:xfrm>
          <a:prstGeom prst="ellipse">
            <a:avLst/>
          </a:prstGeom>
          <a:solidFill>
            <a:srgbClr val="E3F1EE"/>
          </a:solidFill>
          <a:ln/>
        </p:spPr>
      </p:sp>
      <p:pic>
        <p:nvPicPr>
          <p:cNvPr id="17" name="Image 1" descr="message square quote icon">    </p:cNvPr>
          <p:cNvPicPr>
            <a:picLocks noChangeAspect="1"/>
          </p:cNvPicPr>
          <p:nvPr/>
        </p:nvPicPr>
        <p:blipFill>
          <a:blip r:embed="rId2"/>
          <a:stretch>
            <a:fillRect/>
          </a:stretch>
        </p:blipFill>
        <p:spPr>
          <a:xfrm>
            <a:off x="966521" y="3389681"/>
            <a:ext cx="261518" cy="261518"/>
          </a:xfrm>
          <a:prstGeom prst="rect">
            <a:avLst/>
          </a:prstGeom>
        </p:spPr>
      </p:pic>
      <p:sp>
        <p:nvSpPr>
          <p:cNvPr id="18" name="Text 14"/>
          <p:cNvSpPr txBox="1"/>
          <p:nvPr/>
        </p:nvSpPr>
        <p:spPr>
          <a:xfrm>
            <a:off x="1463040" y="3108960"/>
            <a:ext cx="685800" cy="822960"/>
          </a:xfrm>
          <a:prstGeom prst="rect">
            <a:avLst/>
          </a:prstGeom>
          <a:noFill/>
          <a:ln/>
        </p:spPr>
        <p:txBody>
          <a:bodyPr wrap="square" lIns="0" tIns="0" rIns="0" bIns="0" rtlCol="0" anchor="ctr"/>
          <a:lstStyle/>
          <a:p>
            <a:pPr indent="0" marL="0">
              <a:buNone/>
            </a:pPr>
            <a:r>
              <a:rPr lang="en-US" sz="1400" b="1" spc="150" kern="0" dirty="0">
                <a:solidFill>
                  <a:srgbClr val="1B7A6E"/>
                </a:solidFill>
                <a:latin typeface="Calibri" pitchFamily="34" charset="0"/>
                <a:ea typeface="Calibri" pitchFamily="34" charset="-122"/>
                <a:cs typeface="Calibri" pitchFamily="34" charset="-120"/>
              </a:rPr>
              <a:t>SAID</a:t>
            </a:r>
            <a:endParaRPr lang="en-US" sz="1400" dirty="0"/>
          </a:p>
        </p:txBody>
      </p:sp>
      <p:sp>
        <p:nvSpPr>
          <p:cNvPr id="19" name="Text 15"/>
          <p:cNvSpPr txBox="1"/>
          <p:nvPr/>
        </p:nvSpPr>
        <p:spPr>
          <a:xfrm>
            <a:off x="2148840" y="3108960"/>
            <a:ext cx="4114800" cy="822960"/>
          </a:xfrm>
          <a:prstGeom prst="rect">
            <a:avLst/>
          </a:prstGeom>
          <a:noFill/>
          <a:ln/>
        </p:spPr>
        <p:txBody>
          <a:bodyPr wrap="square" lIns="0" tIns="0" rIns="0" bIns="0" rtlCol="0" anchor="ctr"/>
          <a:lstStyle/>
          <a:p>
            <a:pPr indent="0" marL="0">
              <a:spcAft>
                <a:spcPts val="200"/>
              </a:spcAft>
              <a:buNone/>
            </a:pPr>
            <a:r>
              <a:rPr lang="en-US" sz="1500" b="1" dirty="0">
                <a:solidFill>
                  <a:srgbClr val="15303A"/>
                </a:solidFill>
                <a:latin typeface="Calibri" pitchFamily="34" charset="0"/>
                <a:ea typeface="Calibri" pitchFamily="34" charset="-122"/>
                <a:cs typeface="Calibri" pitchFamily="34" charset="-120"/>
              </a:rPr>
              <a:t>“I should ___ using my phone now”</a:t>
            </a:r>
            <a:endParaRPr lang="en-US" sz="1600" dirty="0"/>
          </a:p>
          <a:p>
            <a:pPr indent="0" marL="0">
              <a:spcAft>
                <a:spcPts val="200"/>
              </a:spcAft>
              <a:buNone/>
            </a:pPr>
            <a:r>
              <a:rPr lang="en-US" sz="1400" dirty="0">
                <a:solidFill>
                  <a:srgbClr val="5A6C73"/>
                </a:solidFill>
                <a:latin typeface="Calibri" pitchFamily="34" charset="0"/>
                <a:ea typeface="Calibri" pitchFamily="34" charset="-122"/>
                <a:cs typeface="Calibri" pitchFamily="34" charset="-120"/>
              </a:rPr>
              <a:t>Mid-session pop-up  ·  1 = stop … 10 = continue</a:t>
            </a:r>
            <a:endParaRPr lang="en-US" sz="1600" dirty="0"/>
          </a:p>
        </p:txBody>
      </p:sp>
      <p:sp>
        <p:nvSpPr>
          <p:cNvPr id="20" name="Shape 16"/>
          <p:cNvSpPr/>
          <p:nvPr/>
        </p:nvSpPr>
        <p:spPr>
          <a:xfrm>
            <a:off x="859536" y="4261104"/>
            <a:ext cx="475488" cy="475488"/>
          </a:xfrm>
          <a:prstGeom prst="ellipse">
            <a:avLst/>
          </a:prstGeom>
          <a:solidFill>
            <a:srgbClr val="E3F1EE"/>
          </a:solidFill>
          <a:ln/>
        </p:spPr>
      </p:sp>
      <p:pic>
        <p:nvPicPr>
          <p:cNvPr id="21" name="Image 2" descr="timer icon">    </p:cNvPr>
          <p:cNvPicPr>
            <a:picLocks noChangeAspect="1"/>
          </p:cNvPicPr>
          <p:nvPr/>
        </p:nvPicPr>
        <p:blipFill>
          <a:blip r:embed="rId3"/>
          <a:stretch>
            <a:fillRect/>
          </a:stretch>
        </p:blipFill>
        <p:spPr>
          <a:xfrm>
            <a:off x="966521" y="4368089"/>
            <a:ext cx="261518" cy="261518"/>
          </a:xfrm>
          <a:prstGeom prst="rect">
            <a:avLst/>
          </a:prstGeom>
        </p:spPr>
      </p:pic>
      <p:sp>
        <p:nvSpPr>
          <p:cNvPr id="22" name="Text 17"/>
          <p:cNvSpPr txBox="1"/>
          <p:nvPr/>
        </p:nvSpPr>
        <p:spPr>
          <a:xfrm>
            <a:off x="1463040" y="4087368"/>
            <a:ext cx="685800" cy="822960"/>
          </a:xfrm>
          <a:prstGeom prst="rect">
            <a:avLst/>
          </a:prstGeom>
          <a:noFill/>
          <a:ln/>
        </p:spPr>
        <p:txBody>
          <a:bodyPr wrap="square" lIns="0" tIns="0" rIns="0" bIns="0" rtlCol="0" anchor="ctr"/>
          <a:lstStyle/>
          <a:p>
            <a:pPr indent="0" marL="0">
              <a:buNone/>
            </a:pPr>
            <a:r>
              <a:rPr lang="en-US" sz="1400" b="1" spc="150" kern="0" dirty="0">
                <a:solidFill>
                  <a:srgbClr val="1B7A6E"/>
                </a:solidFill>
                <a:latin typeface="Calibri" pitchFamily="34" charset="0"/>
                <a:ea typeface="Calibri" pitchFamily="34" charset="-122"/>
                <a:cs typeface="Calibri" pitchFamily="34" charset="-120"/>
              </a:rPr>
              <a:t>DID</a:t>
            </a:r>
            <a:endParaRPr lang="en-US" sz="1400" dirty="0"/>
          </a:p>
        </p:txBody>
      </p:sp>
      <p:sp>
        <p:nvSpPr>
          <p:cNvPr id="23" name="Text 18"/>
          <p:cNvSpPr txBox="1"/>
          <p:nvPr/>
        </p:nvSpPr>
        <p:spPr>
          <a:xfrm>
            <a:off x="2148840" y="4087368"/>
            <a:ext cx="4114800" cy="822960"/>
          </a:xfrm>
          <a:prstGeom prst="rect">
            <a:avLst/>
          </a:prstGeom>
          <a:noFill/>
          <a:ln/>
        </p:spPr>
        <p:txBody>
          <a:bodyPr wrap="square" lIns="0" tIns="0" rIns="0" bIns="0" rtlCol="0" anchor="ctr"/>
          <a:lstStyle/>
          <a:p>
            <a:pPr indent="0" marL="0">
              <a:spcAft>
                <a:spcPts val="200"/>
              </a:spcAft>
              <a:buNone/>
            </a:pPr>
            <a:r>
              <a:rPr lang="en-US" sz="1500" b="1" dirty="0">
                <a:solidFill>
                  <a:srgbClr val="15303A"/>
                </a:solidFill>
                <a:latin typeface="Calibri" pitchFamily="34" charset="0"/>
                <a:ea typeface="Calibri" pitchFamily="34" charset="-122"/>
                <a:cs typeface="Calibri" pitchFamily="34" charset="-120"/>
              </a:rPr>
              <a:t>Minutes of phone use after answering</a:t>
            </a:r>
            <a:endParaRPr lang="en-US" sz="1600" dirty="0"/>
          </a:p>
          <a:p>
            <a:pPr indent="0" marL="0">
              <a:spcAft>
                <a:spcPts val="200"/>
              </a:spcAft>
              <a:buNone/>
            </a:pPr>
            <a:r>
              <a:rPr lang="en-US" sz="1400" dirty="0">
                <a:solidFill>
                  <a:srgbClr val="5A6C73"/>
                </a:solidFill>
                <a:latin typeface="Calibri" pitchFamily="34" charset="0"/>
                <a:ea typeface="Calibri" pitchFamily="34" charset="-122"/>
                <a:cs typeface="Calibri" pitchFamily="34" charset="-120"/>
              </a:rPr>
              <a:t>Measured until the screen locked</a:t>
            </a:r>
            <a:endParaRPr lang="en-US" sz="1600" dirty="0"/>
          </a:p>
        </p:txBody>
      </p:sp>
      <p:sp>
        <p:nvSpPr>
          <p:cNvPr id="24" name="Shape 19"/>
          <p:cNvSpPr/>
          <p:nvPr/>
        </p:nvSpPr>
        <p:spPr>
          <a:xfrm>
            <a:off x="859536" y="5239512"/>
            <a:ext cx="475488" cy="475488"/>
          </a:xfrm>
          <a:prstGeom prst="ellipse">
            <a:avLst/>
          </a:prstGeom>
          <a:solidFill>
            <a:srgbClr val="FFFFFF"/>
          </a:solidFill>
          <a:ln/>
        </p:spPr>
      </p:sp>
      <p:pic>
        <p:nvPicPr>
          <p:cNvPr id="25" name="Image 3" descr="hand icon">    </p:cNvPr>
          <p:cNvPicPr>
            <a:picLocks noChangeAspect="1"/>
          </p:cNvPicPr>
          <p:nvPr/>
        </p:nvPicPr>
        <p:blipFill>
          <a:blip r:embed="rId4"/>
          <a:stretch>
            <a:fillRect/>
          </a:stretch>
        </p:blipFill>
        <p:spPr>
          <a:xfrm>
            <a:off x="966521" y="5346497"/>
            <a:ext cx="261518" cy="261518"/>
          </a:xfrm>
          <a:prstGeom prst="rect">
            <a:avLst/>
          </a:prstGeom>
        </p:spPr>
      </p:pic>
      <p:sp>
        <p:nvSpPr>
          <p:cNvPr id="26" name="Text 20"/>
          <p:cNvSpPr txBox="1"/>
          <p:nvPr/>
        </p:nvSpPr>
        <p:spPr>
          <a:xfrm>
            <a:off x="1463040" y="5065776"/>
            <a:ext cx="685800" cy="822960"/>
          </a:xfrm>
          <a:prstGeom prst="rect">
            <a:avLst/>
          </a:prstGeom>
          <a:noFill/>
          <a:ln/>
        </p:spPr>
        <p:txBody>
          <a:bodyPr wrap="square" lIns="0" tIns="0" rIns="0" bIns="0" rtlCol="0" anchor="ctr"/>
          <a:lstStyle/>
          <a:p>
            <a:pPr indent="0" marL="0">
              <a:buNone/>
            </a:pPr>
            <a:r>
              <a:rPr lang="en-US" sz="1400" b="1" spc="150" kern="0" dirty="0">
                <a:solidFill>
                  <a:srgbClr val="B4462A"/>
                </a:solidFill>
                <a:latin typeface="Calibri" pitchFamily="34" charset="0"/>
                <a:ea typeface="Calibri" pitchFamily="34" charset="-122"/>
                <a:cs typeface="Calibri" pitchFamily="34" charset="-120"/>
              </a:rPr>
              <a:t>GAP</a:t>
            </a:r>
            <a:endParaRPr lang="en-US" sz="1400" dirty="0"/>
          </a:p>
        </p:txBody>
      </p:sp>
      <p:sp>
        <p:nvSpPr>
          <p:cNvPr id="27" name="Text 21"/>
          <p:cNvSpPr txBox="1"/>
          <p:nvPr/>
        </p:nvSpPr>
        <p:spPr>
          <a:xfrm>
            <a:off x="2148840" y="5065776"/>
            <a:ext cx="4114800" cy="822960"/>
          </a:xfrm>
          <a:prstGeom prst="rect">
            <a:avLst/>
          </a:prstGeom>
          <a:noFill/>
          <a:ln/>
        </p:spPr>
        <p:txBody>
          <a:bodyPr wrap="square" lIns="0" tIns="0" rIns="0" bIns="0" rtlCol="0" anchor="ctr"/>
          <a:lstStyle/>
          <a:p>
            <a:pPr indent="0" marL="0">
              <a:spcAft>
                <a:spcPts val="200"/>
              </a:spcAft>
              <a:buNone/>
            </a:pPr>
            <a:r>
              <a:rPr lang="en-US" sz="1500" b="1" dirty="0">
                <a:solidFill>
                  <a:srgbClr val="15303A"/>
                </a:solidFill>
                <a:latin typeface="Calibri" pitchFamily="34" charset="0"/>
                <a:ea typeface="Calibri" pitchFamily="34" charset="-122"/>
                <a:cs typeface="Calibri" pitchFamily="34" charset="-120"/>
              </a:rPr>
              <a:t>Said “stop”, kept going → large gap</a:t>
            </a:r>
            <a:endParaRPr lang="en-US" sz="1600" dirty="0"/>
          </a:p>
          <a:p>
            <a:pPr indent="0" marL="0">
              <a:spcAft>
                <a:spcPts val="200"/>
              </a:spcAft>
              <a:buNone/>
            </a:pPr>
            <a:r>
              <a:rPr lang="en-US" sz="1400" dirty="0">
                <a:solidFill>
                  <a:srgbClr val="5A6C73"/>
                </a:solidFill>
                <a:latin typeface="Calibri" pitchFamily="34" charset="0"/>
                <a:ea typeface="Calibri" pitchFamily="34" charset="-122"/>
                <a:cs typeface="Calibri" pitchFamily="34" charset="-120"/>
              </a:rPr>
              <a:t>What we predict, session by session</a:t>
            </a:r>
            <a:endParaRPr lang="en-US" sz="1600" dirty="0"/>
          </a:p>
        </p:txBody>
      </p:sp>
      <p:sp>
        <p:nvSpPr>
          <p:cNvPr id="28" name="Shape 22"/>
          <p:cNvSpPr/>
          <p:nvPr/>
        </p:nvSpPr>
        <p:spPr>
          <a:xfrm>
            <a:off x="950976" y="3863340"/>
            <a:ext cx="292608" cy="292608"/>
          </a:xfrm>
          <a:prstGeom prst="ellipse">
            <a:avLst/>
          </a:prstGeom>
          <a:solidFill>
            <a:srgbClr val="FFFFFF"/>
          </a:solidFill>
          <a:ln w="12700">
            <a:solidFill>
              <a:srgbClr val="CFDDD9"/>
            </a:solidFill>
            <a:prstDash val="solid"/>
          </a:ln>
        </p:spPr>
      </p:sp>
      <p:sp>
        <p:nvSpPr>
          <p:cNvPr id="29" name="Text 23"/>
          <p:cNvSpPr txBox="1"/>
          <p:nvPr/>
        </p:nvSpPr>
        <p:spPr>
          <a:xfrm>
            <a:off x="950976" y="3863340"/>
            <a:ext cx="292608" cy="292608"/>
          </a:xfrm>
          <a:prstGeom prst="rect">
            <a:avLst/>
          </a:prstGeom>
          <a:noFill/>
          <a:ln/>
        </p:spPr>
        <p:txBody>
          <a:bodyPr wrap="square" lIns="0" tIns="0" rIns="0" bIns="0" rtlCol="0" anchor="ctr"/>
          <a:lstStyle/>
          <a:p>
            <a:pPr algn="ctr" indent="0" marL="0">
              <a:buNone/>
            </a:pPr>
            <a:r>
              <a:rPr lang="en-US" sz="1400" b="1" dirty="0">
                <a:solidFill>
                  <a:srgbClr val="15303A"/>
                </a:solidFill>
                <a:latin typeface="Calibri" pitchFamily="34" charset="0"/>
                <a:ea typeface="Calibri" pitchFamily="34" charset="-122"/>
                <a:cs typeface="Calibri" pitchFamily="34" charset="-120"/>
              </a:rPr>
              <a:t>+</a:t>
            </a:r>
            <a:endParaRPr lang="en-US" sz="1400" dirty="0"/>
          </a:p>
        </p:txBody>
      </p:sp>
      <p:sp>
        <p:nvSpPr>
          <p:cNvPr id="30" name="Shape 24"/>
          <p:cNvSpPr/>
          <p:nvPr/>
        </p:nvSpPr>
        <p:spPr>
          <a:xfrm>
            <a:off x="950976" y="4841748"/>
            <a:ext cx="292608" cy="292608"/>
          </a:xfrm>
          <a:prstGeom prst="ellipse">
            <a:avLst/>
          </a:prstGeom>
          <a:solidFill>
            <a:srgbClr val="FFFFFF"/>
          </a:solidFill>
          <a:ln w="12700">
            <a:solidFill>
              <a:srgbClr val="CFDDD9"/>
            </a:solidFill>
            <a:prstDash val="solid"/>
          </a:ln>
        </p:spPr>
      </p:sp>
      <p:sp>
        <p:nvSpPr>
          <p:cNvPr id="31" name="Text 25"/>
          <p:cNvSpPr txBox="1"/>
          <p:nvPr/>
        </p:nvSpPr>
        <p:spPr>
          <a:xfrm>
            <a:off x="950976" y="4841748"/>
            <a:ext cx="292608" cy="292608"/>
          </a:xfrm>
          <a:prstGeom prst="rect">
            <a:avLst/>
          </a:prstGeom>
          <a:noFill/>
          <a:ln/>
        </p:spPr>
        <p:txBody>
          <a:bodyPr wrap="square" lIns="0" tIns="0" rIns="0" bIns="0" rtlCol="0" anchor="ctr"/>
          <a:lstStyle/>
          <a:p>
            <a:pPr algn="ctr" indent="0" marL="0">
              <a:buNone/>
            </a:pPr>
            <a:r>
              <a:rPr lang="en-US" sz="1400" b="1" dirty="0">
                <a:solidFill>
                  <a:srgbClr val="15303A"/>
                </a:solidFill>
                <a:latin typeface="Calibri" pitchFamily="34" charset="0"/>
                <a:ea typeface="Calibri" pitchFamily="34" charset="-122"/>
                <a:cs typeface="Calibri" pitchFamily="34" charset="-120"/>
              </a:rPr>
              <a:t>=</a:t>
            </a:r>
            <a:endParaRPr lang="en-US" sz="1400" dirty="0"/>
          </a:p>
        </p:txBody>
      </p:sp>
      <p:sp>
        <p:nvSpPr>
          <p:cNvPr id="32" name="Shape 26"/>
          <p:cNvSpPr/>
          <p:nvPr/>
        </p:nvSpPr>
        <p:spPr>
          <a:xfrm>
            <a:off x="6812280" y="1572768"/>
            <a:ext cx="4693615" cy="2926080"/>
          </a:xfrm>
          <a:prstGeom prst="roundRect">
            <a:avLst>
              <a:gd name="adj" fmla="val 4375"/>
            </a:avLst>
          </a:prstGeom>
          <a:solidFill>
            <a:srgbClr val="FFFFFF"/>
          </a:solidFill>
          <a:ln/>
          <a:effectLst>
            <a:outerShdw sx="100000" sy="100000" kx="0" ky="0" algn="bl" rotWithShape="0" blurRad="127000" dist="31750" dir="5400000">
              <a:srgbClr val="0B2A30">
                <a:alpha val="10000"/>
              </a:srgbClr>
            </a:outerShdw>
          </a:effectLst>
        </p:spPr>
      </p:sp>
      <p:pic>
        <p:nvPicPr>
          <p:cNvPr id="33" name="Image 4" descr="research icon">    </p:cNvPr>
          <p:cNvPicPr>
            <a:picLocks noChangeAspect="1"/>
          </p:cNvPicPr>
          <p:nvPr/>
        </p:nvPicPr>
        <p:blipFill>
          <a:blip r:embed="rId5"/>
          <a:stretch>
            <a:fillRect/>
          </a:stretch>
        </p:blipFill>
        <p:spPr>
          <a:xfrm>
            <a:off x="7086600" y="1801368"/>
            <a:ext cx="274320" cy="274320"/>
          </a:xfrm>
          <a:prstGeom prst="rect">
            <a:avLst/>
          </a:prstGeom>
        </p:spPr>
      </p:pic>
      <p:sp>
        <p:nvSpPr>
          <p:cNvPr id="34" name="Text 27"/>
          <p:cNvSpPr txBox="1"/>
          <p:nvPr/>
        </p:nvSpPr>
        <p:spPr>
          <a:xfrm>
            <a:off x="7452360" y="1755648"/>
            <a:ext cx="3779215" cy="365760"/>
          </a:xfrm>
          <a:prstGeom prst="rect">
            <a:avLst/>
          </a:prstGeom>
          <a:noFill/>
          <a:ln/>
        </p:spPr>
        <p:txBody>
          <a:bodyPr wrap="square" lIns="0" tIns="0" rIns="0" bIns="0" rtlCol="0" anchor="ctr"/>
          <a:lstStyle/>
          <a:p>
            <a:pPr indent="0" marL="0">
              <a:buNone/>
            </a:pPr>
            <a:r>
              <a:rPr lang="en-US" sz="1800" b="1" dirty="0">
                <a:solidFill>
                  <a:srgbClr val="15303A"/>
                </a:solidFill>
                <a:latin typeface="Calibri" pitchFamily="34" charset="0"/>
                <a:ea typeface="Calibri" pitchFamily="34" charset="-122"/>
                <a:cs typeface="Calibri" pitchFamily="34" charset="-120"/>
              </a:rPr>
              <a:t>How we’ll test it</a:t>
            </a:r>
            <a:endParaRPr lang="en-US" sz="1800" dirty="0"/>
          </a:p>
        </p:txBody>
      </p:sp>
      <p:sp>
        <p:nvSpPr>
          <p:cNvPr id="35" name="Shape 28"/>
          <p:cNvSpPr/>
          <p:nvPr/>
        </p:nvSpPr>
        <p:spPr>
          <a:xfrm>
            <a:off x="7086600" y="2322576"/>
            <a:ext cx="292608" cy="292608"/>
          </a:xfrm>
          <a:prstGeom prst="ellipse">
            <a:avLst/>
          </a:prstGeom>
          <a:solidFill>
            <a:srgbClr val="1B7A6E"/>
          </a:solidFill>
          <a:ln/>
        </p:spPr>
      </p:sp>
      <p:sp>
        <p:nvSpPr>
          <p:cNvPr id="36" name="Text 29"/>
          <p:cNvSpPr txBox="1"/>
          <p:nvPr/>
        </p:nvSpPr>
        <p:spPr>
          <a:xfrm>
            <a:off x="7086600" y="232257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7" name="Text 30"/>
          <p:cNvSpPr txBox="1"/>
          <p:nvPr/>
        </p:nvSpPr>
        <p:spPr>
          <a:xfrm>
            <a:off x="7525512" y="2304288"/>
            <a:ext cx="3779215" cy="530352"/>
          </a:xfrm>
          <a:prstGeom prst="rect">
            <a:avLst/>
          </a:prstGeom>
          <a:noFill/>
          <a:ln/>
        </p:spPr>
        <p:txBody>
          <a:bodyPr wrap="square" lIns="0" tIns="0" rIns="0" bIns="0" rtlCol="0" anchor="t"/>
          <a:lstStyle/>
          <a:p>
            <a:pPr indent="0" marL="0">
              <a:buNone/>
            </a:pPr>
            <a:r>
              <a:rPr lang="en-US" sz="1500" b="1" dirty="0">
                <a:solidFill>
                  <a:srgbClr val="15303A"/>
                </a:solidFill>
                <a:latin typeface="Calibri" pitchFamily="34" charset="0"/>
                <a:ea typeface="Calibri" pitchFamily="34" charset="-122"/>
                <a:cs typeface="Calibri" pitchFamily="34" charset="-120"/>
              </a:rPr>
              <a:t>Only pre-outcome inputs</a:t>
            </a:r>
            <a:endParaRPr lang="en-US" sz="1600" dirty="0"/>
          </a:p>
          <a:p>
            <a:pPr indent="0" marL="0">
              <a:buNone/>
            </a:pPr>
            <a:r>
              <a:rPr lang="en-US" sz="1400" dirty="0">
                <a:solidFill>
                  <a:srgbClr val="5A6C73"/>
                </a:solidFill>
                <a:latin typeface="Calibri" pitchFamily="34" charset="0"/>
                <a:ea typeface="Calibri" pitchFamily="34" charset="-122"/>
                <a:cs typeface="Calibri" pitchFamily="34" charset="-120"/>
              </a:rPr>
              <a:t>Never the survey answer or later use</a:t>
            </a:r>
            <a:endParaRPr lang="en-US" sz="1600" dirty="0"/>
          </a:p>
        </p:txBody>
      </p:sp>
      <p:sp>
        <p:nvSpPr>
          <p:cNvPr id="38" name="Shape 31"/>
          <p:cNvSpPr/>
          <p:nvPr/>
        </p:nvSpPr>
        <p:spPr>
          <a:xfrm>
            <a:off x="7086600" y="2926080"/>
            <a:ext cx="292608" cy="292608"/>
          </a:xfrm>
          <a:prstGeom prst="ellipse">
            <a:avLst/>
          </a:prstGeom>
          <a:solidFill>
            <a:srgbClr val="1B7A6E"/>
          </a:solidFill>
          <a:ln/>
        </p:spPr>
      </p:sp>
      <p:sp>
        <p:nvSpPr>
          <p:cNvPr id="39" name="Text 32"/>
          <p:cNvSpPr txBox="1"/>
          <p:nvPr/>
        </p:nvSpPr>
        <p:spPr>
          <a:xfrm>
            <a:off x="7086600" y="29260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0" name="Text 33"/>
          <p:cNvSpPr txBox="1"/>
          <p:nvPr/>
        </p:nvSpPr>
        <p:spPr>
          <a:xfrm>
            <a:off x="7525512" y="2907792"/>
            <a:ext cx="3779215" cy="530352"/>
          </a:xfrm>
          <a:prstGeom prst="rect">
            <a:avLst/>
          </a:prstGeom>
          <a:noFill/>
          <a:ln/>
        </p:spPr>
        <p:txBody>
          <a:bodyPr wrap="square" lIns="0" tIns="0" rIns="0" bIns="0" rtlCol="0" anchor="t"/>
          <a:lstStyle/>
          <a:p>
            <a:pPr indent="0" marL="0">
              <a:buNone/>
            </a:pPr>
            <a:r>
              <a:rPr lang="en-US" sz="1500" b="1" dirty="0">
                <a:solidFill>
                  <a:srgbClr val="15303A"/>
                </a:solidFill>
                <a:latin typeface="Calibri" pitchFamily="34" charset="0"/>
                <a:ea typeface="Calibri" pitchFamily="34" charset="-122"/>
                <a:cs typeface="Calibri" pitchFamily="34" charset="-120"/>
              </a:rPr>
              <a:t>Baselines vs. a small temporal model</a:t>
            </a:r>
            <a:endParaRPr lang="en-US" sz="1600" dirty="0"/>
          </a:p>
          <a:p>
            <a:pPr indent="0" marL="0">
              <a:buNone/>
            </a:pPr>
            <a:r>
              <a:rPr lang="en-US" sz="1400" dirty="0">
                <a:solidFill>
                  <a:srgbClr val="5A6C73"/>
                </a:solidFill>
                <a:latin typeface="Calibri" pitchFamily="34" charset="0"/>
                <a:ea typeface="Calibri" pitchFamily="34" charset="-122"/>
                <a:cs typeface="Calibri" pitchFamily="34" charset="-120"/>
              </a:rPr>
              <a:t>Simple average + the paper’s random forest</a:t>
            </a:r>
            <a:endParaRPr lang="en-US" sz="1600" dirty="0"/>
          </a:p>
        </p:txBody>
      </p:sp>
      <p:sp>
        <p:nvSpPr>
          <p:cNvPr id="41" name="Shape 34"/>
          <p:cNvSpPr/>
          <p:nvPr/>
        </p:nvSpPr>
        <p:spPr>
          <a:xfrm>
            <a:off x="7086600" y="3529584"/>
            <a:ext cx="292608" cy="292608"/>
          </a:xfrm>
          <a:prstGeom prst="ellipse">
            <a:avLst/>
          </a:prstGeom>
          <a:solidFill>
            <a:srgbClr val="1B7A6E"/>
          </a:solidFill>
          <a:ln/>
        </p:spPr>
      </p:sp>
      <p:sp>
        <p:nvSpPr>
          <p:cNvPr id="42" name="Text 35"/>
          <p:cNvSpPr txBox="1"/>
          <p:nvPr/>
        </p:nvSpPr>
        <p:spPr>
          <a:xfrm>
            <a:off x="7086600" y="352958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3" name="Text 36"/>
          <p:cNvSpPr txBox="1"/>
          <p:nvPr/>
        </p:nvSpPr>
        <p:spPr>
          <a:xfrm>
            <a:off x="7525512" y="3511296"/>
            <a:ext cx="3779215" cy="530352"/>
          </a:xfrm>
          <a:prstGeom prst="rect">
            <a:avLst/>
          </a:prstGeom>
          <a:noFill/>
          <a:ln/>
        </p:spPr>
        <p:txBody>
          <a:bodyPr wrap="square" lIns="0" tIns="0" rIns="0" bIns="0" rtlCol="0" anchor="t"/>
          <a:lstStyle/>
          <a:p>
            <a:pPr indent="0" marL="0">
              <a:buNone/>
            </a:pPr>
            <a:r>
              <a:rPr lang="en-US" sz="1500" b="1" dirty="0">
                <a:solidFill>
                  <a:srgbClr val="15303A"/>
                </a:solidFill>
                <a:latin typeface="Calibri" pitchFamily="34" charset="0"/>
                <a:ea typeface="Calibri" pitchFamily="34" charset="-122"/>
                <a:cs typeface="Calibri" pitchFamily="34" charset="-120"/>
              </a:rPr>
              <a:t>Test on unseen people</a:t>
            </a:r>
            <a:endParaRPr lang="en-US" sz="1600" dirty="0"/>
          </a:p>
          <a:p>
            <a:pPr indent="0" marL="0">
              <a:buNone/>
            </a:pPr>
            <a:r>
              <a:rPr lang="en-US" sz="1400" dirty="0">
                <a:solidFill>
                  <a:srgbClr val="5A6C73"/>
                </a:solidFill>
                <a:latin typeface="Calibri" pitchFamily="34" charset="0"/>
                <a:ea typeface="Calibri" pitchFamily="34" charset="-122"/>
                <a:cs typeface="Calibri" pitchFamily="34" charset="-120"/>
              </a:rPr>
              <a:t>MAE, R², precision–recall, alert burden</a:t>
            </a:r>
            <a:endParaRPr lang="en-US" sz="1600" dirty="0"/>
          </a:p>
        </p:txBody>
      </p:sp>
      <p:pic>
        <p:nvPicPr>
          <p:cNvPr id="44" name="Image 5" descr="check icon">    </p:cNvPr>
          <p:cNvPicPr>
            <a:picLocks noChangeAspect="1"/>
          </p:cNvPicPr>
          <p:nvPr/>
        </p:nvPicPr>
        <p:blipFill>
          <a:blip r:embed="rId6"/>
          <a:stretch>
            <a:fillRect/>
          </a:stretch>
        </p:blipFill>
        <p:spPr>
          <a:xfrm>
            <a:off x="7114032" y="4151376"/>
            <a:ext cx="237744" cy="237744"/>
          </a:xfrm>
          <a:prstGeom prst="rect">
            <a:avLst/>
          </a:prstGeom>
        </p:spPr>
      </p:pic>
      <p:sp>
        <p:nvSpPr>
          <p:cNvPr id="45" name="Text 37"/>
          <p:cNvSpPr txBox="1"/>
          <p:nvPr/>
        </p:nvSpPr>
        <p:spPr>
          <a:xfrm>
            <a:off x="7525512" y="4133088"/>
            <a:ext cx="3779215" cy="274320"/>
          </a:xfrm>
          <a:prstGeom prst="rect">
            <a:avLst/>
          </a:prstGeom>
          <a:noFill/>
          <a:ln/>
        </p:spPr>
        <p:txBody>
          <a:bodyPr wrap="square" lIns="0" tIns="0" rIns="0" bIns="0" rtlCol="0" anchor="ctr"/>
          <a:lstStyle/>
          <a:p>
            <a:pPr indent="0" marL="0">
              <a:buNone/>
            </a:pPr>
            <a:r>
              <a:rPr lang="en-US" sz="1400" b="1" i="1" dirty="0">
                <a:solidFill>
                  <a:srgbClr val="1B7A6E"/>
                </a:solidFill>
                <a:latin typeface="Calibri" pitchFamily="34" charset="0"/>
                <a:ea typeface="Calibri" pitchFamily="34" charset="-122"/>
                <a:cs typeface="Calibri" pitchFamily="34" charset="-120"/>
              </a:rPr>
              <a:t>If a simpler model wins, we report it.</a:t>
            </a:r>
            <a:endParaRPr lang="en-US" sz="1400" dirty="0"/>
          </a:p>
        </p:txBody>
      </p:sp>
      <p:sp>
        <p:nvSpPr>
          <p:cNvPr id="46" name="Shape 38"/>
          <p:cNvSpPr/>
          <p:nvPr/>
        </p:nvSpPr>
        <p:spPr>
          <a:xfrm>
            <a:off x="6812280" y="4681728"/>
            <a:ext cx="4693615" cy="1207008"/>
          </a:xfrm>
          <a:prstGeom prst="roundRect">
            <a:avLst>
              <a:gd name="adj" fmla="val 10606"/>
            </a:avLst>
          </a:prstGeom>
          <a:solidFill>
            <a:srgbClr val="E3F1EE"/>
          </a:solidFill>
          <a:ln/>
        </p:spPr>
      </p:sp>
      <p:pic>
        <p:nvPicPr>
          <p:cNvPr id="47" name="Image 6" descr="caution icon">    </p:cNvPr>
          <p:cNvPicPr>
            <a:picLocks noChangeAspect="1"/>
          </p:cNvPicPr>
          <p:nvPr/>
        </p:nvPicPr>
        <p:blipFill>
          <a:blip r:embed="rId7"/>
          <a:stretch>
            <a:fillRect/>
          </a:stretch>
        </p:blipFill>
        <p:spPr>
          <a:xfrm>
            <a:off x="7086600" y="4864608"/>
            <a:ext cx="237744" cy="237744"/>
          </a:xfrm>
          <a:prstGeom prst="rect">
            <a:avLst/>
          </a:prstGeom>
        </p:spPr>
      </p:pic>
      <p:sp>
        <p:nvSpPr>
          <p:cNvPr id="48" name="Text 39"/>
          <p:cNvSpPr txBox="1"/>
          <p:nvPr/>
        </p:nvSpPr>
        <p:spPr>
          <a:xfrm>
            <a:off x="7452360" y="4818888"/>
            <a:ext cx="3870655" cy="978408"/>
          </a:xfrm>
          <a:prstGeom prst="rect">
            <a:avLst/>
          </a:prstGeom>
          <a:noFill/>
          <a:ln/>
        </p:spPr>
        <p:txBody>
          <a:bodyPr wrap="square" lIns="0" tIns="0" rIns="0" bIns="0" rtlCol="0" anchor="t"/>
          <a:lstStyle/>
          <a:p>
            <a:pPr indent="0" marL="0">
              <a:spcAft>
                <a:spcPts val="100"/>
              </a:spcAft>
              <a:buNone/>
            </a:pPr>
            <a:r>
              <a:rPr lang="en-US" sz="1500" b="1" dirty="0">
                <a:solidFill>
                  <a:srgbClr val="15303A"/>
                </a:solidFill>
                <a:latin typeface="Calibri" pitchFamily="34" charset="0"/>
                <a:ea typeface="Calibri" pitchFamily="34" charset="-122"/>
                <a:cs typeface="Calibri" pitchFamily="34" charset="-120"/>
              </a:rPr>
              <a:t>Limits &amp; scope</a:t>
            </a:r>
            <a:endParaRPr lang="en-US" sz="1600" dirty="0"/>
          </a:p>
          <a:p>
            <a:pPr indent="0" marL="0">
              <a:spcAft>
                <a:spcPts val="100"/>
              </a:spcAft>
              <a:buNone/>
            </a:pPr>
            <a:r>
              <a:rPr lang="en-US" sz="1400" dirty="0">
                <a:solidFill>
                  <a:srgbClr val="15303A"/>
                </a:solidFill>
                <a:latin typeface="Calibri" pitchFamily="34" charset="0"/>
                <a:ea typeface="Calibri" pitchFamily="34" charset="-122"/>
                <a:cs typeface="Calibri" pitchFamily="34" charset="-120"/>
              </a:rPr>
              <a:t>37 people: results may not generalize</a:t>
            </a:r>
            <a:endParaRPr lang="en-US" sz="1600" dirty="0"/>
          </a:p>
          <a:p>
            <a:pPr indent="0" marL="0">
              <a:spcAft>
                <a:spcPts val="100"/>
              </a:spcAft>
              <a:buNone/>
            </a:pPr>
            <a:r>
              <a:rPr lang="en-US" sz="1400" dirty="0">
                <a:solidFill>
                  <a:srgbClr val="15303A"/>
                </a:solidFill>
                <a:latin typeface="Calibri" pitchFamily="34" charset="0"/>
                <a:ea typeface="Calibri" pitchFamily="34" charset="-122"/>
                <a:cs typeface="Calibri" pitchFamily="34" charset="-120"/>
              </a:rPr>
              <a:t>Data-reuse permission still to confirm</a:t>
            </a:r>
            <a:endParaRPr lang="en-US" sz="1600" dirty="0"/>
          </a:p>
          <a:p>
            <a:pPr indent="0" marL="0">
              <a:spcAft>
                <a:spcPts val="100"/>
              </a:spcAft>
              <a:buNone/>
            </a:pPr>
            <a:r>
              <a:rPr lang="en-US" sz="1400" dirty="0">
                <a:solidFill>
                  <a:srgbClr val="15303A"/>
                </a:solidFill>
                <a:latin typeface="Calibri" pitchFamily="34" charset="0"/>
                <a:ea typeface="Calibri" pitchFamily="34" charset="-122"/>
                <a:cs typeface="Calibri" pitchFamily="34" charset="-120"/>
              </a:rPr>
              <a:t>Not CMI data: person-level risk, no session labels</a:t>
            </a:r>
            <a:endParaRPr lang="en-US" sz="1600" dirty="0"/>
          </a:p>
        </p:txBody>
      </p:sp>
      <p:sp>
        <p:nvSpPr>
          <p:cNvPr id="49" name="Text 40"/>
          <p:cNvSpPr txBox="1"/>
          <p:nvPr/>
        </p:nvSpPr>
        <p:spPr>
          <a:xfrm>
            <a:off x="685800" y="6336792"/>
            <a:ext cx="10820095" cy="237744"/>
          </a:xfrm>
          <a:prstGeom prst="rect">
            <a:avLst/>
          </a:prstGeom>
          <a:noFill/>
          <a:ln/>
        </p:spPr>
        <p:txBody>
          <a:bodyPr wrap="square" lIns="0" tIns="0" rIns="0" bIns="0" rtlCol="0" anchor="ctr"/>
          <a:lstStyle/>
          <a:p>
            <a:pPr indent="0" marL="0">
              <a:buNone/>
            </a:pPr>
            <a:r>
              <a:rPr lang="en-US" sz="1050" dirty="0">
                <a:solidFill>
                  <a:srgbClr val="5A6C73"/>
                </a:solidFill>
                <a:latin typeface="Calibri" pitchFamily="34" charset="0"/>
                <a:ea typeface="Calibri" pitchFamily="34" charset="-122"/>
                <a:cs typeface="Calibri" pitchFamily="34" charset="-120"/>
              </a:rPr>
              <a:t>Sources: Zheng &amp; Choe (2026), </a:t>
            </a:r>
            <a:pPr indent="0" marL="0">
              <a:buNone/>
            </a:pPr>
            <a:r>
              <a:rPr lang="en-US" sz="1050" u="sng" dirty="0">
                <a:solidFill>
                  <a:srgbClr val="5A6C7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arxiv.org/html/2609.08909v1</a:t>
            </a:r>
            <a:pPr indent="0" marL="0">
              <a:buNone/>
            </a:pPr>
            <a:r>
              <a:rPr lang="en-US" sz="1050" dirty="0">
                <a:solidFill>
                  <a:srgbClr val="5A6C73"/>
                </a:solidFill>
                <a:latin typeface="Calibri" pitchFamily="34" charset="0"/>
                <a:ea typeface="Calibri" pitchFamily="34" charset="-122"/>
                <a:cs typeface="Calibri" pitchFamily="34" charset="-120"/>
              </a:rPr>
              <a:t>  ·  AwareMind data: </a:t>
            </a:r>
            <a:pPr indent="0" marL="0">
              <a:buNone/>
            </a:pPr>
            <a:r>
              <a:rPr lang="en-US" sz="1050" u="sng" dirty="0">
                <a:solidFill>
                  <a:srgbClr val="5A6C73"/>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osf.io/x6yzs</a:t>
            </a:r>
            <a:pPr indent="0" marL="0">
              <a:buNone/>
            </a:pPr>
            <a:r>
              <a:rPr lang="en-US" sz="1050" dirty="0">
                <a:solidFill>
                  <a:srgbClr val="5A6C73"/>
                </a:solidFill>
                <a:latin typeface="Calibri" pitchFamily="34" charset="0"/>
                <a:ea typeface="Calibri" pitchFamily="34" charset="-122"/>
                <a:cs typeface="Calibri" pitchFamily="34" charset="-120"/>
              </a:rPr>
              <a:t>  ·  DOI </a:t>
            </a:r>
            <a:pPr indent="0" marL="0">
              <a:buNone/>
            </a:pPr>
            <a:r>
              <a:rPr lang="en-US" sz="1050" u="sng" dirty="0">
                <a:solidFill>
                  <a:srgbClr val="5A6C73"/>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10.1145/3821659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Group 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NudgeWell: Idea Proposal (Group 6)</dc:title>
  <dc:subject>Digital Addiction Capstone idea proposal, 24 September 2026</dc:subject>
  <dc:creator>Group 6</dc:creator>
  <cp:lastModifiedBy>Group 6</cp:lastModifiedBy>
  <cp:revision>1</cp:revision>
  <dcterms:created xsi:type="dcterms:W3CDTF">2026-09-23T18:45:11Z</dcterms:created>
  <dcterms:modified xsi:type="dcterms:W3CDTF">2026-09-23T18:45:11Z</dcterms:modified>
</cp:coreProperties>
</file>